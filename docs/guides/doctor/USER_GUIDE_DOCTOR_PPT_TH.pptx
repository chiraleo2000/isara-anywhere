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นำเสนอคู่มือ คู่มือแพทย์และผู้ดูแล Isara Anywhere เวอร์ชัน 1.7.33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แพทย์ที่ยัง pending จะไม่เห็นเมนูคลินิกเต็มรูปแบบ อ้างอิง Processes/Pages/Doctor-Portal/01_Login_Page.md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1: หน้าเข้าสู่ระบบแพทย์/ผู้ดูแล | กลุ่ม A0. การเข้าสู่ระบบ</a:t>
            </a:r>
          </a:p>
          <a:p>
            <a:pPr>
              <a:defRPr sz="1600" b="0">
                <a:latin typeface="FC Iconic"/>
              </a:defRPr>
            </a:pPr>
            <a:r>
              <a:t>บัญชีแพทย์ต้องได้รับอนุมัติก่อน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เปิด URL พอร์ทัลแพทย์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ฟอร์มล็อกอิน Doctor Portal</a:t>
            </a:r>
          </a:p>
          <a:p>
            <a:pPr>
              <a:defRPr sz="1600" b="0">
                <a:latin typeface="FC Iconic"/>
              </a:defRPr>
            </a:pPr>
            <a:r>
              <a:t>  3. กรอกบัญชีที่ผู้ดูแลสร้างให้</a:t>
            </a:r>
          </a:p>
          <a:p>
            <a:pPr>
              <a:defRPr sz="1600" b="0">
                <a:latin typeface="FC Iconic"/>
              </a:defRPr>
            </a:pPr>
            <a:r>
              <a:t>  4. ตรวจหน้าจอขั้นที่ 2: ฟอร์มล็อกอิน Doctor Portal</a:t>
            </a:r>
          </a:p>
          <a:p>
            <a:pPr>
              <a:defRPr sz="1600" b="0">
                <a:latin typeface="FC Iconic"/>
              </a:defRPr>
            </a:pPr>
            <a:r>
              <a:t>  5.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6.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ฟอร์มล็อกอิน Doctor Portal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Processes/Pages/Doctor-Portal/01_Login_Page.md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2: ลงชื่อเข้าใช้ด้วย Google (แพทย์) | กลุ่ม A0. การเข้าสู่ระบบ</a:t>
            </a:r>
          </a:p>
          <a:p>
            <a:pPr>
              <a:defRPr sz="1600" b="0">
                <a:latin typeface="FC Iconic"/>
              </a:defRPr>
            </a:pPr>
            <a:r>
              <a:t>สะดวกสำหรับแพทย์ที่ใช้ Gmail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ใช้ Google หลังมีบัญชีในระบบ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ปุ่ม Google บนหน้าแพทย์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ปุ่ม Google บนหน้าแพทย์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Processes/Pages/Doctor-Portal/01_Login_Page.md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3: แพทย์รออนุมัติจากผู้ดูแล | กลุ่ม A0. การเข้าสู่ระบบ</a:t>
            </a:r>
          </a:p>
          <a:p>
            <a:pPr>
              <a:defRPr sz="1600" b="0">
                <a:latin typeface="FC Iconic"/>
              </a:defRPr>
            </a:pPr>
            <a:r>
              <a:t>แอดมินต้องกดอนุมัติในเมนูจัดการแพทย์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สมัครแพทย์ใหม่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ข้อความรอการอนุมัติ</a:t>
            </a:r>
          </a:p>
          <a:p>
            <a:pPr>
              <a:defRPr sz="1600" b="0">
                <a:latin typeface="FC Iconic"/>
              </a:defRPr>
            </a:pPr>
            <a:r>
              <a:t>  3. ล็อกอินก่อนอนุมัติ</a:t>
            </a:r>
          </a:p>
          <a:p>
            <a:pPr>
              <a:defRPr sz="1600" b="0">
                <a:latin typeface="FC Iconic"/>
              </a:defRPr>
            </a:pPr>
            <a:r>
              <a:t>  4. ตรวจหน้าจอขั้นที่ 2: ข้อความรอการอนุมัติ</a:t>
            </a:r>
          </a:p>
          <a:p>
            <a:pPr>
              <a:defRPr sz="1600" b="0">
                <a:latin typeface="FC Iconic"/>
              </a:defRPr>
            </a:pPr>
            <a:r>
              <a:t>  5.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6.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ข้อความรอการอนุมัติ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Processes/Pages/Doctor-Portal/01_Login_Page.md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ตรวจ allergy ก่อนสั่งยา อ้างอิง Processes/Pages/Doctor-Portal/05_Patient_Management_Page.md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4: รายชื่อผู้ป่วย (คลินิก) | กลุ่ม A4. ผู้ป่วยและการรักษา</a:t>
            </a:r>
          </a:p>
          <a:p>
            <a:pPr>
              <a:defRPr sz="1600" b="0">
                <a:latin typeface="FC Iconic"/>
              </a:defRPr>
            </a:pPr>
            <a:r>
              <a:t>ค้นหาผู้ป่วย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เปิด Patients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รายการ EMR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รายการ EMR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Processes/Pages/Doctor-Portal/05_Patient_Management_Page.md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5: ค้นหาผู้ป่วย | กลุ่ม A4. ผู้ป่วยและการรักษา</a:t>
            </a:r>
          </a:p>
          <a:p>
            <a:pPr>
              <a:defRPr sz="1600" b="0">
                <a:latin typeface="FC Iconic"/>
              </a:defRPr>
            </a:pPr>
            <a:r>
              <a:t>หาเร็วในคลินิก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พิมพ์ชื่อ/รหัส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ผลค้นหา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ผลค้นหา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Processes/Pages/Doctor-Portal/05_Patient_Management_Page.md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6: รายละเอียดผู้ป่วย | กลุ่ม A4. ผู้ป่วยและการรักษา</a:t>
            </a:r>
          </a:p>
          <a:p>
            <a:pPr>
              <a:defRPr sz="1600" b="0">
                <a:latin typeface="FC Iconic"/>
              </a:defRPr>
            </a:pPr>
            <a:r>
              <a:t>ก่อน clinical action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คลิกผู้ป่วย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ข้อมูลประวัติ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ข้อมูลประวัติ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Processes/Pages/Doctor-Portal/05_Patient_Management_Page.md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7: การดำเนินการทางคลินิก | กลุ่ม A4. ผู้ป่วยและการรักษา</a:t>
            </a:r>
          </a:p>
          <a:p>
            <a:pPr>
              <a:defRPr sz="1600" b="0">
                <a:latin typeface="FC Iconic"/>
              </a:defRPr>
            </a:pPr>
            <a:r>
              <a:t>จุดตัดสินใจรักษา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เลือก action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Rx, Lab, Meeting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Rx, Lab, Meeting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Processes/Pages/Doctor-Portal/05_Patient_Management_Page.md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8: Health Meeting — สร้างนัด | กลุ่ม A4. ผู้ป่วยและการรักษา</a:t>
            </a:r>
          </a:p>
          <a:p>
            <a:pPr>
              <a:defRPr sz="1600" b="0">
                <a:latin typeface="FC Iconic"/>
              </a:defRPr>
            </a:pPr>
            <a:r>
              <a:t>เชื่อมวิดีโอคอล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สร้างห้องประชุม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ฟอร์มนัด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ฟอร์มนัด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Processes/Pages/Doctor-Portal/05_Patient_Management_Page.md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Guest link จาก API เท่านั้น — ไม่ hardcode doctor-origin รอ save-recording ก่อน navigate ไปหน้าผล อ้างอิง Processes/Pages/Doctor-Portal/07_Virtual_Meeting.md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9: สร้างห้องประชุมสำเร็จ | กลุ่ม A5. วิดีโอคอลและ Lobby</a:t>
            </a:r>
          </a:p>
          <a:p>
            <a:pPr>
              <a:defRPr sz="1600" b="0">
                <a:latin typeface="FC Iconic"/>
              </a:defRPr>
            </a:pPr>
            <a:r>
              <a:t>แชร์ให้ผู้ป่วย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ยืนยันสร้างห้อง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ลิงก์ประชุม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ลิงก์ประชุม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Processes/Pages/Doctor-Portal/07_Virtual_Meeting.md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10: เส้นทางห้องประชุมแพทย์ | กลุ่ม A5. วิดีโอคอลและ Lobby</a:t>
            </a:r>
          </a:p>
          <a:p>
            <a:pPr>
              <a:defRPr sz="1600" b="0">
                <a:latin typeface="FC Iconic"/>
              </a:defRPr>
            </a:pPr>
            <a:r>
              <a:t>เตรียมเข้าห้องประชุม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เข้าห้อง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หน้า pre-join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หน้า pre-join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Processes/Pages/Doctor-Portal/07_Virtual_Meeting.md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11: ข้อตกลงก่อนเข้าห้อง (แพทย์) | กลุ่ม A5. วิดีโอคอลและ Lobby</a:t>
            </a:r>
          </a:p>
          <a:p>
            <a:pPr>
              <a:defRPr sz="1600" b="0">
                <a:latin typeface="FC Iconic"/>
              </a:defRPr>
            </a:pPr>
            <a:r>
              <a:t>มาตรฐาน telemedicine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ยอมรับข้อตกลง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หน้า agreement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หน้า agreement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Processes/Pages/Doctor-Portal/07_Virtual_Meeting.md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12: พรี-จอยน์แพทย์ | กลุ่ม A5. วิดีโอคอลและ Lobby</a:t>
            </a:r>
          </a:p>
          <a:p>
            <a:pPr>
              <a:defRPr sz="1600" b="0">
                <a:latin typeface="FC Iconic"/>
              </a:defRPr>
            </a:pPr>
            <a:r>
              <a:t>ก่อนเปิด lobby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ตรวจอุปกรณ์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กล้อง/ไมค์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กล้อง/ไมค์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Processes/Pages/Doctor-Portal/07_Virtual_Meeting.md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13: Lobby — Admit ผู้ป่วย | กลุ่ม A5. วิดีโอคอลและ Lobby</a:t>
            </a:r>
          </a:p>
          <a:p>
            <a:pPr>
              <a:defRPr sz="1600" b="0">
                <a:latin typeface="FC Iconic"/>
              </a:defRPr>
            </a:pPr>
            <a:r>
              <a:t>ควบคุมการเข้าห้อง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กด Admit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รายชื่อรอ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รายชื่อรอ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Processes/Pages/Doctor-Portal/07_Virtual_Meeting.md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14: ห้อง Jitsi (แพทย์) | กลุ่ม A5. วิดีโอคอลและ Lobby</a:t>
            </a:r>
          </a:p>
          <a:p>
            <a:pPr>
              <a:defRPr sz="1600" b="0">
                <a:latin typeface="FC Iconic"/>
              </a:defRPr>
            </a:pPr>
            <a:r>
              <a:t>ปรึกษาผู้ป่วย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หลัง admit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วิดีโอคอลจริง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วิดีโอคอลจริง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Processes/Pages/Doctor-Portal/07_Virtual_Meeting.md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15: คิวแพทย์ | กลุ่ม A5. วิดีโอคอลและ Lobby</a:t>
            </a:r>
          </a:p>
          <a:p>
            <a:pPr>
              <a:defRPr sz="1600" b="0">
                <a:latin typeface="FC Iconic"/>
              </a:defRPr>
            </a:pPr>
            <a:r>
              <a:t>ลำดับการรับ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ดูคิววันนี้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รายการรอ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รายการรอ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Processes/Pages/Doctor-Portal/07_Virtual_Meeting.md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16: สร้างลิงก์เชิญ Guest | กลุ่ม A5. วิดีโอคอลและ Lobby</a:t>
            </a:r>
          </a:p>
          <a:p>
            <a:pPr>
              <a:defRPr sz="1600" b="0">
                <a:latin typeface="FC Iconic"/>
              </a:defRPr>
            </a:pPr>
            <a:r>
              <a:t>ญาติเข้าร่วมได้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สร้าง invite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ลิงก์ basic/token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ลิงก์ basic/token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Processes/Pages/Doctor-Portal/07_Virtual_Meeting.md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17: Guest — Lobby Basic | กลุ่ม A5. วิดีโอคอลและ Lobby</a:t>
            </a:r>
          </a:p>
          <a:p>
            <a:pPr>
              <a:defRPr sz="1600" b="0">
                <a:latin typeface="FC Iconic"/>
              </a:defRPr>
            </a:pPr>
            <a:r>
              <a:t>ลิงก์ทั่วไป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ทดสอบลิงก์ basic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หน้า join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หน้า join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Processes/Pages/Doctor-Portal/07_Virtual_Meeting.md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18: Guest — Lobby Token | กลุ่ม A5. วิดีโอคอลและ Lobby</a:t>
            </a:r>
          </a:p>
          <a:p>
            <a:pPr>
              <a:defRPr sz="1600" b="0">
                <a:latin typeface="FC Iconic"/>
              </a:defRPr>
            </a:pPr>
            <a:r>
              <a:t>token ป้องกันคนแปลก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ทดสอบลิงก์ token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หน้า join ปลอดภัย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หน้า join ปลอดภัย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Processes/Pages/Doctor-Portal/07_Virtual_Meeting.md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19: Guest ได้รับอนุมัติ | กลุ่ม A5. วิดีโอคอลและ Lobby</a:t>
            </a:r>
          </a:p>
          <a:p>
            <a:pPr>
              <a:defRPr sz="1600" b="0">
                <a:latin typeface="FC Iconic"/>
              </a:defRPr>
            </a:pPr>
            <a:r>
              <a:t>หลายผู้เข้าร่วม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Admit guest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ในห้องแล้ว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ในห้องแล้ว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Processes/Pages/Doctor-Portal/07_Virtual_Meeting.md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20: Admit ทุกคนในห้อง | กลุ่ม A5. วิดีโอคอลและ Lobby</a:t>
            </a:r>
          </a:p>
          <a:p>
            <a:pPr>
              <a:defRPr sz="1600" b="0">
                <a:latin typeface="FC Iconic"/>
              </a:defRPr>
            </a:pPr>
            <a:r>
              <a:t>จบขั้นตอน lobby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Admit all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ทุกคนในประชุม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ทุกคนในประชุม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Processes/Pages/Doctor-Portal/07_Virtual_Meeting.md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Admin เท่านั้นที่จัดสรร Pool ให้แพทย์ แพทย์ยืนยันนัด — ไม่ใช่ Admin อ้างอิง Processes/Pages/Doctor-Portal/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21: ผู้ป่วย — มุม PHR | กลุ่ม A6. PHR และเวชระเบียน</a:t>
            </a:r>
          </a:p>
          <a:p>
            <a:pPr>
              <a:defRPr sz="1600" b="0">
                <a:latin typeface="FC Iconic"/>
              </a:defRPr>
            </a:pPr>
            <a:r>
              <a:t>เข้า PHR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เปิด Patients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รายการ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รายการ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22: ค้นหาเพื่อเปิด PHR | กลุ่ม A6. PHR และเวชระเบียน</a:t>
            </a:r>
          </a:p>
          <a:p>
            <a:pPr>
              <a:defRPr sz="1600" b="0">
                <a:latin typeface="FC Iconic"/>
              </a:defRPr>
            </a:pPr>
            <a:r>
              <a:t>เลือกผู้ป่วย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ค้นหา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ผลค้นหา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ผลค้นหา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23: รายละเอียด + PHR | กลุ่ม A6. PHR และเวชระเบียน</a:t>
            </a:r>
          </a:p>
          <a:p>
            <a:pPr>
              <a:defRPr sz="1600" b="0">
                <a:latin typeface="FC Iconic"/>
              </a:defRPr>
            </a:pPr>
            <a:r>
              <a:t>อ่านก่อนรักษา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เปิด detail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แท็บข้อมูล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แท็บข้อมูล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24: ข้อมูลสุขภาพผู้ป่วย | กลุ่ม A6. PHR และเวชระเบียน</a:t>
            </a:r>
          </a:p>
          <a:p>
            <a:pPr>
              <a:defRPr sz="1600" b="0">
                <a:latin typeface="FC Iconic"/>
              </a:defRPr>
            </a:pPr>
            <a:r>
              <a:t>sync จากผู้ป่วย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ดู vitals/ยา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ข้อมูลครบ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ข้อมูลครบ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25: PHR มุมแพทย์ | กลุ่ม A6. PHR และเวชระเบียน</a:t>
            </a:r>
          </a:p>
          <a:p>
            <a:pPr>
              <a:defRPr sz="1600" b="0">
                <a:latin typeface="FC Iconic"/>
              </a:defRPr>
            </a:pPr>
            <a:r>
              <a:t>บันทึกเพิ่มได้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เปิด PHR tab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มุมมองแพทย์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มุมมองแพทย์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26: เวชระเบียนผู้ป่วย | กลุ่ม A6. PHR และเวชระเบียน</a:t>
            </a:r>
          </a:p>
          <a:p>
            <a:pPr>
              <a:defRPr sz="1600" b="0">
                <a:latin typeface="FC Iconic"/>
              </a:defRPr>
            </a:pPr>
            <a:r>
              <a:t>ข้อมูลรักษา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เปิด record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EMR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EMR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27: รายการประชุมแพทย์ | กลุ่ม A6. PHR และเวชระเบียน</a:t>
            </a:r>
          </a:p>
          <a:p>
            <a:pPr>
              <a:defRPr sz="1600" b="0">
                <a:latin typeface="FC Iconic"/>
              </a:defRPr>
            </a:pPr>
            <a:r>
              <a:t>ย้อนกลับประชุม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ดู meetings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นัดออนไลน์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นัดออนไลน์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Admin เท่านั้นที่จัดสรร Pool ให้แพทย์ แพทย์ยืนยันนัด — ไม่ใช่ Admin อ้างอิง Processes/Pages/Doctor-Portal/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28: สร้างเนื้อหา — รายการ | กลุ่ม A7. เนื้อหาและทรัพยากร</a:t>
            </a:r>
          </a:p>
          <a:p>
            <a:pPr>
              <a:defRPr sz="1600" b="0">
                <a:latin typeface="FC Iconic"/>
              </a:defRPr>
            </a:pPr>
            <a:r>
              <a:t>แพทย์เขียน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Medical Content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รายการบทความ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รายการบทความ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29: ฟอร์มสร้างบทความ | กลุ่ม A7. เนื้อหาและทรัพยากร</a:t>
            </a:r>
          </a:p>
          <a:p>
            <a:pPr>
              <a:defRPr sz="1600" b="0">
                <a:latin typeface="FC Iconic"/>
              </a:defRPr>
            </a:pPr>
            <a:r>
              <a:t>กรอกหัวข้อ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กดสร้างใหม่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ฟอร์มว่าง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ฟอร์มว่าง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30: กรอกบทความครบ | กลุ่ม A7. เนื้อหาและทรัพยากร</a:t>
            </a:r>
          </a:p>
          <a:p>
            <a:pPr>
              <a:defRPr sz="1600" b="0">
                <a:latin typeface="FC Iconic"/>
              </a:defRPr>
            </a:pPr>
            <a:r>
              <a:t>ส่งให้แอดมินอนุมัติ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กรอกเนื้อหา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พร้อมเผยแพร่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พร้อมเผยแพร่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31: กลับรายการบทความ | กลุ่ม A7. เนื้อหาและทรัพยากร</a:t>
            </a:r>
          </a:p>
          <a:p>
            <a:pPr>
              <a:defRPr sz="1600" b="0">
                <a:latin typeface="FC Iconic"/>
              </a:defRPr>
            </a:pPr>
            <a:r>
              <a:t>จัดการเนื้อหา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บันทึก/ยกเลิก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รายการอัปเดต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รายการอัปเดต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32: อ่านบทความ (แพทย์) | กลุ่ม A7. เนื้อหาและทรัพยากร</a:t>
            </a:r>
          </a:p>
          <a:p>
            <a:pPr>
              <a:defRPr sz="1600" b="0">
                <a:latin typeface="FC Iconic"/>
              </a:defRPr>
            </a:pPr>
            <a:r>
              <a:t>ตรวจก่อนเผยแพร่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เปิดบทความ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ตัวอย่าง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ตัวอย่าง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33: ทรัพยากรคลินิก | กลุ่ม A7. เนื้อหาและทรัพยากร</a:t>
            </a:r>
          </a:p>
          <a:p>
            <a:pPr>
              <a:defRPr sz="1600" b="0">
                <a:latin typeface="FC Iconic"/>
              </a:defRPr>
            </a:pPr>
            <a:r>
              <a:t>แนวทางรักษา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Clinical Resources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รายการไฟล์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รายการไฟล์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34: รายละเอียดทรัพยากร | กลุ่ม A7. เนื้อหาและทรัพยากร</a:t>
            </a:r>
          </a:p>
          <a:p>
            <a:pPr>
              <a:defRPr sz="1600" b="0">
                <a:latin typeface="FC Iconic"/>
              </a:defRPr>
            </a:pPr>
            <a:r>
              <a:t>อ้างอิงระหว่างรักษา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คลิกไฟล์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เนื้อหา/ลิงก์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เนื้อหา/ลิงก์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35: Pool จาก Group H | กลุ่ม A7. เนื้อหาและทรัพยากร</a:t>
            </a:r>
          </a:p>
          <a:p>
            <a:pPr>
              <a:defRPr sz="1600" b="0">
                <a:latin typeface="FC Iconic"/>
              </a:defRPr>
            </a:pPr>
            <a:r>
              <a:t>รับผู้ป่วย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ตรวจ Pool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นัดรอ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นัดรอ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Admin เท่านั้นที่จัดสรร Pool ให้แพทย์ แพทย์ยืนยันนัด — ไม่ใช่ Admin อ้างอิง Processes/Pages/Doctor-Portal/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36: โปรไฟล์แพทย์ | กลุ่ม A8. โปรไฟล์และแจ้งเตือน</a:t>
            </a:r>
          </a:p>
          <a:p>
            <a:pPr>
              <a:defRPr sz="1600" b="0">
                <a:latin typeface="FC Iconic"/>
              </a:defRPr>
            </a:pPr>
            <a:r>
              <a:t>แก้ไขตามสิทธิ์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เปิดโปรไฟล์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ข้อมูลแพทย์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ข้อมูลแพทย์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37: แจ้งเตือนแพทย์ | กลุ่ม A8. โปรไฟล์และแจ้งเตือน</a:t>
            </a:r>
          </a:p>
          <a:p>
            <a:pPr>
              <a:defRPr sz="1600" b="0">
                <a:latin typeface="FC Iconic"/>
              </a:defRPr>
            </a:pPr>
            <a:r>
              <a:t>ตอบสนองเร็ว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กระดิ่งแจ้งเตือน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นัดใหม่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นัดใหม่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Admin เท่านั้นที่จัดสรร Pool ให้แพทย์ แพทย์ยืนยันนัด — ไม่ใช่ Admin อ้างอิง Processes/Pages/Doctor-Portal/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38: แดชบอร์ด (Group I) | กลุ่ม B3. จัดการบุคลากร</a:t>
            </a:r>
          </a:p>
          <a:p>
            <a:pPr>
              <a:defRPr sz="1600" b="0">
                <a:latin typeface="FC Iconic"/>
              </a:defRPr>
            </a:pPr>
            <a:r>
              <a:t>Group I tests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I01 dashboard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ภาพรวม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ภาพรวม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39: จัดการแพทย์ (I) | กลุ่ม B3. จัดการบุคลากร</a:t>
            </a:r>
          </a:p>
          <a:p>
            <a:pPr>
              <a:defRPr sz="1600" b="0">
                <a:latin typeface="FC Iconic"/>
              </a:defRPr>
            </a:pPr>
            <a:r>
              <a:t>บำรุงรักษาบัญชี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ค้นหาแพทย์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รายการ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รายการ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40: ค้นหาแพทย์ | กลุ่ม B3. จัดการบุคลากร</a:t>
            </a:r>
          </a:p>
          <a:p>
            <a:pPr>
              <a:defRPr sz="1600" b="0">
                <a:latin typeface="FC Iconic"/>
              </a:defRPr>
            </a:pPr>
            <a:r>
              <a:t>หาเร็ว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พิมพ์ชื่อ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ผลค้นหา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ผลค้นหา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41: ปุ่มอนุมัติ | กลุ่ม B3. จัดการบุคลากร</a:t>
            </a:r>
          </a:p>
          <a:p>
            <a:pPr>
              <a:defRPr sz="1600" b="0">
                <a:latin typeface="FC Iconic"/>
              </a:defRPr>
            </a:pPr>
            <a:r>
              <a:t>ควบคุมคุณภาพ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เลือกแพทย์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Approve/Reject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Approve/Reject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42: หน้าอนุมัติแพทย์ | กลุ่ม B3. จัดการบุคลากร</a:t>
            </a:r>
          </a:p>
          <a:p>
            <a:pPr>
              <a:defRPr sz="1600" b="0">
                <a:latin typeface="FC Iconic"/>
              </a:defRPr>
            </a:pPr>
            <a:r>
              <a:t>แพทย์ล็อกอินได้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ยืนยันอนุมัติ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สถานะ active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สถานะ active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43: รายการรออนุมัติ | กลุ่ม B3. จัดการบุคลากร</a:t>
            </a:r>
          </a:p>
          <a:p>
            <a:pPr>
              <a:defRPr sz="1600" b="0">
                <a:latin typeface="FC Iconic"/>
              </a:defRPr>
            </a:pPr>
            <a:r>
              <a:t>ดำเนินการทีละราย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ดู pending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คิวรอ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คิวรอ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ตัวเลขคิวต้องซิงค์ระหว่าง Admin และ Doctor (Socket.IO) อ้างอิง Processes/Pages/Doctor-Portal/20_Appointment_Pool_Management.md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44: คิวองค์กร (E) | กลุ่ม B4. Appointment Pool และคิว</a:t>
            </a:r>
          </a:p>
          <a:p>
            <a:pPr>
              <a:defRPr sz="1600" b="0">
                <a:latin typeface="FC Iconic"/>
              </a:defRPr>
            </a:pPr>
            <a:r>
              <a:t>มุมมองรวม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Admin queue E23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ทุกแพทย์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ทุกแพทย์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Processes/Pages/Doctor-Portal/20_Appointment_Pool_Management.md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45: ตาราง Admin | กลุ่ม B4. Appointment Pool และคิว</a:t>
            </a:r>
          </a:p>
          <a:p>
            <a:pPr>
              <a:defRPr sz="1600" b="0">
                <a:latin typeface="FC Iconic"/>
              </a:defRPr>
            </a:pPr>
            <a:r>
              <a:t>วางแผน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Schedule admin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ตารางรวม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ตารางรวม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Processes/Pages/Doctor-Portal/20_Appointment_Pool_Management.md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46: Pool Admin (I) | กลุ่ม B4. Appointment Pool และคิว</a:t>
            </a:r>
          </a:p>
          <a:p>
            <a:pPr>
              <a:defRPr sz="1600" b="0">
                <a:latin typeface="FC Iconic"/>
              </a:defRPr>
            </a:pPr>
            <a:r>
              <a:t>จัดสรร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I09 pool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นัดรอ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นัดรอ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Processes/Pages/Doctor-Portal/20_Appointment_Pool_Management.md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Admin เท่านั้นที่จัดสรร Pool ให้แพทย์ แพทย์ยืนยันนัด — ไม่ใช่ Admin อ้างอิง Processes/Pages/Doctor-Portal/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47: เนื้อหา Admin | กลุ่ม B5. เนื้อหาและทรัพยากร (Admin)</a:t>
            </a:r>
          </a:p>
          <a:p>
            <a:pPr>
              <a:defRPr sz="1600" b="0">
                <a:latin typeface="FC Iconic"/>
              </a:defRPr>
            </a:pPr>
            <a:r>
              <a:t>เผยแพร่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อนุมัติบทความ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รายการรอ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รายการรอ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48: ทรัพยากร Admin | กลุ่ม B5. เนื้อหาและทรัพยากร (Admin)</a:t>
            </a:r>
          </a:p>
          <a:p>
            <a:pPr>
              <a:defRPr sz="1600" b="0">
                <a:latin typeface="FC Iconic"/>
              </a:defRPr>
            </a:pPr>
            <a:r>
              <a:t>มาตรฐาน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จัดการไฟล์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ทรัพยากรองค์กร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ทรัพยากรองค์กร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ใช้ข้อมูลหลัง cleanup E2E อ้างอิง Processes/FULL_WORKFLOW_CONTRACT.md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49: จัดการ Pool — workflow | กลุ่ม B6. เวิร์กโฟลว์ครบวงจร</a:t>
            </a:r>
          </a:p>
          <a:p>
            <a:pPr>
              <a:defRPr sz="1600" b="0">
                <a:latin typeface="FC Iconic"/>
              </a:defRPr>
            </a:pPr>
            <a:r>
              <a:t>lifecycle นัด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WF10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หน้าจัดการ Pool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หน้าจัดการ Pool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Processes/FULL_WORKFLOW_CONTRACT.md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50: นัดยืนยัน — workflow | กลุ่ม B6. เวิร์กโฟลว์ครบวงจร</a:t>
            </a:r>
          </a:p>
          <a:p>
            <a:pPr>
              <a:defRPr sz="1600" b="0">
                <a:latin typeface="FC Iconic"/>
              </a:defRPr>
            </a:pPr>
            <a:r>
              <a:t>พร้อมประชุม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WF11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confirmed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confirmed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Processes/FULL_WORKFLOW_CONTRACT.md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51: คิว Health Meeting | กลุ่ม B6. เวิร์กโฟลว์ครบวงจร</a:t>
            </a:r>
          </a:p>
          <a:p>
            <a:pPr>
              <a:defRPr sz="1600" b="0">
                <a:latin typeface="FC Iconic"/>
              </a:defRPr>
            </a:pPr>
            <a:r>
              <a:t>เริ่มวิดีโอ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WF12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คิวประชุม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คิวประชุม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Processes/FULL_WORKFLOW_CONTRACT.md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52: แดชบอร์ดหลังล็อกอิน (WF) | กลุ่ม B6. เวิร์กโฟลว์ครบวงจร</a:t>
            </a:r>
          </a:p>
          <a:p>
            <a:pPr>
              <a:defRPr sz="1600" b="0">
                <a:latin typeface="FC Iconic"/>
              </a:defRPr>
            </a:pPr>
            <a:r>
              <a:t>เริ่มงาน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WF09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เข้าสู่ระบบสำเร็จ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เข้าสู่ระบบสำเร็จ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Processes/FULL_WORKFLOW_CONTRACT.md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ขอบคุณ — เปิด Q&amp;A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4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4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4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4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4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4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48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49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notesSlide" Target="../notesSlides/notesSlide50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notesSlide" Target="../notesSlides/notesSlide5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notesSlide" Target="../notesSlides/notesSlide53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notesSlide" Target="../notesSlides/notesSlide54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notesSlide" Target="../notesSlides/notesSlide55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notesSlide" Target="../notesSlides/notesSlide5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notesSlide" Target="../notesSlides/notesSlide58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notesSlide" Target="../notesSlides/notesSlide60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notesSlide" Target="../notesSlides/notesSlide6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notesSlide" Target="../notesSlides/notesSlide6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notesSlide" Target="../notesSlides/notesSlide63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FC Iconic"/>
              </a:defRPr>
            </a:pPr>
            <a:r>
              <a:t>คู่มือแพทย์และผู้ดูแล Isara Anywhere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latin typeface="FC Iconic"/>
              </a:defRPr>
            </a:pPr>
            <a:r>
              <a:t>Isara Anywhere — Doctor &amp; Admin Portal</a:t>
            </a:r>
          </a:p>
          <a:p>
            <a:pPr>
              <a:defRPr sz="1800" b="0">
                <a:latin typeface="FC Iconic"/>
              </a:defRPr>
            </a:pPr>
            <a:r>
              <a:t>v1.7.33 | 24 พฤษภาคม 2569</a:t>
            </a:r>
          </a:p>
          <a:p>
            <a:pPr>
              <a:defRPr sz="1800" b="0">
                <a:latin typeface="FC Iconic"/>
              </a:defRPr>
            </a:pPr>
            <a:r>
              <a:t>แบบอักษร FC Iconic | มาตรฐานสไลด์ภาษาไทย</a:t>
            </a:r>
          </a:p>
          <a:p>
            <a:pPr>
              <a:defRPr sz="1800" b="0">
                <a:latin typeface="FC Iconic"/>
              </a:defRPr>
            </a:pPr>
            <a:r>
              <a:t>https://izara-doctor-portal-dev-testing-724889190329.asia-southeast1.run.app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ภาพรวมระบบและมาตรฐานเอกสาร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111556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40"/>
                <a:gridCol w="5577840"/>
              </a:tblGrid>
              <a:tr h="426720">
                <a:tc>
                  <a:txBody>
                    <a:bodyPr/>
                    <a:lstStyle/>
                    <a:p>
                      <a:pPr>
                        <a:defRPr sz="1800" b="1">
                          <a:latin typeface="FC Iconic"/>
                        </a:defRPr>
                      </a:pPr>
                      <a:r>
                        <a:t>รายการ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latin typeface="FC Iconic"/>
                        </a:defRPr>
                      </a:pPr>
                      <a:r>
                        <a:t>รายละเอียด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URL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https://izara-doctor-portal-dev-testing-724889190329.asia-southeast1.run.app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กลุ่มทดสอบ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A, C, D, E, F, G, H, I, SSO, Workflows (Doctor/Admin)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จำนวนสไลด์เนื้อหา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52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TH Sarabun New 16 pt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PowerPoint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FC Iconic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FC Iconic"/>
              </a:defRPr>
            </a:pPr>
            <a:r>
              <a:t>หมวด: A0. การเข้าสู่ระบบ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latin typeface="FC Iconic"/>
              </a:defRPr>
            </a:pPr>
            <a:r>
              <a:t>แพทย์และผู้ดูแลใช้พอร์ทัลเดียวกัน แยกสิทธิ์ด้วย JWT role</a:t>
            </a:r>
          </a:p>
          <a:p>
            <a:pPr>
              <a:defRPr sz="1800" b="0">
                <a:latin typeface="FC Iconic"/>
              </a:defRPr>
            </a:pPr>
            <a:r>
              <a:t>1. เปิด URL พอร์ทัลแพทย์ (Cloud dev-testing หรือ localhost:8080)</a:t>
            </a:r>
          </a:p>
          <a:p>
            <a:pPr>
              <a:defRPr sz="1800" b="0">
                <a:latin typeface="FC Iconic"/>
              </a:defRPr>
            </a:pPr>
            <a:r>
              <a:t>2. แพทย์ใหม่: สมัคร → รอ Admin อนุมัติ → ล็อกอินได้</a:t>
            </a:r>
          </a:p>
          <a:p>
            <a:pPr>
              <a:defRPr sz="1800" b="0">
                <a:latin typeface="FC Iconic"/>
              </a:defRPr>
            </a:pPr>
            <a:r>
              <a:t>3. Admin: ล็อกอินด้วยบัญชี admin — เห็นเมนู Pool และอนุมัติ</a:t>
            </a:r>
          </a:p>
          <a:p>
            <a:pPr>
              <a:defRPr sz="1800" b="0">
                <a:latin typeface="FC Iconic"/>
              </a:defRPr>
            </a:pPr>
            <a:r>
              <a:t>4. Google SSO: ใช้อีเมลที่ลงทะเบียนแล้ว</a:t>
            </a:r>
          </a:p>
          <a:p>
            <a:pPr>
              <a:defRPr sz="1800" b="0">
                <a:latin typeface="FC Iconic"/>
              </a:defRPr>
            </a:pPr>
            <a:r>
              <a:t>5. ตรวจ redirect ไป `/doctor/:id/dashboard`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1. หน้าเข้าสู่ระบบแพทย์/ผู้ดูแล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A0. การเข้าสู่ระบบ | แพทย์/ผู้ดูแล | วัตถุประสงค์: บัญชีแพทย์ต้องได้รับอนุมัติก่อน</a:t>
            </a:r>
          </a:p>
        </p:txBody>
      </p:sp>
      <p:pic>
        <p:nvPicPr>
          <p:cNvPr id="4" name="Picture 3" descr="WF08-doctor-login-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676003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เปิด URL พอร์ทัลแพทย์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ฟอร์มล็อกอิน Doctor Portal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ฟอร์มล็อกอิน Doctor Portal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กรอกบัญชีที่ผู้ดูแลสร้างให้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ฟอร์มล็อกอิน Doctor Portal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2: ฟอร์มล็อกอิน Doctor Portal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ฟอร์มล็อกอิน Doctor Portal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ฟอร์มล็อกอิน Doctor Portal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บัญชีแพทย์ต้องได้รับอนุมัติก่อน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Processes/Pages/Doctor-Portal/01_Login_Page.md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docs/screenshots/workflows/auth-login/WF08-doctor-login-page.png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แพทย์ที่ยัง pending จะไม่เห็นเมนูคลินิกเต็มรูปแบบ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2. ลงชื่อเข้าใช้ด้วย Google (แพทย์)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A0. การเข้าสู่ระบบ | แพทย์/ผู้ดูแล | วัตถุประสงค์: สะดวกสำหรับแพทย์ที่ใช้ Gmail</a:t>
            </a:r>
          </a:p>
        </p:txBody>
      </p:sp>
      <p:pic>
        <p:nvPicPr>
          <p:cNvPr id="4" name="Picture 3" descr="doctor-login-with-goog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ใช้ Google หลังมีบัญชีในระบบ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ปุ่ม Google บนหน้าแพทย์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ปุ่ม Google บนหน้าแพทย์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ปุ่ม Google บนหน้าแพทย์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ปุ่ม Google บนหน้าแพทย์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สะดวกสำหรับแพทย์ที่ใช้ Gmail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Processes/Pages/Doctor-Portal/01_Login_Page.md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docs/screenshots/sso/doctor-login-with-google.png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แพทย์ที่ยัง pending จะไม่เห็นเมนูคลินิกเต็มรูปแบบ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3. แพทย์รออนุมัติจากผู้ดูแล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A0. การเข้าสู่ระบบ | แพทย์/ผู้ดูแล | วัตถุประสงค์: แอดมินต้องกดอนุมัติในเมนูจัดการแพทย์</a:t>
            </a:r>
          </a:p>
        </p:txBody>
      </p:sp>
      <p:pic>
        <p:nvPicPr>
          <p:cNvPr id="4" name="Picture 3" descr="sso-doctor-pending-appro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สมัครแพทย์ใหม่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ข้อความรอการอนุมัติ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ข้อความรอการอนุมัติ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ล็อกอินก่อนอนุมัติ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ข้อความรอการอนุมัติ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2: ข้อความรอการอนุมัติ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ข้อความรอการอนุมัติ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ข้อความรอการอนุมัติ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แอดมินต้องกดอนุมัติในเมนูจัดการแพทย์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Processes/Pages/Doctor-Portal/01_Login_Page.md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docs/screenshots/sso/sso-doctor-pending-approval.png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แพทย์ที่ยัง pending จะไม่เห็นเมนูคลินิกเต็มรูปแบบ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FC Iconic"/>
              </a:defRPr>
            </a:pPr>
            <a:r>
              <a:t>หมวด: A4. ผู้ป่วยและการรักษา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latin typeface="FC Iconic"/>
              </a:defRPr>
            </a:pPr>
            <a:r>
              <a:t>Patient Record, สั่งยา, แล็บ, สร้างนัดประชุม</a:t>
            </a:r>
          </a:p>
          <a:p>
            <a:pPr>
              <a:defRPr sz="1800" b="0">
                <a:latin typeface="FC Iconic"/>
              </a:defRPr>
            </a:pPr>
            <a:r>
              <a:t>1. เลือกผู้ป่วยจากคิวหรือ Patient Management</a:t>
            </a:r>
          </a:p>
          <a:p>
            <a:pPr>
              <a:defRPr sz="1800" b="0">
                <a:latin typeface="FC Iconic"/>
              </a:defRPr>
            </a:pPr>
            <a:r>
              <a:t>2. เปิด Patient Record Viewer — PHR, EMR, แล็บ</a:t>
            </a:r>
          </a:p>
          <a:p>
            <a:pPr>
              <a:defRPr sz="1800" b="0">
                <a:latin typeface="FC Iconic"/>
              </a:defRPr>
            </a:pPr>
            <a:r>
              <a:t>3. สร้างนัด/ห้องประชุมจาก Health Meeting</a:t>
            </a:r>
          </a:p>
          <a:p>
            <a:pPr>
              <a:defRPr sz="1800" b="0">
                <a:latin typeface="FC Iconic"/>
              </a:defRPr>
            </a:pPr>
            <a:r>
              <a:t>4. เลือก Clinical actions: Rx, Lab, Meeting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4. รายชื่อผู้ป่วย (คลินิก)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A4. ผู้ป่วยและการรักษา | แพทย์/ผู้ดูแล | วัตถุประสงค์: ค้นหาผู้ป่วย</a:t>
            </a:r>
          </a:p>
        </p:txBody>
      </p:sp>
      <p:pic>
        <p:nvPicPr>
          <p:cNvPr id="4" name="Picture 3" descr="E04-patients-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เปิด Patients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รายการ EMR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รายการ EMR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รายการ EMR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รายการ EMR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ค้นหาผู้ป่วย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Processes/Pages/Doctor-Portal/05_Patient_Management_Page.md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docs/screenshots/group-E/E04-patients-list.png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ตรวจ allergy ก่อนสั่งยา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5. ค้นหาผู้ป่วย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A4. ผู้ป่วยและการรักษา | แพทย์/ผู้ดูแล | วัตถุประสงค์: หาเร็วในคลินิก</a:t>
            </a:r>
          </a:p>
        </p:txBody>
      </p:sp>
      <p:pic>
        <p:nvPicPr>
          <p:cNvPr id="4" name="Picture 3" descr="E05-search-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พิมพ์ชื่อ/รหัส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ผลค้นหา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ผลค้นหา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ผลค้นหา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ผลค้นหา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หาเร็วในคลินิก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Processes/Pages/Doctor-Portal/05_Patient_Management_Page.md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docs/screenshots/group-E/E05-search-demo.png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ตรวจ allergy ก่อนสั่งยา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6. รายละเอียดผู้ป่วย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A4. ผู้ป่วยและการรักษา | แพทย์/ผู้ดูแล | วัตถุประสงค์: ก่อน clinical action</a:t>
            </a:r>
          </a:p>
        </p:txBody>
      </p:sp>
      <p:pic>
        <p:nvPicPr>
          <p:cNvPr id="4" name="Picture 3" descr="E06-patient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คลิกผู้ป่วย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ข้อมูลประวัติ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ข้อมูลประวัติ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ข้อมูลประวัติ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ข้อมูลประวัติ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ก่อน clinical action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Processes/Pages/Doctor-Portal/05_Patient_Management_Page.md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docs/screenshots/group-E/E06-patient-detail.png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ตรวจ allergy ก่อนสั่งยา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7. การดำเนินการทางคลินิก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A4. ผู้ป่วยและการรักษา | แพทย์/ผู้ดูแล | วัตถุประสงค์: จุดตัดสินใจรักษา</a:t>
            </a:r>
          </a:p>
        </p:txBody>
      </p:sp>
      <p:pic>
        <p:nvPicPr>
          <p:cNvPr id="4" name="Picture 3" descr="E06-patient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เลือก 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Rx, Lab, Meeting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Rx, Lab, Meeting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Rx, Lab, Meeting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Rx, Lab, Meeting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จุดตัดสินใจรักษา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Processes/Pages/Doctor-Portal/05_Patient_Management_Page.md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docs/screenshots/group-E/E07-clinical-actions.png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ตรวจ allergy ก่อนสั่งยา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8. Health Meeting — สร้างนัด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A4. ผู้ป่วยและการรักษา | แพทย์/ผู้ดูแล | วัตถุประสงค์: เชื่อมวิดีโอคอล</a:t>
            </a:r>
          </a:p>
        </p:txBody>
      </p:sp>
      <p:pic>
        <p:nvPicPr>
          <p:cNvPr id="4" name="Picture 3" descr="E08-health-mee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สร้างห้องประชุม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ฟอร์มนัด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ฟอร์มนัด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ฟอร์มนัด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ฟอร์มนัด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เชื่อมวิดีโอคอล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Processes/Pages/Doctor-Portal/05_Patient_Management_Page.md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docs/screenshots/group-E/E08-health-meeting.png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ตรวจ allergy ก่อนสั่งยา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FC Iconic"/>
              </a:defRPr>
            </a:pPr>
            <a:r>
              <a:t>หมวด: A5. วิดีโอคอลและ Lobby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latin typeface="FC Iconic"/>
              </a:defRPr>
            </a:pPr>
            <a:r>
              <a:t>แพทย์เป็น HOST: สร้างห้อง → notifyHostPresent → Admit → บันทึก → สรุป AI</a:t>
            </a:r>
          </a:p>
          <a:p>
            <a:pPr>
              <a:defRPr sz="1800" b="0">
                <a:latin typeface="FC Iconic"/>
              </a:defRPr>
            </a:pPr>
            <a:r>
              <a:t>1. สร้าง meeting จาก Health Meeting หรือนัด confirmed</a:t>
            </a:r>
          </a:p>
          <a:p>
            <a:pPr>
              <a:defRPr sz="1800" b="0">
                <a:latin typeface="FC Iconic"/>
              </a:defRPr>
            </a:pPr>
            <a:r>
              <a:t>2. ยอมรับข้อตกลง telemedicine → pre-join</a:t>
            </a:r>
          </a:p>
          <a:p>
            <a:pPr>
              <a:defRPr sz="1800" b="0">
                <a:latin typeface="FC Iconic"/>
              </a:defRPr>
            </a:pPr>
            <a:r>
              <a:t>3. เข้า Jitsi ก่อน — ระบบตั้ง host-ready</a:t>
            </a:r>
          </a:p>
          <a:p>
            <a:pPr>
              <a:defRPr sz="1800" b="0">
                <a:latin typeface="FC Iconic"/>
              </a:defRPr>
            </a:pPr>
            <a:r>
              <a:t>4. Lobby panel: รายชื่อรอ — แยก badge Guest/Patient</a:t>
            </a:r>
          </a:p>
          <a:p>
            <a:pPr>
              <a:defRPr sz="1800" b="0">
                <a:latin typeface="FC Iconic"/>
              </a:defRPr>
            </a:pPr>
            <a:r>
              <a:t>5. กด Admit รายคน หรือ `admit-all-btn`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9. สร้างห้องประชุมสำเร็จ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A5. วิดีโอคอลและ Lobby | แพทย์/ผู้ดูแล | วัตถุประสงค์: แชร์ให้ผู้ป่วย</a:t>
            </a:r>
          </a:p>
        </p:txBody>
      </p:sp>
      <p:pic>
        <p:nvPicPr>
          <p:cNvPr id="4" name="Picture 3" descr="E10-meeting-cre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ยืนยันสร้างห้อง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ลิงก์ประชุม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ลิงก์ประชุม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ลิงก์ประชุม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ลิงก์ประชุม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แชร์ให้ผู้ป่วย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Processes/Pages/Doctor-Portal/07_Virtual_Meeting.md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docs/screenshots/group-E/E10-meeting-created.png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Guest link จาก API เท่านั้น — ไม่ hardcode doctor-origin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รอ save-recording ก่อน navigate ไปหน้าผล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10. เส้นทางห้องประชุมแพทย์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A5. วิดีโอคอลและ Lobby | แพทย์/ผู้ดูแล | วัตถุประสงค์: เตรียมเข้าห้องประชุม</a:t>
            </a:r>
          </a:p>
        </p:txBody>
      </p:sp>
      <p:pic>
        <p:nvPicPr>
          <p:cNvPr id="4" name="Picture 3" descr="E10b-doctor-meeting-ro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เข้าห้อง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หน้า pre-join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หน้า pre-join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หน้า pre-join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หน้า pre-join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เตรียมเข้าห้องประชุม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Processes/Pages/Doctor-Portal/07_Virtual_Meeting.md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docs/screenshots/group-E/E10b-doctor-meeting-route.png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Guest link จาก API เท่านั้น — ไม่ hardcode doctor-origin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รอ save-recording ก่อน navigate ไปหน้าผล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11. ข้อตกลงก่อนเข้าห้อง (แพทย์)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A5. วิดีโอคอลและ Lobby | แพทย์/ผู้ดูแล | วัตถุประสงค์: มาตรฐาน telemedicine</a:t>
            </a:r>
          </a:p>
        </p:txBody>
      </p:sp>
      <p:pic>
        <p:nvPicPr>
          <p:cNvPr id="4" name="Picture 3" descr="WF14a-doctor-agre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ยอมรับข้อตกลง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หน้า agreement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หน้า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หน้า agreement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หน้า agreement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มาตรฐาน telemedicine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Processes/Pages/Doctor-Portal/07_Virtual_Meeting.md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docs/screenshots/workflows/video-meeting/WF14a-doctor-agreement.png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Guest link จาก API เท่านั้น — ไม่ hardcode doctor-origin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รอ save-recording ก่อน navigate ไปหน้าผล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12. พรี-จอยน์แพทย์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A5. วิดีโอคอลและ Lobby | แพทย์/ผู้ดูแล | วัตถุประสงค์: ก่อนเปิด lobby</a:t>
            </a:r>
          </a:p>
        </p:txBody>
      </p:sp>
      <p:pic>
        <p:nvPicPr>
          <p:cNvPr id="4" name="Picture 3" descr="WF14b-doctor-pre-jo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ตรวจอุปกรณ์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กล้อง/ไมค์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กล้อง/ไมค์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กล้อง/ไมค์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ก่อนเปิด lobby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Processes/Pages/Doctor-Portal/07_Virtual_Meeting.md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docs/screenshots/workflows/video-meeting/WF14b-doctor-pre-join.png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Guest link จาก API เท่านั้น — ไม่ hardcode doctor-origin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รอ save-recording ก่อน navigate ไปหน้าผล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13. Lobby — Admit ผู้ป่วย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A5. วิดีโอคอลและ Lobby | แพทย์/ผู้ดูแล | วัตถุประสงค์: ควบคุมการเข้าห้อง</a:t>
            </a:r>
          </a:p>
        </p:txBody>
      </p:sp>
      <p:pic>
        <p:nvPicPr>
          <p:cNvPr id="4" name="Picture 3" descr="E10c3-doctor-lobby-adm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กด Admit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รายชื่อรอ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รายชื่อรอ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รายชื่อรอ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รายชื่อรอ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ควบคุมการเข้าห้อง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Processes/Pages/Doctor-Portal/07_Virtual_Meeting.md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docs/screenshots/group-E/E10c3-doctor-lobby-admit.png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Guest link จาก API เท่านั้น — ไม่ hardcode doctor-origin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รอ save-recording ก่อน navigate ไปหน้าผล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14. ห้อง Jitsi (แพทย์)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A5. วิดีโอคอลและ Lobby | แพทย์/ผู้ดูแล | วัตถุประสงค์: ปรึกษาผู้ป่วย</a:t>
            </a:r>
          </a:p>
        </p:txBody>
      </p:sp>
      <p:pic>
        <p:nvPicPr>
          <p:cNvPr id="4" name="Picture 3" descr="E10c-jitsi-doctor-m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หลัง admit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วิดีโอคอลจริง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วิดีโอคอลจริง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วิดีโอคอลจริง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วิดีโอคอลจริง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ปรึกษาผู้ป่วย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Processes/Pages/Doctor-Portal/07_Virtual_Meeting.md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docs/screenshots/group-J-meeting-jitsi/E10c-jitsi-doctor-meet.png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Guest link จาก API เท่านั้น — ไม่ hardcode doctor-origin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รอ save-recording ก่อน navigate ไปหน้าผล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15. คิวแพทย์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A5. วิดีโอคอลและ Lobby | แพทย์/ผู้ดูแล | วัตถุประสงค์: ลำดับการรับ</a:t>
            </a:r>
          </a:p>
        </p:txBody>
      </p:sp>
      <p:pic>
        <p:nvPicPr>
          <p:cNvPr id="4" name="Picture 3" descr="E18-doctor-que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ดูคิววันนี้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รายการรอ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รายการรอ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รายการรอ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รายการรอ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ลำดับการรับ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Processes/Pages/Doctor-Portal/07_Virtual_Meeting.md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docs/screenshots/group-E/E18-doctor-queue.png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Guest link จาก API เท่านั้น — ไม่ hardcode doctor-origin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รอ save-recording ก่อน navigate ไปหน้าผล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16. สร้างลิงก์เชิญ Guest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A5. วิดีโอคอลและ Lobby | แพทย์/ผู้ดูแล | วัตถุประสงค์: ญาติเข้าร่วมได้</a:t>
            </a:r>
          </a:p>
        </p:txBody>
      </p:sp>
      <p:pic>
        <p:nvPicPr>
          <p:cNvPr id="4" name="Picture 3" descr="E18-doctor-que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สร้าง invite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ลิงก์ basic/token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ลิงก์ basic/token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ลิงก์ basic/token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ลิงก์ basic/token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ญาติเข้าร่วมได้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Processes/Pages/Doctor-Portal/07_Virtual_Meeting.md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docs/screenshots/group-E/E19-guest-invite-created.png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Guest link จาก API เท่านั้น — ไม่ hardcode doctor-origin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รอ save-recording ก่อน navigate ไปหน้าผล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17. Guest — Lobby Basic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A5. วิดีโอคอลและ Lobby | แพทย์/ผู้ดูแล | วัตถุประสงค์: ลิงก์ทั่วไป</a:t>
            </a:r>
          </a:p>
        </p:txBody>
      </p:sp>
      <p:pic>
        <p:nvPicPr>
          <p:cNvPr id="4" name="Picture 3" descr="E21-lobby-join-bas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ทดสอบลิงก์ basic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หน้า join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หน้า join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หน้า join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หน้า join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ลิงก์ทั่วไป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Processes/Pages/Doctor-Portal/07_Virtual_Meeting.md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docs/screenshots/group-E/E21-lobby-join-basic.png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Guest link จาก API เท่านั้น — ไม่ hardcode doctor-origin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รอ save-recording ก่อน navigate ไปหน้าผล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18. Guest — Lobby Token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A5. วิดีโอคอลและ Lobby | แพทย์/ผู้ดูแล | วัตถุประสงค์: token ป้องกันคนแปลก</a:t>
            </a:r>
          </a:p>
        </p:txBody>
      </p:sp>
      <p:pic>
        <p:nvPicPr>
          <p:cNvPr id="4" name="Picture 3" descr="E22-lobby-join-tok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ทดสอบลิงก์ token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หน้า join ปลอดภัย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หน้า join ปลอดภัย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หน้า join ปลอดภัย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หน้า join ปลอดภัย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token ป้องกันคนแปลก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Processes/Pages/Doctor-Portal/07_Virtual_Meeting.md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docs/screenshots/group-E/E22-lobby-join-token.png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Guest link จาก API เท่านั้น — ไม่ hardcode doctor-origin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รอ save-recording ก่อน navigate ไปหน้าผล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19. Guest ได้รับอนุมัติ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A5. วิดีโอคอลและ Lobby | แพทย์/ผู้ดูแล | วัตถุประสงค์: หลายผู้เข้าร่วม</a:t>
            </a:r>
          </a:p>
        </p:txBody>
      </p:sp>
      <p:pic>
        <p:nvPicPr>
          <p:cNvPr id="4" name="Picture 3" descr="E22b-guest-admit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Admit guest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ในห้องแล้ว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ในห้องแล้ว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ในห้องแล้ว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ในห้องแล้ว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หลายผู้เข้าร่วม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Processes/Pages/Doctor-Portal/07_Virtual_Meeting.md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docs/screenshots/group-E/E22b-guest-admitted.png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Guest link จาก API เท่านั้น — ไม่ hardcode doctor-origin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รอ save-recording ก่อน navigate ไปหน้าผล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20. Admit ทุกคนในห้อง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A5. วิดีโอคอลและ Lobby | แพทย์/ผู้ดูแล | วัตถุประสงค์: จบขั้นตอน lobby</a:t>
            </a:r>
          </a:p>
        </p:txBody>
      </p:sp>
      <p:pic>
        <p:nvPicPr>
          <p:cNvPr id="4" name="Picture 3" descr="E31-lobby-all-admit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Admit 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ทุกคนในประชุม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ทุกคนในประชุม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ทุกคนในประชุม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ทุกคนในประชุม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จบขั้นตอน lobby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Processes/Pages/Doctor-Portal/07_Virtual_Meeting.md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docs/screenshots/group-E/E31-lobby-all-admitted.png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Guest link จาก API เท่านั้น — ไม่ hardcode doctor-origin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รอ save-recording ก่อน navigate ไปหน้าผล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FC Iconic"/>
              </a:defRPr>
            </a:pPr>
            <a:r>
              <a:t>หมวด: A6. PHR และเวชระเบียน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latin typeface="FC Iconic"/>
              </a:defRPr>
            </a:pPr>
            <a:r>
              <a:t>หมวด «A6. PHR และเวชระเบียน» สำหรับแพทย์หรือผู้ดูแล ตามสิทธิ์ JWT</a:t>
            </a:r>
          </a:p>
          <a:p>
            <a:pPr>
              <a:defRPr sz="1800" b="0">
                <a:latin typeface="FC Iconic"/>
              </a:defRPr>
            </a:pPr>
            <a:r>
              <a:t>1. ล็อกอินด้วยบทบาทที่ถูกต้อง (Doctor / Admin)</a:t>
            </a:r>
          </a:p>
          <a:p>
            <a:pPr>
              <a:defRPr sz="1800" b="0">
                <a:latin typeface="FC Iconic"/>
              </a:defRPr>
            </a:pPr>
            <a:r>
              <a:t>2. เปิดเมนูตามหมวดและตรวจ KPI/คิว</a:t>
            </a:r>
          </a:p>
          <a:p>
            <a:pPr>
              <a:defRPr sz="1800" b="0">
                <a:latin typeface="FC Iconic"/>
              </a:defRPr>
            </a:pPr>
            <a:r>
              <a:t>3. ดำเนินการคลินิกหรือการจัดการตามภาพ</a:t>
            </a:r>
          </a:p>
          <a:p>
            <a:pPr>
              <a:defRPr sz="1800" b="0">
                <a:latin typeface="FC Iconic"/>
              </a:defRPr>
            </a:pPr>
            <a:r>
              <a:t>4. ตรวจสอบ realtime sync และสถานะนัด</a:t>
            </a:r>
          </a:p>
          <a:p>
            <a:pPr>
              <a:defRPr sz="1800" b="0">
                <a:latin typeface="FC Iconic"/>
              </a:defRPr>
            </a:pPr>
            <a:r>
              <a:t>5. ยืนยันผลลัพธ์กับ Processes/Pages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21. ผู้ป่วย — มุม PHR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A6. PHR และเวชระเบียน | แพทย์/ผู้ดูแล | วัตถุประสงค์: เข้า PHR</a:t>
            </a:r>
          </a:p>
        </p:txBody>
      </p:sp>
      <p:pic>
        <p:nvPicPr>
          <p:cNvPr id="4" name="Picture 3" descr="F10-pati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เปิด Patients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รายการ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รายการ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รายการ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รายการ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เข้า PHR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docs/screenshots/group-F/F10-patients.png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Admin เท่านั้นที่จัดสรร Pool ให้แพทย์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แพทย์ยืนยันนัด — ไม่ใช่ Admin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22. ค้นหาเพื่อเปิด PHR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A6. PHR และเวชระเบียน | แพทย์/ผู้ดูแล | วัตถุประสงค์: เลือกผู้ป่วย</a:t>
            </a:r>
          </a:p>
        </p:txBody>
      </p:sp>
      <p:pic>
        <p:nvPicPr>
          <p:cNvPr id="4" name="Picture 3" descr="F11-search-pat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ค้นหา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ผลค้นหา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ผลค้นหา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ผลค้นหา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ผลค้นหา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เลือกผู้ป่วย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docs/screenshots/group-F/F11-search-patient.png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Admin เท่านั้นที่จัดสรร Pool ให้แพทย์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แพทย์ยืนยันนัด — ไม่ใช่ Admin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23. รายละเอียด + PHR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A6. PHR และเวชระเบียน | แพทย์/ผู้ดูแล | วัตถุประสงค์: อ่านก่อนรักษา</a:t>
            </a:r>
          </a:p>
        </p:txBody>
      </p:sp>
      <p:pic>
        <p:nvPicPr>
          <p:cNvPr id="4" name="Picture 3" descr="F12-patient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เปิด detail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แท็บข้อมูล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แท็บข้อมูล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แท็บข้อมูล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แท็บข้อมูล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อ่านก่อนรักษา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docs/screenshots/group-F/F12-patient-detail.png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Admin เท่านั้นที่จัดสรร Pool ให้แพทย์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แพทย์ยืนยันนัด — ไม่ใช่ Admin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24. ข้อมูลสุขภาพผู้ป่วย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A6. PHR และเวชระเบียน | แพทย์/ผู้ดูแล | วัตถุประสงค์: sync จากผู้ป่วย</a:t>
            </a:r>
          </a:p>
        </p:txBody>
      </p:sp>
      <p:pic>
        <p:nvPicPr>
          <p:cNvPr id="4" name="Picture 3" descr="F12-patient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ดู vitals/ยา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ข้อมูลครบ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ข้อมูลครบ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ข้อมูลครบ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ข้อมูลครบ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sync จากผู้ป่วย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docs/screenshots/group-F/F13-patient-health-data.png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Admin เท่านั้นที่จัดสรร Pool ให้แพทย์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แพทย์ยืนยันนัด — ไม่ใช่ Admin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25. PHR มุมแพทย์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A6. PHR และเวชระเบียน | แพทย์/ผู้ดูแล | วัตถุประสงค์: บันทึกเพิ่มได้</a:t>
            </a:r>
          </a:p>
        </p:txBody>
      </p:sp>
      <p:pic>
        <p:nvPicPr>
          <p:cNvPr id="4" name="Picture 3" descr="E06-patient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เปิด PHR tab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มุมมองแพทย์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มุมมองแพทย์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มุมมองแพทย์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มุมมองแพทย์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บันทึกเพิ่มได้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docs/screenshots/group-F/F15-doctor-patient-phr.png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Admin เท่านั้นที่จัดสรร Pool ให้แพทย์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แพทย์ยืนยันนัด — ไม่ใช่ Admin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26. เวชระเบียนผู้ป่วย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A6. PHR และเวชระเบียน | แพทย์/ผู้ดูแล | วัตถุประสงค์: ข้อมูลรักษา</a:t>
            </a:r>
          </a:p>
        </p:txBody>
      </p:sp>
      <p:pic>
        <p:nvPicPr>
          <p:cNvPr id="4" name="Picture 3" descr="E04-patients-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เปิด record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EMR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EMR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EMR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EMR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ข้อมูลรักษา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docs/screenshots/group-G/G11-patient-record.png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Admin เท่านั้นที่จัดสรร Pool ให้แพทย์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แพทย์ยืนยันนัด — ไม่ใช่ Admin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27. รายการประชุมแพทย์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A6. PHR และเวชระเบียน | แพทย์/ผู้ดูแล | วัตถุประสงค์: ย้อนกลับประชุม</a:t>
            </a:r>
          </a:p>
        </p:txBody>
      </p:sp>
      <p:pic>
        <p:nvPicPr>
          <p:cNvPr id="4" name="Picture 3" descr="E08-health-mee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ดู meetings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นัดออนไลน์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นัดออนไลน์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นัดออนไลน์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นัดออนไลน์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ย้อนกลับประชุม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docs/screenshots/group-G/G12-meetings.png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Admin เท่านั้นที่จัดสรร Pool ให้แพทย์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แพทย์ยืนยันนัด — ไม่ใช่ Admin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FC Iconic"/>
              </a:defRPr>
            </a:pPr>
            <a:r>
              <a:t>หมวด: A7. เนื้อหาและทรัพยากร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latin typeface="FC Iconic"/>
              </a:defRPr>
            </a:pPr>
            <a:r>
              <a:t>หมวด «A7. เนื้อหาและทรัพยากร» สำหรับแพทย์หรือผู้ดูแล ตามสิทธิ์ JWT</a:t>
            </a:r>
          </a:p>
          <a:p>
            <a:pPr>
              <a:defRPr sz="1800" b="0">
                <a:latin typeface="FC Iconic"/>
              </a:defRPr>
            </a:pPr>
            <a:r>
              <a:t>1. ล็อกอินด้วยบทบาทที่ถูกต้อง (Doctor / Admin)</a:t>
            </a:r>
          </a:p>
          <a:p>
            <a:pPr>
              <a:defRPr sz="1800" b="0">
                <a:latin typeface="FC Iconic"/>
              </a:defRPr>
            </a:pPr>
            <a:r>
              <a:t>2. เปิดเมนูตามหมวดและตรวจ KPI/คิว</a:t>
            </a:r>
          </a:p>
          <a:p>
            <a:pPr>
              <a:defRPr sz="1800" b="0">
                <a:latin typeface="FC Iconic"/>
              </a:defRPr>
            </a:pPr>
            <a:r>
              <a:t>3. ดำเนินการคลินิกหรือการจัดการตามภาพ</a:t>
            </a:r>
          </a:p>
          <a:p>
            <a:pPr>
              <a:defRPr sz="1800" b="0">
                <a:latin typeface="FC Iconic"/>
              </a:defRPr>
            </a:pPr>
            <a:r>
              <a:t>4. ตรวจสอบ realtime sync และสถานะนัด</a:t>
            </a:r>
          </a:p>
          <a:p>
            <a:pPr>
              <a:defRPr sz="1800" b="0">
                <a:latin typeface="FC Iconic"/>
              </a:defRPr>
            </a:pPr>
            <a:r>
              <a:t>5. ยืนยันผลลัพธ์กับ Processes/Pages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28. สร้างเนื้อหา — รายการ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A7. เนื้อหาและทรัพยากร | แพทย์/ผู้ดูแล | วัตถุประสงค์: แพทย์เขียน</a:t>
            </a:r>
          </a:p>
        </p:txBody>
      </p:sp>
      <p:pic>
        <p:nvPicPr>
          <p:cNvPr id="4" name="Picture 3" descr="H01-medical-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7759374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Medical Content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รายการบทความ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รายการบทความ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รายการบทความ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รายการบทความ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แพทย์เขียน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docs/screenshots/group-H/H01-medical-content.png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Admin เท่านั้นที่จัดสรร Pool ให้แพทย์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แพทย์ยืนยันนัด — ไม่ใช่ Admin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29. ฟอร์มสร้างบทความ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A7. เนื้อหาและทรัพยากร | แพทย์/ผู้ดูแล | วัตถุประสงค์: กรอกหัวข้อ</a:t>
            </a:r>
          </a:p>
        </p:txBody>
      </p:sp>
      <p:pic>
        <p:nvPicPr>
          <p:cNvPr id="4" name="Picture 3" descr="H02-create-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7759374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กดสร้างใหม่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ฟอร์มว่าง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ฟอร์มว่าง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ฟอร์มว่าง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ฟอร์มว่าง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กรอกหัวข้อ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docs/screenshots/group-H/H02-create-form.png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Admin เท่านั้นที่จัดสรร Pool ให้แพทย์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แพทย์ยืนยันนัด — ไม่ใช่ Admin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30. กรอกบทความครบ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A7. เนื้อหาและทรัพยากร | แพทย์/ผู้ดูแล | วัตถุประสงค์: ส่งให้แอดมินอนุมัติ</a:t>
            </a:r>
          </a:p>
        </p:txBody>
      </p:sp>
      <p:pic>
        <p:nvPicPr>
          <p:cNvPr id="4" name="Picture 3" descr="H03-form-fil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กรอกเนื้อหา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พร้อมเผยแพร่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พร้อมเผยแพร่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พร้อมเผยแพร่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พร้อมเผยแพร่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ส่งให้แอดมินอนุมัติ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docs/screenshots/group-H/H03-form-filled.png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Admin เท่านั้นที่จัดสรร Pool ให้แพทย์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แพทย์ยืนยันนัด — ไม่ใช่ Admin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31. กลับรายการบทความ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A7. เนื้อหาและทรัพยากร | แพทย์/ผู้ดูแล | วัตถุประสงค์: จัดการเนื้อหา</a:t>
            </a:r>
          </a:p>
        </p:txBody>
      </p:sp>
      <p:pic>
        <p:nvPicPr>
          <p:cNvPr id="4" name="Picture 3" descr="H04-back-to-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บันทึก/ยกเลิก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รายการอัปเดต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รายการอัปเดต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รายการอัปเดต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รายการอัปเดต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จัดการเนื้อหา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docs/screenshots/group-H/H04-back-to-list.png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Admin เท่านั้นที่จัดสรร Pool ให้แพทย์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แพทย์ยืนยันนัด — ไม่ใช่ Admin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32. อ่านบทความ (แพทย์)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A7. เนื้อหาและทรัพยากร | แพทย์/ผู้ดูแล | วัตถุประสงค์: ตรวจก่อนเผยแพร่</a:t>
            </a:r>
          </a:p>
        </p:txBody>
      </p:sp>
      <p:pic>
        <p:nvPicPr>
          <p:cNvPr id="4" name="Picture 3" descr="H05-article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9687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เปิดบทความ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ตัวอย่าง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ตัวอย่าง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ตัวอย่าง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ตัวอย่าง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ตรวจก่อนเผยแพร่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docs/screenshots/group-H/H05-article-detail.png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Admin เท่านั้นที่จัดสรร Pool ให้แพทย์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แพทย์ยืนยันนัด — ไม่ใช่ Admin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33. ทรัพยากรคลินิก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A7. เนื้อหาและทรัพยากร | แพทย์/ผู้ดูแล | วัตถุประสงค์: แนวทางรักษา</a:t>
            </a:r>
          </a:p>
        </p:txBody>
      </p:sp>
      <p:pic>
        <p:nvPicPr>
          <p:cNvPr id="4" name="Picture 3" descr="H06-clinical-resour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4290017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Clinical Resources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รายการไฟล์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รายการไฟล์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รายการไฟล์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รายการไฟล์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แนวทางรักษา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docs/screenshots/group-H/H06-clinical-resources.png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Admin เท่านั้นที่จัดสรร Pool ให้แพทย์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แพทย์ยืนยันนัด — ไม่ใช่ Admin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34. รายละเอียดทรัพยากร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A7. เนื้อหาและทรัพยากร | แพทย์/ผู้ดูแล | วัตถุประสงค์: อ้างอิงระหว่างรักษา</a:t>
            </a:r>
          </a:p>
        </p:txBody>
      </p:sp>
      <p:pic>
        <p:nvPicPr>
          <p:cNvPr id="4" name="Picture 3" descr="H07-resource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6660817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คลิกไฟล์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เนื้อหา/ลิงก์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เนื้อหา/ลิงก์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เนื้อหา/ลิงก์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เนื้อหา/ลิงก์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อ้างอิงระหว่างรักษา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docs/screenshots/group-H/H07-resource-detail.png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Admin เท่านั้นที่จัดสรร Pool ให้แพทย์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แพทย์ยืนยันนัด — ไม่ใช่ Admin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35. Pool จาก Group 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A7. เนื้อหาและทรัพยากร | แพทย์/ผู้ดูแล | วัตถุประสงค์: รับผู้ป่วย</a:t>
            </a:r>
          </a:p>
        </p:txBody>
      </p:sp>
      <p:pic>
        <p:nvPicPr>
          <p:cNvPr id="4" name="Picture 3" descr="H09-po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Pool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นัดรอ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นัดรอ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นัดรอ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รับผู้ป่วย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docs/screenshots/group-H/H09-pool.png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Admin เท่านั้นที่จัดสรร Pool ให้แพทย์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แพทย์ยืนยันนัด — ไม่ใช่ Admin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FC Iconic"/>
              </a:defRPr>
            </a:pPr>
            <a:r>
              <a:t>หมวด: A8. โปรไฟล์และแจ้งเตือน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latin typeface="FC Iconic"/>
              </a:defRPr>
            </a:pPr>
            <a:r>
              <a:t>หมวด «A8. โปรไฟล์และแจ้งเตือน» สำหรับแพทย์หรือผู้ดูแล ตามสิทธิ์ JWT</a:t>
            </a:r>
          </a:p>
          <a:p>
            <a:pPr>
              <a:defRPr sz="1800" b="0">
                <a:latin typeface="FC Iconic"/>
              </a:defRPr>
            </a:pPr>
            <a:r>
              <a:t>1. ล็อกอินด้วยบทบาทที่ถูกต้อง (Doctor / Admin)</a:t>
            </a:r>
          </a:p>
          <a:p>
            <a:pPr>
              <a:defRPr sz="1800" b="0">
                <a:latin typeface="FC Iconic"/>
              </a:defRPr>
            </a:pPr>
            <a:r>
              <a:t>2. เปิดเมนูตามหมวดและตรวจ KPI/คิว</a:t>
            </a:r>
          </a:p>
          <a:p>
            <a:pPr>
              <a:defRPr sz="1800" b="0">
                <a:latin typeface="FC Iconic"/>
              </a:defRPr>
            </a:pPr>
            <a:r>
              <a:t>3. ดำเนินการคลินิกหรือการจัดการตามภาพ</a:t>
            </a:r>
          </a:p>
          <a:p>
            <a:pPr>
              <a:defRPr sz="1800" b="0">
                <a:latin typeface="FC Iconic"/>
              </a:defRPr>
            </a:pPr>
            <a:r>
              <a:t>4. ตรวจสอบ realtime sync และสถานะนัด</a:t>
            </a:r>
          </a:p>
          <a:p>
            <a:pPr>
              <a:defRPr sz="1800" b="0">
                <a:latin typeface="FC Iconic"/>
              </a:defRPr>
            </a:pPr>
            <a:r>
              <a:t>5. ยืนยันผลลัพธ์กับ Processes/Pages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36. โปรไฟล์แพทย์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A8. โปรไฟล์และแจ้งเตือน | แพทย์/ผู้ดูแล | วัตถุประสงค์: แก้ไขตามสิทธิ์</a:t>
            </a:r>
          </a:p>
        </p:txBody>
      </p:sp>
      <p:pic>
        <p:nvPicPr>
          <p:cNvPr id="4" name="Picture 3" descr="I12-doctor-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เปิดโปรไฟล์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ข้อมูลแพทย์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ข้อมูลแพทย์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ข้อมูลแพทย์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ข้อมูลแพทย์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แก้ไขตามสิทธิ์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docs/screenshots/group-I/I12-doctor-profile.png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Admin เท่านั้นที่จัดสรร Pool ให้แพทย์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แพทย์ยืนยันนัด — ไม่ใช่ Admin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37. แจ้งเตือนแพทย์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A8. โปรไฟล์และแจ้งเตือน | แพทย์/ผู้ดูแล | วัตถุประสงค์: ตอบสนองเร็ว</a:t>
            </a:r>
          </a:p>
        </p:txBody>
      </p:sp>
      <p:pic>
        <p:nvPicPr>
          <p:cNvPr id="4" name="Picture 3" descr="WF12b-doctor-notific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662381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กระดิ่งแจ้งเตือน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นัดใหม่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นัดใหม่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นัดใหม่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นัดใหม่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ตอบสนองเร็ว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docs/screenshots/workflows/appointment-lifecycle/WF12b-doctor-notifications.png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Admin เท่านั้นที่จัดสรร Pool ให้แพทย์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แพทย์ยืนยันนัด — ไม่ใช่ Admin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FC Iconic"/>
              </a:defRPr>
            </a:pPr>
            <a:r>
              <a:t>หมวด: B3. จัดการบุคลากร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latin typeface="FC Iconic"/>
              </a:defRPr>
            </a:pPr>
            <a:r>
              <a:t>หมวด «B3. จัดการบุคลากร» สำหรับแพทย์หรือผู้ดูแล ตามสิทธิ์ JWT</a:t>
            </a:r>
          </a:p>
          <a:p>
            <a:pPr>
              <a:defRPr sz="1800" b="0">
                <a:latin typeface="FC Iconic"/>
              </a:defRPr>
            </a:pPr>
            <a:r>
              <a:t>1. ล็อกอินด้วยบทบาทที่ถูกต้อง (Doctor / Admin)</a:t>
            </a:r>
          </a:p>
          <a:p>
            <a:pPr>
              <a:defRPr sz="1800" b="0">
                <a:latin typeface="FC Iconic"/>
              </a:defRPr>
            </a:pPr>
            <a:r>
              <a:t>2. เปิดเมนูตามหมวดและตรวจ KPI/คิว</a:t>
            </a:r>
          </a:p>
          <a:p>
            <a:pPr>
              <a:defRPr sz="1800" b="0">
                <a:latin typeface="FC Iconic"/>
              </a:defRPr>
            </a:pPr>
            <a:r>
              <a:t>3. ดำเนินการคลินิกหรือการจัดการตามภาพ</a:t>
            </a:r>
          </a:p>
          <a:p>
            <a:pPr>
              <a:defRPr sz="1800" b="0">
                <a:latin typeface="FC Iconic"/>
              </a:defRPr>
            </a:pPr>
            <a:r>
              <a:t>4. ตรวจสอบ realtime sync และสถานะนัด</a:t>
            </a:r>
          </a:p>
          <a:p>
            <a:pPr>
              <a:defRPr sz="1800" b="0">
                <a:latin typeface="FC Iconic"/>
              </a:defRPr>
            </a:pPr>
            <a:r>
              <a:t>5. ยืนยันผลลัพธ์กับ Processes/Pages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38. แดชบอร์ด (Group 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B3. จัดการบุคลากร | แพทย์/ผู้ดูแล | วัตถุประสงค์: Group I tests</a:t>
            </a:r>
          </a:p>
        </p:txBody>
      </p:sp>
      <p:pic>
        <p:nvPicPr>
          <p:cNvPr id="4" name="Picture 3" descr="I01-admin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5626354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I01 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ภาพรวม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ภาพรวม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ภาพรวม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ภาพรวม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Group I tests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docs/screenshots/group-I/I01-admin-dashboard.png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Admin เท่านั้นที่จัดสรร Pool ให้แพทย์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แพทย์ยืนยันนัด — ไม่ใช่ Admin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39. จัดการแพทย์ (I)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B3. จัดการบุคลากร | แพทย์/ผู้ดูแล | วัตถุประสงค์: บำรุงรักษาบัญชี</a:t>
            </a:r>
          </a:p>
        </p:txBody>
      </p:sp>
      <p:pic>
        <p:nvPicPr>
          <p:cNvPr id="4" name="Picture 3" descr="I02-manage-doc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4624578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ค้นหาแพทย์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รายการ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รายการ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รายการ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รายการ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บำรุงรักษาบัญชี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docs/screenshots/group-I/I02-manage-doctors.png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Admin เท่านั้นที่จัดสรร Pool ให้แพทย์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แพทย์ยืนยันนัด — ไม่ใช่ Admin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40. ค้นหาแพทย์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B3. จัดการบุคลากร | แพทย์/ผู้ดูแล | วัตถุประสงค์: หาเร็ว</a:t>
            </a:r>
          </a:p>
        </p:txBody>
      </p:sp>
      <p:pic>
        <p:nvPicPr>
          <p:cNvPr id="4" name="Picture 3" descr="I03-search-do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พิมพ์ชื่อ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ผลค้นหา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ผลค้นหา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ผลค้นหา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ผลค้นหา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หาเร็ว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docs/screenshots/group-I/I03-search-doctor.png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Admin เท่านั้นที่จัดสรร Pool ให้แพทย์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แพทย์ยืนยันนัด — ไม่ใช่ Admin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41. ปุ่มอนุมัติ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B3. จัดการบุคลากร | แพทย์/ผู้ดูแล | วัตถุประสงค์: ควบคุมคุณภาพ</a:t>
            </a:r>
          </a:p>
        </p:txBody>
      </p:sp>
      <p:pic>
        <p:nvPicPr>
          <p:cNvPr id="4" name="Picture 3" descr="I03-search-do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เลือกแพทย์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Approve/Reject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Approve/Reject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Approve/Reject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Approve/Reject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ควบคุมคุณภาพ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docs/screenshots/group-I/I05-approval-buttons.png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Admin เท่านั้นที่จัดสรร Pool ให้แพทย์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แพทย์ยืนยันนัด — ไม่ใช่ Admin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42. หน้าอนุมัติแพทย์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B3. จัดการบุคลากร | แพทย์/ผู้ดูแล | วัตถุประสงค์: แพทย์ล็อกอินได้</a:t>
            </a:r>
          </a:p>
        </p:txBody>
      </p:sp>
      <p:pic>
        <p:nvPicPr>
          <p:cNvPr id="4" name="Picture 3" descr="I06-doctor-appro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ยืนยันอนุมัติ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สถานะ active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สถานะ 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สถานะ active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สถานะ active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แพทย์ล็อกอินได้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docs/screenshots/group-I/I06-doctor-approval.png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Admin เท่านั้นที่จัดสรร Pool ให้แพทย์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แพทย์ยืนยันนัด — ไม่ใช่ Admin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43. รายการรออนุมัติ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B3. จัดการบุคลากร | แพทย์/ผู้ดูแล | วัตถุประสงค์: ดำเนินการทีละราย</a:t>
            </a:r>
          </a:p>
        </p:txBody>
      </p:sp>
      <p:pic>
        <p:nvPicPr>
          <p:cNvPr id="4" name="Picture 3" descr="I06-doctor-appro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ดู 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คิวรอ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คิวรอ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คิวรอ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คิวรอ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ดำเนินการทีละราย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docs/screenshots/group-I/I07-pending-list.png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Admin เท่านั้นที่จัดสรร Pool ให้แพทย์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แพทย์ยืนยันนัด — ไม่ใช่ Admin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FC Iconic"/>
              </a:defRPr>
            </a:pPr>
            <a:r>
              <a:t>หมวด: B4. Appointment Pool และคิว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latin typeface="FC Iconic"/>
              </a:defRPr>
            </a:pPr>
            <a:r>
              <a:t>GATE0: นัด in_pool → Admin assign แพทย์ → แพทย์ confirm → คิว Health Meeting</a:t>
            </a:r>
          </a:p>
          <a:p>
            <a:pPr>
              <a:defRPr sz="1800" b="0">
                <a:latin typeface="FC Iconic"/>
              </a:defRPr>
            </a:pPr>
            <a:r>
              <a:t>1. ผู้ป่วยจองเข้า Pool (หรือระบุแพทย์ตั้งแต่แรก)</a:t>
            </a:r>
          </a:p>
          <a:p>
            <a:pPr>
              <a:defRPr sz="1800" b="0">
                <a:latin typeface="FC Iconic"/>
              </a:defRPr>
            </a:pPr>
            <a:r>
              <a:t>2. Admin เปิด Appointment Pool Management → เลือกนัด → Assign แพทย์</a:t>
            </a:r>
          </a:p>
          <a:p>
            <a:pPr>
              <a:defRPr sz="1800" b="0">
                <a:latin typeface="FC Iconic"/>
              </a:defRPr>
            </a:pPr>
            <a:r>
              <a:t>3. แพทย์ได้แจ้งเตือน realtime → เปิดคิว → Confirm</a:t>
            </a:r>
          </a:p>
          <a:p>
            <a:pPr>
              <a:defRPr sz="1800" b="0">
                <a:latin typeface="FC Iconic"/>
              </a:defRPr>
            </a:pPr>
            <a:r>
              <a:t>4. สถานะ `confirmed` — แสดงใน Health Meeting</a:t>
            </a:r>
          </a:p>
          <a:p>
            <a:pPr>
              <a:defRPr sz="1800" b="0">
                <a:latin typeface="FC Iconic"/>
              </a:defRPr>
            </a:pPr>
            <a:r>
              <a:t>5. เริ่มวิดีโอคอลจากนัดที่ยืนยัน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44. คิวองค์กร (E)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B4. Appointment Pool และคิว | แพทย์/ผู้ดูแล | วัตถุประสงค์: มุมมองรวม</a:t>
            </a:r>
          </a:p>
        </p:txBody>
      </p:sp>
      <p:pic>
        <p:nvPicPr>
          <p:cNvPr id="4" name="Picture 3" descr="E23-admin-que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Admin queue E23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ทุกแพทย์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ทุกแพทย์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ทุกแพทย์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ทุกแพทย์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มุมมองรวม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Processes/Pages/Doctor-Portal/20_Appointment_Pool_Management.md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docs/screenshots/group-E/E23-admin-queue.png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ตัวเลขคิวต้องซิงค์ระหว่าง Admin และ Doctor (Socket.IO)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45. ตาราง Admin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B4. Appointment Pool และคิว | แพทย์/ผู้ดูแล | วัตถุประสงค์: วางแผน</a:t>
            </a:r>
          </a:p>
        </p:txBody>
      </p:sp>
      <p:pic>
        <p:nvPicPr>
          <p:cNvPr id="4" name="Picture 3" descr="I08-admin-sche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Schedule 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ตารางรวม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ตารางรวม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ตารางรวม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ตารางรวม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วางแผน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Processes/Pages/Doctor-Portal/20_Appointment_Pool_Management.md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docs/screenshots/group-I/I08-admin-schedule.png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ตัวเลขคิวต้องซิงค์ระหว่าง Admin และ Doctor (Socket.IO)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46. Pool Admin (I)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B4. Appointment Pool และคิว | แพทย์/ผู้ดูแล | วัตถุประสงค์: จัดสรร</a:t>
            </a:r>
          </a:p>
        </p:txBody>
      </p:sp>
      <p:pic>
        <p:nvPicPr>
          <p:cNvPr id="4" name="Picture 3" descr="I09-admin-po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I09 pool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นัดรอ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นัดรอ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นัดรอ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นัดรอ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จัดสรร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Processes/Pages/Doctor-Portal/20_Appointment_Pool_Management.md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docs/screenshots/group-I/I09-admin-pool.png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ตัวเลขคิวต้องซิงค์ระหว่าง Admin และ Doctor (Socket.IO)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FC Iconic"/>
              </a:defRPr>
            </a:pPr>
            <a:r>
              <a:t>หมวด: B5. เนื้อหาและทรัพยากร (Admin)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latin typeface="FC Iconic"/>
              </a:defRPr>
            </a:pPr>
            <a:r>
              <a:t>หมวด «B5. เนื้อหาและทรัพยากร (Admin)» สำหรับแพทย์หรือผู้ดูแล ตามสิทธิ์ JWT</a:t>
            </a:r>
          </a:p>
          <a:p>
            <a:pPr>
              <a:defRPr sz="1800" b="0">
                <a:latin typeface="FC Iconic"/>
              </a:defRPr>
            </a:pPr>
            <a:r>
              <a:t>1. ล็อกอินด้วยบทบาทที่ถูกต้อง (Doctor / Admin)</a:t>
            </a:r>
          </a:p>
          <a:p>
            <a:pPr>
              <a:defRPr sz="1800" b="0">
                <a:latin typeface="FC Iconic"/>
              </a:defRPr>
            </a:pPr>
            <a:r>
              <a:t>2. เปิดเมนูตามหมวดและตรวจ KPI/คิว</a:t>
            </a:r>
          </a:p>
          <a:p>
            <a:pPr>
              <a:defRPr sz="1800" b="0">
                <a:latin typeface="FC Iconic"/>
              </a:defRPr>
            </a:pPr>
            <a:r>
              <a:t>3. ดำเนินการคลินิกหรือการจัดการตามภาพ</a:t>
            </a:r>
          </a:p>
          <a:p>
            <a:pPr>
              <a:defRPr sz="1800" b="0">
                <a:latin typeface="FC Iconic"/>
              </a:defRPr>
            </a:pPr>
            <a:r>
              <a:t>4. ตรวจสอบ realtime sync และสถานะนัด</a:t>
            </a:r>
          </a:p>
          <a:p>
            <a:pPr>
              <a:defRPr sz="1800" b="0">
                <a:latin typeface="FC Iconic"/>
              </a:defRPr>
            </a:pPr>
            <a:r>
              <a:t>5. ยืนยันผลลัพธ์กับ Processes/Pages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47. เนื้อหา Admin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B5. เนื้อหาและทรัพยากร (Admin) | แพทย์/ผู้ดูแล | วัตถุประสงค์: เผยแพร่</a:t>
            </a:r>
          </a:p>
        </p:txBody>
      </p:sp>
      <p:pic>
        <p:nvPicPr>
          <p:cNvPr id="4" name="Picture 3" descr="H13-admin-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7716266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อนุมัติบทความ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รายการรอ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รายการรอ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รายการรอ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รายการรอ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เผยแพร่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docs/screenshots/group-H/H13-admin-content.png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Admin เท่านั้นที่จัดสรร Pool ให้แพทย์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แพทย์ยืนยันนัด — ไม่ใช่ Admin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48. ทรัพยากร Admin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B5. เนื้อหาและทรัพยากร (Admin) | แพทย์/ผู้ดูแล | วัตถุประสงค์: มาตรฐาน</a:t>
            </a:r>
          </a:p>
        </p:txBody>
      </p:sp>
      <p:pic>
        <p:nvPicPr>
          <p:cNvPr id="4" name="Picture 3" descr="H14-admin-resour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423164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จัดการไฟล์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ทรัพยากรองค์กร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ทรัพยากรองค์กร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ทรัพยากรองค์กร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ทรัพยากรองค์กร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มาตรฐาน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docs/screenshots/group-H/H14-admin-resources.png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Admin เท่านั้นที่จัดสรร Pool ให้แพทย์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แพทย์ยืนยันนัด — ไม่ใช่ Admin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FC Iconic"/>
              </a:defRPr>
            </a:pPr>
            <a:r>
              <a:t>หมวด: B6. เวิร์กโฟลว์ครบวงจร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latin typeface="FC Iconic"/>
              </a:defRPr>
            </a:pPr>
            <a:r>
              <a:t>WF ครบวงจรฝั่งแพทย์/แอดมิน</a:t>
            </a:r>
          </a:p>
          <a:p>
            <a:pPr>
              <a:defRPr sz="1800" b="0">
                <a:latin typeface="FC Iconic"/>
              </a:defRPr>
            </a:pPr>
            <a:r>
              <a:t>1. Pool assign → doctor confirm → meeting</a:t>
            </a:r>
          </a:p>
          <a:p>
            <a:pPr>
              <a:defRPr sz="1800" b="0">
                <a:latin typeface="FC Iconic"/>
              </a:defRPr>
            </a:pPr>
            <a:r>
              <a:t>2. Lobby admit → Jitsi → end → AI summary</a:t>
            </a:r>
          </a:p>
          <a:p>
            <a:pPr>
              <a:defRPr sz="1800" b="0">
                <a:latin typeface="FC Iconic"/>
              </a:defRPr>
            </a:pPr>
            <a:r>
              <a:t>3. Validate summary → EMR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49. จัดการ Pool —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B6. เวิร์กโฟลว์ครบวงจร | แพทย์/ผู้ดูแล | วัตถุประสงค์: lifecycle นัด</a:t>
            </a:r>
          </a:p>
        </p:txBody>
      </p:sp>
      <p:pic>
        <p:nvPicPr>
          <p:cNvPr id="4" name="Picture 3" descr="WF10-appointment-management-po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WF10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หน้าจัดการ Pool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หน้าจัดการ Pool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หน้าจัดการ Pool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หน้าจัดการ Pool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lifecycle นัด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Processes/FULL_WORKFLOW_CONTRACT.md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docs/screenshots/workflows/appointment-lifecycle/WF10-appointment-management-pool.png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ใช้ข้อมูลหลัง cleanup E2E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50. นัดยืนยัน —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B6. เวิร์กโฟลว์ครบวงจร | แพทย์/ผู้ดูแล | วัตถุประสงค์: พร้อมประชุม</a:t>
            </a:r>
          </a:p>
        </p:txBody>
      </p:sp>
      <p:pic>
        <p:nvPicPr>
          <p:cNvPr id="4" name="Picture 3" descr="WF11-appointment-confirm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WF11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confirmed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confirmed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confirmed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confirmed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พร้อมประชุม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Processes/FULL_WORKFLOW_CONTRACT.md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docs/screenshots/workflows/appointment-lifecycle/WF11-appointment-confirmed.png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ใช้ข้อมูลหลัง cleanup E2E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51. คิว Health Meeting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B6. เวิร์กโฟลว์ครบวงจร | แพทย์/ผู้ดูแล | วัตถุประสงค์: เริ่มวิดีโอ</a:t>
            </a:r>
          </a:p>
        </p:txBody>
      </p:sp>
      <p:pic>
        <p:nvPicPr>
          <p:cNvPr id="4" name="Picture 3" descr="WF12-health-meeting-que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WF12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คิวประชุม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คิวประชุม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คิวประชุม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คิวประชุม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เริ่มวิดีโอ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Processes/FULL_WORKFLOW_CONTRACT.md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docs/screenshots/workflows/appointment-lifecycle/WF12-health-meeting-queue.png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ใช้ข้อมูลหลัง cleanup E2E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52. แดชบอร์ดหลังล็อกอิน (WF)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B6. เวิร์กโฟลว์ครบวงจร | แพทย์/ผู้ดูแล | วัตถุประสงค์: เริ่มงาน</a:t>
            </a:r>
          </a:p>
        </p:txBody>
      </p:sp>
      <p:pic>
        <p:nvPicPr>
          <p:cNvPr id="4" name="Picture 3" descr="WF09-doctor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6660817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WF09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เข้าสู่ระบบสำเร็จ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เข้าสู่ระบบสำเร็จ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เข้าสู่ระบบสำเร็จ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เข้าสู่ระบบสำเร็จ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เริ่มงาน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Processes/FULL_WORKFLOW_CONTRACT.md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docs/screenshots/workflows/auth-login/WF09-doctor-dashboard.png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ใช้ข้อมูลหลัง cleanup E2E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FC Iconic"/>
              </a:defRPr>
            </a:pPr>
            <a:r>
              <a:t>สรุปและ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latin typeface="FC Iconic"/>
              </a:defRPr>
            </a:pPr>
            <a:r>
              <a:t>ครบ 52 ขั้นตอนพร้อมภาพ UI tests</a:t>
            </a:r>
          </a:p>
          <a:p>
            <a:pPr>
              <a:defRPr sz="1800" b="0">
                <a:latin typeface="FC Iconic"/>
              </a:defRPr>
            </a:pPr>
            <a:r>
              <a:t>TH Sarabun New 16 pt (Word) / FC Iconic (สไลด์)</a:t>
            </a:r>
          </a:p>
          <a:p>
            <a:pPr>
              <a:defRPr sz="1800" b="0">
                <a:latin typeface="FC Iconic"/>
              </a:defRPr>
            </a:pPr>
            <a:r>
              <a:t>อ้างอิง Processes/Pages และ GATE0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