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นำเสนอคู่มือ คู่มือผู้ป่วย Isara Anywhere เวอร์ชัน 1.7.33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บัญชี Google ต้องตรงกับอีเมลที่ลงทะเบียนแล้ว ผู้ใช้ใหม่ต้องสมัครก่อนใช้ SSO ออกจากระบบเมื่อใช้เครื่องสาธารณะ อ้างอิง Processes/Pages/Patient-Portal/01_Login_Page.md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1: หน้าเข้าสู่ระบบผู้ป่วย | กลุ่ม 1. การเข้าสู่ระบบ</a:t>
            </a:r>
          </a:p>
          <a:p>
            <a:pPr>
              <a:defRPr sz="1600" b="0">
                <a:latin typeface="FC Iconic"/>
              </a:defRPr>
            </a:pPr>
            <a:r>
              <a:t>เริ่มต้นที่หน้าเข้าสู่ระบบ ผู้ป่วยกรอกข้อมูลหรือใช้ Google ตามที่ลงทะเบียนไว้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เปิด URL พอร์ทัลผู้ป่วยในเบราว์เซอร์ Chrome หรือ Edge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แสดงฟอร์มอีเมล/รหัสผ่าน ลิงก์สมัครสมาชิก และปุ่ม Google Sign-In</a:t>
            </a:r>
          </a:p>
          <a:p>
            <a:pPr>
              <a:defRPr sz="1600" b="0">
                <a:latin typeface="FC Iconic"/>
              </a:defRPr>
            </a:pPr>
            <a:r>
              <a:t>  3. กรอกอีเมลและรหัสผ่าน หรือเลือกลงชื่อเข้าใช้ด้วย Google</a:t>
            </a:r>
          </a:p>
          <a:p>
            <a:pPr>
              <a:defRPr sz="1600" b="0">
                <a:latin typeface="FC Iconic"/>
              </a:defRPr>
            </a:pPr>
            <a:r>
              <a:t>  4. ตรวจหน้าจอขั้นที่ 2: แสดงฟอร์มอีเมล/รหัสผ่าน ลิงก์สมัครสมาชิก และปุ่ม Google Sign-In</a:t>
            </a:r>
          </a:p>
          <a:p>
            <a:pPr>
              <a:defRPr sz="1600" b="0">
                <a:latin typeface="FC Iconic"/>
              </a:defRPr>
            </a:pPr>
            <a:r>
              <a:t>  5. กดปุ่ม «เข้าสู่ระบบ»</a:t>
            </a:r>
          </a:p>
          <a:p>
            <a:pPr>
              <a:defRPr sz="1600" b="0">
                <a:latin typeface="FC Iconic"/>
              </a:defRPr>
            </a:pPr>
            <a:r>
              <a:t>  6. ตรวจหน้าจอขั้นที่ 3: แสดงฟอร์มอีเมล/รหัสผ่าน ลิงก์สมัครสมาชิก และปุ่ม Google Sign-In</a:t>
            </a:r>
          </a:p>
          <a:p>
            <a:pPr>
              <a:defRPr sz="1600" b="0">
                <a:latin typeface="FC Iconic"/>
              </a:defRPr>
            </a:pPr>
            <a:r>
              <a:t>  7.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8.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แสดงฟอร์มอีเมล/รหัสผ่าน ลิงก์สมัครสมาชิก และปุ่ม Google Sign-In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Processes/Pages/Patient-Portal/01_Login_Page.md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2: ลงชื่อเข้าใช้ด้วย Google (ผู้ป่วย) | กลุ่ม 1. การเข้าสู่ระบบ</a:t>
            </a:r>
          </a:p>
          <a:p>
            <a:pPr>
              <a:defRPr sz="1600" b="0">
                <a:latin typeface="FC Iconic"/>
              </a:defRPr>
            </a:pPr>
            <a:r>
              <a:t>SSO ช่วยลดขั้นตอนล็อกอิน แต่ต้องสมัครด้วยอีเมลเดียวกันก่อน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รอให้ปุ่ม Google โหลดเสร็จ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ปุ่ม Google แสดงใต้ฟอร์มอีเมล/รหัสผ่าน</a:t>
            </a:r>
          </a:p>
          <a:p>
            <a:pPr>
              <a:defRPr sz="1600" b="0">
                <a:latin typeface="FC Iconic"/>
              </a:defRPr>
            </a:pPr>
            <a:r>
              <a:t>  3. กด «ลงชื่อเข้าใช้ด้วย Google» และเลือกบัญชี</a:t>
            </a:r>
          </a:p>
          <a:p>
            <a:pPr>
              <a:defRPr sz="1600" b="0">
                <a:latin typeface="FC Iconic"/>
              </a:defRPr>
            </a:pPr>
            <a:r>
              <a:t>  4. ตรวจหน้าจอขั้นที่ 2: ปุ่ม Google แสดงใต้ฟอร์มอีเมล/รหัสผ่าน</a:t>
            </a:r>
          </a:p>
          <a:p>
            <a:pPr>
              <a:defRPr sz="1600" b="0">
                <a:latin typeface="FC Iconic"/>
              </a:defRPr>
            </a:pPr>
            <a:r>
              <a:t>  5. อนุญาตการเข้าถึงชื่อและอีเมล</a:t>
            </a:r>
          </a:p>
          <a:p>
            <a:pPr>
              <a:defRPr sz="1600" b="0">
                <a:latin typeface="FC Iconic"/>
              </a:defRPr>
            </a:pPr>
            <a:r>
              <a:t>  6. ตรวจหน้าจอขั้นที่ 3: ปุ่ม Google แสดงใต้ฟอร์มอีเมล/รหัสผ่าน</a:t>
            </a:r>
          </a:p>
          <a:p>
            <a:pPr>
              <a:defRPr sz="1600" b="0">
                <a:latin typeface="FC Iconic"/>
              </a:defRPr>
            </a:pPr>
            <a:r>
              <a:t>  7.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8.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ปุ่ม Google แสดงใต้ฟอร์มอีเมล/รหัสผ่าน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Processes/Pages/Patient-Portal/01_Login_Page.md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3: กรณี Google ยังไม่มีบัญชี — ไปหน้าสมัคร | กลุ่ม 1. การเข้าสู่ระบบ</a:t>
            </a:r>
          </a:p>
          <a:p>
            <a:pPr>
              <a:defRPr sz="1600" b="0">
                <a:latin typeface="FC Iconic"/>
              </a:defRPr>
            </a:pPr>
            <a:r>
              <a:t>ป้องกันบัญชีคนแปลกปลอม — ต้องลงทะเบียนก่อนใช้ Google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ลองล็อกอินด้วย Google ที่ยังไม่เคยสมัคร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ระบบนำทางไปหน้าสมัครพร้อมข้อความแจ้ง</a:t>
            </a:r>
          </a:p>
          <a:p>
            <a:pPr>
              <a:defRPr sz="1600" b="0">
                <a:latin typeface="FC Iconic"/>
              </a:defRPr>
            </a:pPr>
            <a:r>
              <a:t>  3. อ่านข้อความแจ้งบนหน้าจอ</a:t>
            </a:r>
          </a:p>
          <a:p>
            <a:pPr>
              <a:defRPr sz="1600" b="0">
                <a:latin typeface="FC Iconic"/>
              </a:defRPr>
            </a:pPr>
            <a:r>
              <a:t>  4. ตรวจหน้าจอขั้นที่ 2: ระบบนำทางไปหน้าสมัครพร้อมข้อความแจ้ง</a:t>
            </a:r>
          </a:p>
          <a:p>
            <a:pPr>
              <a:defRPr sz="1600" b="0">
                <a:latin typeface="FC Iconic"/>
              </a:defRPr>
            </a:pPr>
            <a:r>
              <a:t>  5. กรอกแบบฟอร์มสมัครสมาชิกให้ครบ</a:t>
            </a:r>
          </a:p>
          <a:p>
            <a:pPr>
              <a:defRPr sz="1600" b="0">
                <a:latin typeface="FC Iconic"/>
              </a:defRPr>
            </a:pPr>
            <a:r>
              <a:t>  6. ตรวจหน้าจอขั้นที่ 3: ระบบนำทางไปหน้าสมัครพร้อมข้อความแจ้ง</a:t>
            </a:r>
          </a:p>
          <a:p>
            <a:pPr>
              <a:defRPr sz="1600" b="0">
                <a:latin typeface="FC Iconic"/>
              </a:defRPr>
            </a:pPr>
            <a:r>
              <a:t>  7.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8.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ระบบนำทางไปหน้าสมัครพร้อมข้อความแจ้ง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Processes/Pages/Patient-Portal/01_Login_Page.md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อาการส่งถึงแพทย์และ Pool — ห้ามกรอกข้อมูลละเอียดอ่อนเกินจำเป็น อ้างอิง Processes/Appointment_Workflows.md — Patient booking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4: นัดหมายข้อมูลจริงจากระบบ | กลุ่ม 4. จองและติดตามนัดหมาย</a:t>
            </a:r>
          </a:p>
          <a:p>
            <a:pPr>
              <a:defRPr sz="1600" b="0">
                <a:latin typeface="FC Iconic"/>
              </a:defRPr>
            </a:pPr>
            <a:r>
              <a:t>ไม่ใช่ข้อมูลจำลอง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รีเฟรชหน้านัดหมาย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ข้อมูลจาก PostgreSQL จริง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ข้อมูลจาก PostgreSQL จริง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Processes/Appointment_Workflows.md — Patient booking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5: รายละเอียดรายการนัด | กลุ่ม 4. จองและติดตามนัดหมาย</a:t>
            </a:r>
          </a:p>
          <a:p>
            <a:pPr>
              <a:defRPr sz="1600" b="0">
                <a:latin typeface="FC Iconic"/>
              </a:defRPr>
            </a:pPr>
            <a:r>
              <a:t>ใช้เมื่อนัด confirmed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คลิกนัดที่ต้องการ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รายละเอียดและปุ่มเข้าร่วม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รายละเอียดและปุ่มเข้าร่วม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Processes/Appointment_Workflows.md — Patient booking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อย่าแชร์ลิงก์ห้องประชุมสาธารณะ Guest ต้องผ่านการอนุมัติจากแพทย์และรอแพทย์เริ่มห้อง (host-ready) ลิงก์เชิญมาจาก meeting server เท่านั้น (ไม่ใช่ URL แพทย์) อ้างอิง Processes/VIDEO_MEETING_JITSI_GEMINI.md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6: ปุ่มเข้าร่วมวิดีโอคอล | กลุ่ม 5. วิดีโอคอลและ Lobby</a:t>
            </a:r>
          </a:p>
          <a:p>
            <a:pPr>
              <a:defRPr sz="1600" b="0">
                <a:latin typeface="FC Iconic"/>
              </a:defRPr>
            </a:pPr>
            <a:r>
              <a:t>ต้องอนุญาตกล้อง/ไมค์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เปิดนัดที่ยืนยันแล้ว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ปุ่ม Join สีเขียว</a:t>
            </a:r>
          </a:p>
          <a:p>
            <a:pPr>
              <a:defRPr sz="1600" b="0">
                <a:latin typeface="FC Iconic"/>
              </a:defRPr>
            </a:pPr>
            <a:r>
              <a:t>  3. กดเข้าร่วมประชุม</a:t>
            </a:r>
          </a:p>
          <a:p>
            <a:pPr>
              <a:defRPr sz="1600" b="0">
                <a:latin typeface="FC Iconic"/>
              </a:defRPr>
            </a:pPr>
            <a:r>
              <a:t>  4. ตรวจหน้าจอขั้นที่ 2: ปุ่ม Join สีเขียว</a:t>
            </a:r>
          </a:p>
          <a:p>
            <a:pPr>
              <a:defRPr sz="1600" b="0">
                <a:latin typeface="FC Iconic"/>
              </a:defRPr>
            </a:pPr>
            <a:r>
              <a:t>  5.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6.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ปุ่ม Join สีเขียว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Processes/VIDEO_MEETING_JITSI_GEMINI.md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7: รอแพทย์ในห้อง Lobby | กลุ่ม 5. วิดีโอคอลและ Lobby</a:t>
            </a:r>
          </a:p>
          <a:p>
            <a:pPr>
              <a:defRPr sz="1600" b="0">
                <a:latin typeface="FC Iconic"/>
              </a:defRPr>
            </a:pPr>
            <a:r>
              <a:t>ความปลอดภัยแบบ Teams Lobby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เข้าห้องก่อนแพทย์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สถานะ waiting to be admitted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สถานะ waiting to be admitted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Processes/VIDEO_MEETING_JITSI_GEMINI.md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8: ห้อง Lobby ผู้ป่วย | กลุ่ม 5. วิดีโอคอลและ Lobby</a:t>
            </a:r>
          </a:p>
          <a:p>
            <a:pPr>
              <a:defRPr sz="1600" b="0">
                <a:latin typeface="FC Iconic"/>
              </a:defRPr>
            </a:pPr>
            <a:r>
              <a:t>แพทย์ควบคุมการเข้าห้อง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รอจนแพทย์กด Admit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หน้าจอรออนุมัติ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หน้าจอรออนุมัติ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Processes/VIDEO_MEETING_JITSI_GEMINI.md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9: ห้องประชุม Jitsi (ผู้ป่วย) | กลุ่ม 5. วิดีโอคอลและ Lobby</a:t>
            </a:r>
          </a:p>
          <a:p>
            <a:pPr>
              <a:defRPr sz="1600" b="0">
                <a:latin typeface="FC Iconic"/>
              </a:defRPr>
            </a:pPr>
            <a:r>
              <a:t>ปรึกษาแพทย์แบบเรียลไทม์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หลังได้รับอนุมัติจาก Lobby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วิดีโอ แชท แชร์หน้าจอ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วิดีโอ แชท แชร์หน้าจอ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Processes/VIDEO_MEETING_JITSI_GEMINI.md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10: ข้อตกลงก่อนเข้าห้อง (ผู้ป่วย) | กลุ่ม 5. วิดีโอคอลและ Lobby</a:t>
            </a:r>
          </a:p>
          <a:p>
            <a:pPr>
              <a:defRPr sz="1600" b="0">
                <a:latin typeface="FC Iconic"/>
              </a:defRPr>
            </a:pPr>
            <a:r>
              <a:t>ตามมาตรฐาน telemedicine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อ่านข้อตกลง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หน้าตกลงการใช้บริการ</a:t>
            </a:r>
          </a:p>
          <a:p>
            <a:pPr>
              <a:defRPr sz="1600" b="0">
                <a:latin typeface="FC Iconic"/>
              </a:defRPr>
            </a:pPr>
            <a:r>
              <a:t>  3. กดยอมรับ</a:t>
            </a:r>
          </a:p>
          <a:p>
            <a:pPr>
              <a:defRPr sz="1600" b="0">
                <a:latin typeface="FC Iconic"/>
              </a:defRPr>
            </a:pPr>
            <a:r>
              <a:t>  4. ตรวจหน้าจอขั้นที่ 2: หน้าตกลงการใช้บริการ</a:t>
            </a:r>
          </a:p>
          <a:p>
            <a:pPr>
              <a:defRPr sz="1600" b="0">
                <a:latin typeface="FC Iconic"/>
              </a:defRPr>
            </a:pPr>
            <a:r>
              <a:t>  5.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6.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หน้าตกลงการใช้บริการ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Processes/VIDEO_MEETING_JITSI_GEMINI.md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11: หน้าก่อนเข้าห้อง — ลิงก์เชิญ | กลุ่ม 5. วิดีโอคอลและ Lobby</a:t>
            </a:r>
          </a:p>
          <a:p>
            <a:pPr>
              <a:defRPr sz="1600" b="0">
                <a:latin typeface="FC Iconic"/>
              </a:defRPr>
            </a:pPr>
            <a:r>
              <a:t>รองรับ guest invite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ตรวจชื่อแสดงและอุปกรณ์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พรี-จอยน์พร้อมลิงก์</a:t>
            </a:r>
          </a:p>
          <a:p>
            <a:pPr>
              <a:defRPr sz="1600" b="0">
                <a:latin typeface="FC Iconic"/>
              </a:defRPr>
            </a:pPr>
            <a:r>
              <a:t>  3. กดเข้าร่วม</a:t>
            </a:r>
          </a:p>
          <a:p>
            <a:pPr>
              <a:defRPr sz="1600" b="0">
                <a:latin typeface="FC Iconic"/>
              </a:defRPr>
            </a:pPr>
            <a:r>
              <a:t>  4. ตรวจหน้าจอขั้นที่ 2: พรี-จอยน์พร้อมลิงก์</a:t>
            </a:r>
          </a:p>
          <a:p>
            <a:pPr>
              <a:defRPr sz="1600" b="0">
                <a:latin typeface="FC Iconic"/>
              </a:defRPr>
            </a:pPr>
            <a:r>
              <a:t>  5.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6.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พรี-จอยน์พร้อมลิงก์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Processes/VIDEO_MEETING_JITSI_GEMINI.md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12: สรุปหลังจบการประชุม + AI | กลุ่ม 5. วิดีโอคอลและ Lobby</a:t>
            </a:r>
          </a:p>
          <a:p>
            <a:pPr>
              <a:defRPr sz="1600" b="0">
                <a:latin typeface="FC Iconic"/>
              </a:defRPr>
            </a:pPr>
            <a:r>
              <a:t>ช่วยผู้ป่วยทบทวนคำแนะนำ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จบการประชุม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สรุป AI และบันทึก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สรุป AI และบันทึก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Processes/VIDEO_MEETING_JITSI_GEMINI.md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13: ผู้เชิญรอในห้อง (มุมผู้ป่วย) | กลุ่ม 5. วิดีโอคอลและ Lobby</a:t>
            </a:r>
          </a:p>
          <a:p>
            <a:pPr>
              <a:defRPr sz="1600" b="0">
                <a:latin typeface="FC Iconic"/>
              </a:defRPr>
            </a:pPr>
            <a:r>
              <a:t>ญาติเข้าร่วมได้เมื่อแพทย์อนุมัติ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มี guest ใน lobby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รายชื่อผู้รอ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รายชื่อผู้รอ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Processes/VIDEO_MEETING_JITSI_GEMINI.md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ข้อมูลสุขภาพเป็นความลับ — อย่าแชร์รหัสผ่าน AI ให้คำแนะนำเบื้องต้น ไม่ใช่การวินิจฉัย อ้างอิง Processes/Pages/Patient-Portal/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14: หน้า PHR ภาพรวม | กลุ่ม 6. ประวัติสุขภาพ (PHR)</a:t>
            </a:r>
          </a:p>
          <a:p>
            <a:pPr>
              <a:defRPr sz="1600" b="0">
                <a:latin typeface="FC Iconic"/>
              </a:defRPr>
            </a:pPr>
            <a:r>
              <a:t>ศูนย์กลางข้อมูลสุขภาพส่วนตัว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เปิดเมนู PHR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แท็บและสรุปข้อมูล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แท็บและสรุปข้อมูล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15: สำรวจทุกแท็บ PHR | กลุ่ม 6. ประวัติสุขภาพ (PHR)</a:t>
            </a:r>
          </a:p>
          <a:p>
            <a:pPr>
              <a:defRPr sz="1600" b="0">
                <a:latin typeface="FC Iconic"/>
              </a:defRPr>
            </a:pPr>
            <a:r>
              <a:t>ข้อมูลครบในที่เดียว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คลิกแต่ละแท็บ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สัญญาณชีพ ยา แพ้ แล็บ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สัญญาณชีพ ยา แพ้ แล็บ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16: แท็บสัญญาณชีพ | กลุ่ม 6. ประวัติสุขภาพ (PHR)</a:t>
            </a:r>
          </a:p>
          <a:p>
            <a:pPr>
              <a:defRPr sz="1600" b="0">
                <a:latin typeface="FC Iconic"/>
              </a:defRPr>
            </a:pPr>
            <a:r>
              <a:t>ติดตามความดัน ชีพจร ฯลฯ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เลือกแท็บสัญญาณชีพ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ตารางค่าสุขภาพ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ตารางค่าสุขภาพ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17: เปิดฟอร์มบันทึกสัญญาณชีพ | กลุ่ม 6. ประวัติสุขภาพ (PHR)</a:t>
            </a:r>
          </a:p>
          <a:p>
            <a:pPr>
              <a:defRPr sz="1600" b="0">
                <a:latin typeface="FC Iconic"/>
              </a:defRPr>
            </a:pPr>
            <a:r>
              <a:t>บันทึกด้วยตนเอง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กดเพิ่ม/บันทึกค่าใหม่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ฟอร์มกรอกค่า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ฟอร์มกรอกค่า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18: กรอกค่าสัญญาณชีพ | กลุ่ม 6. ประวัติสุขภาพ (PHR)</a:t>
            </a:r>
          </a:p>
          <a:p>
            <a:pPr>
              <a:defRPr sz="1600" b="0">
                <a:latin typeface="FC Iconic"/>
              </a:defRPr>
            </a:pPr>
            <a:r>
              <a:t>ตรวจสอบความถูกต้อง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กรอกตัวเลขครบ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ฟอร์มก่อนบันทึก</a:t>
            </a:r>
          </a:p>
          <a:p>
            <a:pPr>
              <a:defRPr sz="1600" b="0">
                <a:latin typeface="FC Iconic"/>
              </a:defRPr>
            </a:pPr>
            <a:r>
              <a:t>  3. กดบันทึก</a:t>
            </a:r>
          </a:p>
          <a:p>
            <a:pPr>
              <a:defRPr sz="1600" b="0">
                <a:latin typeface="FC Iconic"/>
              </a:defRPr>
            </a:pPr>
            <a:r>
              <a:t>  4. ตรวจหน้าจอขั้นที่ 2: ฟอร์มก่อนบันทึก</a:t>
            </a:r>
          </a:p>
          <a:p>
            <a:pPr>
              <a:defRPr sz="1600" b="0">
                <a:latin typeface="FC Iconic"/>
              </a:defRPr>
            </a:pPr>
            <a:r>
              <a:t>  5.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6.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ฟอร์มก่อนบันทึก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19: บันทึกสัญญาณชีพสำเร็จ | กลุ่ม 6. ประวัติสุขภาพ (PHR)</a:t>
            </a:r>
          </a:p>
          <a:p>
            <a:pPr>
              <a:defRPr sz="1600" b="0">
                <a:latin typeface="FC Iconic"/>
              </a:defRPr>
            </a:pPr>
            <a:r>
              <a:t>แพทย์เห็นเมื่อเปิดเวชระเบียน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ยืนยันการบันทึก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ค่าใหม่ในรายการ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ค่าใหม่ในรายการ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20: แท็บยา | กลุ่ม 6. ประวัติสุขภาพ (PHR)</a:t>
            </a:r>
          </a:p>
          <a:p>
            <a:pPr>
              <a:defRPr sz="1600" b="0">
                <a:latin typeface="FC Iconic"/>
              </a:defRPr>
            </a:pPr>
            <a:r>
              <a:t>แจ้งแพทย์ก่อนจ่ายยาใหม่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เปิดแท็บยา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รายการยาประจำ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รายการยาประจำ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21: แท็บแพ้ยา/สาร | กลุ่ม 6. ประวัติสุขภาพ (PHR)</a:t>
            </a:r>
          </a:p>
          <a:p>
            <a:pPr>
              <a:defRPr sz="1600" b="0">
                <a:latin typeface="FC Iconic"/>
              </a:defRPr>
            </a:pPr>
            <a:r>
              <a:t>สำคัญต่อความปลอดภัย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เปิดแท็บแพ้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รายการสิ่งที่แพ้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รายการสิ่งที่แพ้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22: แท็บผลแล็บ | กลุ่ม 6. ประวัติสุขภาพ (PHR)</a:t>
            </a:r>
          </a:p>
          <a:p>
            <a:pPr>
              <a:defRPr sz="1600" b="0">
                <a:latin typeface="FC Iconic"/>
              </a:defRPr>
            </a:pPr>
            <a:r>
              <a:t>อ้างอิงก่อนพบแพทย์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เปิดแท็บผลแล็บ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ผลตรวจย้อนหลัง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ผลตรวจย้อนหลัง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23: ภาพรวม PHR พร้อมข้อมูล | กลุ่ม 6. ประวัติสุขภาพ (PHR)</a:t>
            </a:r>
          </a:p>
          <a:p>
            <a:pPr>
              <a:defRPr sz="1600" b="0">
                <a:latin typeface="FC Iconic"/>
              </a:defRPr>
            </a:pPr>
            <a:r>
              <a:t>ข้อมูล sync กับแพทย์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กลับแท็บภาพรวม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สรุปรวมทุกหมวด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สรุปรวมทุกหมวด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ข้อมูลสุขภาพเป็นความลับ — อย่าแชร์รหัสผ่าน AI ให้คำแนะนำเบื้องต้น ไม่ใช่การวินิจฉัย อ้างอิง Processes/Pages/Patient-Portal/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24: นัดหมายจากมุม PDPA flow | กลุ่ม 7. PDPA และหนังสือแสดงเจตนา</a:t>
            </a:r>
          </a:p>
          <a:p>
            <a:pPr>
              <a:defRPr sz="1600" b="0">
                <a:latin typeface="FC Iconic"/>
              </a:defRPr>
            </a:pPr>
            <a:r>
              <a:t>workflow ต่อเนื่อง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กลับตรวจนัด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เชื่อมโยงกับเมนูนัด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เชื่อมโยงกับเมนูนัด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ข้อมูลสุขภาพเป็นความลับ — อย่าแชร์รหัสผ่าน AI ให้คำแนะนำเบื้องต้น ไม่ใช่การวินิจฉัย อ้างอิง Processes/Pages/Patient-Portal/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25: AI Doctor — หน้าแรก | กลุ่ม 8. AI, Timeline, แผนที่, ค้นหาแพทย์</a:t>
            </a:r>
          </a:p>
          <a:p>
            <a:pPr>
              <a:defRPr sz="1600" b="0">
                <a:latin typeface="FC Iconic"/>
              </a:defRPr>
            </a:pPr>
            <a:r>
              <a:t>ไม่ใช่การวินิจฉัย — คำแนะนำเบื้องต้น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เปิดปรึกษา AI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ช่องแชท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ช่องแชท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26: กรอกอาการใน AI | กลุ่ม 8. AI, Timeline, แผนที่, ค้นหาแพทย์</a:t>
            </a:r>
          </a:p>
          <a:p>
            <a:pPr>
              <a:defRPr sz="1600" b="0">
                <a:latin typeface="FC Iconic"/>
              </a:defRPr>
            </a:pPr>
            <a:r>
              <a:t>Gemini วิเคราะห์อาการ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พิมพ์อาการ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ข้อความในช่อง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ข้อความในช่อง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27: คำตอบจาก AI | กลุ่ม 8. AI, Timeline, แผนที่, ค้นหาแพทย์</a:t>
            </a:r>
          </a:p>
          <a:p>
            <a:pPr>
              <a:defRPr sz="1600" b="0">
                <a:latin typeface="FC Iconic"/>
              </a:defRPr>
            </a:pPr>
            <a:r>
              <a:t>ควรพบแพทย์หากรุนแรง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รอคำตอบ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คำแนะนำและคำเตือน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คำแนะนำและคำเตือน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28: ตรวจสอบคำตอบ AI | กลุ่ม 8. AI, Timeline, แผนที่, ค้นหาแพทย์</a:t>
            </a:r>
          </a:p>
          <a:p>
            <a:pPr>
              <a:defRPr sz="1600" b="0">
                <a:latin typeface="FC Iconic"/>
              </a:defRPr>
            </a:pPr>
            <a:r>
              <a:t>บันทึกหรือจองนัดต่อ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อ่านคำเตือน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ข้อความครบ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ข้อความครบ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29: เส้นทางสุขภาพ | กลุ่ม 8. AI, Timeline, แผนที่, ค้นหาแพทย์</a:t>
            </a:r>
          </a:p>
          <a:p>
            <a:pPr>
              <a:defRPr sz="1600" b="0">
                <a:latin typeface="FC Iconic"/>
              </a:defRPr>
            </a:pPr>
            <a:r>
              <a:t>นัด ยา แล็บ รวมกัน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เปิด Timeline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เหตุการณ์เรียงเวลา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เหตุการณ์เรียงเวลา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30: กรอง Timeline | กลุ่ม 8. AI, Timeline, แผนที่, ค้นหาแพทย์</a:t>
            </a:r>
          </a:p>
          <a:p>
            <a:pPr>
              <a:defRPr sz="1600" b="0">
                <a:latin typeface="FC Iconic"/>
              </a:defRPr>
            </a:pPr>
            <a:r>
              <a:t>ค้นหาเร็ว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เลือกประเภทกรอง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เฉพาะประเภทที่เลือก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เฉพาะประเภทที่เลือก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31: เลื่อนดู Timeline | กลุ่ม 8. AI, Timeline, แผนที่, ค้นหาแพทย์</a:t>
            </a:r>
          </a:p>
          <a:p>
            <a:pPr>
              <a:defRPr sz="1600" b="0">
                <a:latin typeface="FC Iconic"/>
              </a:defRPr>
            </a:pPr>
            <a:r>
              <a:t>ประวัติยาว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เลื่อนลง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เหตุการณ์เก่า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เหตุการณ์เก่า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32: แผนที่สถานพยาบาล | กลุ่ม 8. AI, Timeline, แผนที่, ค้นหาแพทย์</a:t>
            </a:r>
          </a:p>
          <a:p>
            <a:pPr>
              <a:defRPr sz="1600" b="0">
                <a:latin typeface="FC Iconic"/>
              </a:defRPr>
            </a:pPr>
            <a:r>
              <a:t>หาโรงพยาบาลใกล้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เปิดแผนที่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แผนที่และรายการ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แผนที่และรายการ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33: ค้นหาบนแผนที่ | กลุ่ม 8. AI, Timeline, แผนที่, ค้นหาแพทย์</a:t>
            </a:r>
          </a:p>
          <a:p>
            <a:pPr>
              <a:defRPr sz="1600" b="0">
                <a:latin typeface="FC Iconic"/>
              </a:defRPr>
            </a:pPr>
            <a:r>
              <a:t>เช่น โรงพยาบาล + เขต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พิมพ์คำค้น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ผลค้นหา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ผลค้นหา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34: ผลค้นหาแผนที่ | กลุ่ม 8. AI, Timeline, แผนที่, ค้นหาแพทย์</a:t>
            </a:r>
          </a:p>
          <a:p>
            <a:pPr>
              <a:defRPr sz="1600" b="0">
                <a:latin typeface="FC Iconic"/>
              </a:defRPr>
            </a:pPr>
            <a:r>
              <a:t>นำทางหรือโทร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เลือกสถานที่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หมุดบนแผนที่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หมุดบนแผนที่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35: ค้นหาแพทย์ — รายการ | กลุ่ม 8. AI, Timeline, แผนที่, ค้นหาแพทย์</a:t>
            </a:r>
          </a:p>
          <a:p>
            <a:pPr>
              <a:defRPr sz="1600" b="0">
                <a:latin typeface="FC Iconic"/>
              </a:defRPr>
            </a:pPr>
            <a:r>
              <a:t>ดูความเชี่ยวชาญ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เปิดค้นหาแพทย์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การ์ดแพทย์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การ์ดแพทย์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36: กรองความเชี่ยวชาญ | กลุ่ม 8. AI, Timeline, แผนที่, ค้นหาแพทย์</a:t>
            </a:r>
          </a:p>
          <a:p>
            <a:pPr>
              <a:defRPr sz="1600" b="0">
                <a:latin typeface="FC Iconic"/>
              </a:defRPr>
            </a:pPr>
            <a:r>
              <a:t>จำกัดผลลัพธ์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เลือกสาขา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รายการกรองแล้ว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รายการกรองแล้ว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37: รายละเอียดแพทย์ | กลุ่ม 8. AI, Timeline, แผนที่, ค้นหาแพทย์</a:t>
            </a:r>
          </a:p>
          <a:p>
            <a:pPr>
              <a:defRPr sz="1600" b="0">
                <a:latin typeface="FC Iconic"/>
              </a:defRPr>
            </a:pPr>
            <a:r>
              <a:t>ก่อนจองนัด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คลิกการ์ดแพทย์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โปรไฟล์แพทย์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โปรไฟล์แพทย์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ข้อมูลสุขภาพเป็นความลับ — อย่าแชร์รหัสผ่าน AI ให้คำแนะนำเบื้องต้น ไม่ใช่การวินิจฉัย อ้างอิง Processes/Pages/Patient-Portal/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38: คลังความรู้ — รายการ | กลุ่ม 9. คลังความรู้และการแจ้งเตือน</a:t>
            </a:r>
          </a:p>
          <a:p>
            <a:pPr>
              <a:defRPr sz="1600" b="0">
                <a:latin typeface="FC Iconic"/>
              </a:defRPr>
            </a:pPr>
            <a:r>
              <a:t>เนื้อหาอนุมัติแล้ว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เปิดคลังความรู้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บทความ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บทความ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39: อ่านบทความ | กลุ่ม 9. คลังความรู้และการแจ้งเตือน</a:t>
            </a:r>
          </a:p>
          <a:p>
            <a:pPr>
              <a:defRPr sz="1600" b="0">
                <a:latin typeface="FC Iconic"/>
              </a:defRPr>
            </a:pPr>
            <a:r>
              <a:t>อ่านก่อนพบแพทย์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คลิกบทความ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เนื้อหาเต็ม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เนื้อหาเต็ม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40: AI จาก Group H | กลุ่ม 9. คลังความรู้และการแจ้งเตือน</a:t>
            </a:r>
          </a:p>
          <a:p>
            <a:pPr>
              <a:defRPr sz="1600" b="0">
                <a:latin typeface="FC Iconic"/>
              </a:defRPr>
            </a:pPr>
            <a:r>
              <a:t>ยืนยัน cross-page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ทดสอบ AI อีกครั้ง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หน้า AI สมบูรณ์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หน้า AI สมบูรณ์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41: การแจ้งเตือนผู้ป่วย | กลุ่ม 9. คลังความรู้และการแจ้งเตือน</a:t>
            </a:r>
          </a:p>
          <a:p>
            <a:pPr>
              <a:defRPr sz="1600" b="0">
                <a:latin typeface="FC Iconic"/>
              </a:defRPr>
            </a:pPr>
            <a:r>
              <a:t>นัดใหม่ แพทย์รับเรื่อง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คลิกกระดิ่ง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รายการแจ้งเตือน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รายการแจ้งเตือน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ใช้บัญชีทดสอบที่ผ่าน cleanup แล้วเท่านั้น อ้างอิง Processes/FULL_WORKFLOW_CONTRACT.md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42: นัดหมายว่าง (เริ่มต้น) | กลุ่ม 10. เวิร์กโฟลว์ครบวงจร</a:t>
            </a:r>
          </a:p>
          <a:p>
            <a:pPr>
              <a:defRPr sz="1600" b="0">
                <a:latin typeface="FC Iconic"/>
              </a:defRPr>
            </a:pPr>
            <a:r>
              <a:t>จุดเริ่ม lifecycle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ผู้ใช้ใหม่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ยังไม่มีนัด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ยังไม่มีนัด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Processes/FULL_WORKFLOW_CONTRACT.md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43: จองนัด — workflow | กลุ่ม 10. เวิร์กโฟลว์ครบวงจร</a:t>
            </a:r>
          </a:p>
          <a:p>
            <a:pPr>
              <a:defRPr sz="1600" b="0">
                <a:latin typeface="FC Iconic"/>
              </a:defRPr>
            </a:pPr>
            <a:r>
              <a:t>ทดสอบ end-to-end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WF05 จองขั้น 1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ตัวช่วยจอง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ตัวช่วยจอง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Processes/FULL_WORKFLOW_CONTRACT.md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44: นัดยืนยันแล้ว | กลุ่ม 10. เวิร์กโฟลว์ครบวงจร</a:t>
            </a:r>
          </a:p>
          <a:p>
            <a:pPr>
              <a:defRPr sz="1600" b="0">
                <a:latin typeface="FC Iconic"/>
              </a:defRPr>
            </a:pPr>
            <a:r>
              <a:t>พร้อมวิดีโอคอล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หลังแพทย์/แอดมินยืนยัน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สถานะ confirmed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สถานะ confirmed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Processes/FULL_WORKFLOW_CONTRACT.md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ขอบคุณ — เปิด Q&amp;A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4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4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4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4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4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4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4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4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5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5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5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คู่มือผู้ป่วย Isara Anywhere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Isara Anywhere — Patient Portal</a:t>
            </a:r>
          </a:p>
          <a:p>
            <a:pPr>
              <a:defRPr sz="1800" b="0">
                <a:latin typeface="FC Iconic"/>
              </a:defRPr>
            </a:pPr>
            <a:r>
              <a:t>v1.7.33 | 24 พฤษภาคม 2569</a:t>
            </a:r>
          </a:p>
          <a:p>
            <a:pPr>
              <a:defRPr sz="1800" b="0">
                <a:latin typeface="FC Iconic"/>
              </a:defRPr>
            </a:pPr>
            <a:r>
              <a:t>แบบอักษร FC Iconic | มาตรฐานสไลด์ภาษาไทย</a:t>
            </a:r>
          </a:p>
          <a:p>
            <a:pPr>
              <a:defRPr sz="1800" b="0">
                <a:latin typeface="FC Iconic"/>
              </a:defRPr>
            </a:pPr>
            <a:r>
              <a:t>https://izara-patient-portal-dev-testing-724889190329.asia-southeast1.run.app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ภาพรวมระบบและมาตรฐานเอกสาร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1556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426720">
                <a:tc>
                  <a:txBody>
                    <a:bodyPr/>
                    <a:lstStyle/>
                    <a:p>
                      <a:pPr>
                        <a:defRPr sz="1800" b="1">
                          <a:latin typeface="FC Iconic"/>
                        </a:defRPr>
                      </a:pPr>
                      <a:r>
                        <a:t>รายการ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latin typeface="FC Iconic"/>
                        </a:defRPr>
                      </a:pPr>
                      <a:r>
                        <a:t>รายละเอียด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https://izara-patient-portal-dev-testing-724889190329.asia-southeast1.run.app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กลุ่มทดสอบ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A, B, D, E, F, G, H, I, J, SSO, Workflows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จำนวนสไลด์เนื้อหา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44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TH Sarabun New 16 pt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PowerPoint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FC Iconic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หมวด: 1. การเข้าสู่ระบบ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ให้ผู้ป่วยเข้าใช้ระบบอย่างปลอดภัย รองรับรหัสผ่านและ Google SSO ตาม PDPA</a:t>
            </a:r>
          </a:p>
          <a:p>
            <a:pPr>
              <a:defRPr sz="1800" b="0">
                <a:latin typeface="FC Iconic"/>
              </a:defRPr>
            </a:pPr>
            <a:r>
              <a:t>1. เปิด URL พอร์ทัลผู้ป่วย (Cloud dev-testing หรือ localhost:3005)</a:t>
            </a:r>
          </a:p>
          <a:p>
            <a:pPr>
              <a:defRPr sz="1800" b="0">
                <a:latin typeface="FC Iconic"/>
              </a:defRPr>
            </a:pPr>
            <a:r>
              <a:t>2. ตรวจสอบใบรับรอง HTTPS และไม่แชร์รหัสผ่าน</a:t>
            </a:r>
          </a:p>
          <a:p>
            <a:pPr>
              <a:defRPr sz="1800" b="0">
                <a:latin typeface="FC Iconic"/>
              </a:defRPr>
            </a:pPr>
            <a:r>
              <a:t>3. กรอกอีเมล/รหัสผ่าน หรือกด «ลงชื่อเข้าใช้ด้วย Google»</a:t>
            </a:r>
          </a:p>
          <a:p>
            <a:pPr>
              <a:defRPr sz="1800" b="0">
                <a:latin typeface="FC Iconic"/>
              </a:defRPr>
            </a:pPr>
            <a:r>
              <a:t>4. หาก Google ยังไม่มีบัญชี — ระบบนำไปหน้าสมัครสมาชิก</a:t>
            </a:r>
          </a:p>
          <a:p>
            <a:pPr>
              <a:defRPr sz="1800" b="0">
                <a:latin typeface="FC Iconic"/>
              </a:defRPr>
            </a:pPr>
            <a:r>
              <a:t>5. ล็อกอินสำเร็จ → JWT ถูกเก็บใน session → ไปแดชบอร์ด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1. หน้าเข้าสู่ระบบผู้ป่วย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1. การเข้าสู่ระบบ | ผู้ป่วย | วัตถุประสงค์: เริ่มต้นที่หน้าเข้าสู่ระบบ ผู้ป่วยกรอกข้อมูลหรือใช้ Google ตามที่ลงทะเบียนไว้</a:t>
            </a:r>
          </a:p>
        </p:txBody>
      </p:sp>
      <p:pic>
        <p:nvPicPr>
          <p:cNvPr id="4" name="Picture 3" descr="WF01-patient-login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49758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4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เปิด URL พอร์ทัลผู้ป่วยในเบราว์เซอร์ Chrome หรือ 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แสดงฟอร์มอีเมล/รหัสผ่าน ลิงก์สมัครส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ตรวจหน้าจอขั้นที่ 1: แสดงฟอร์มอีเมล/รหัสผ่าน ลิงก์สมัครสมาชิก และปุ่ม Google Sign-In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กรอกอีเมลและรหัสผ่าน หรือเลือกลงชื่อเข้าใช้ด้วย Google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แสดงฟอร์มอีเมล/รหัสผ่าน ลิงก์สมัครส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ตรวจหน้าจอขั้นที่ 2: แสดงฟอร์มอีเมล/รหัสผ่าน ลิงก์สมัครสมาชิก และปุ่ม Google Sign-In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กดปุ่ม «เข้าสู่ระบบ»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แสดงฟอร์มอีเมล/รหัสผ่าน ลิงก์สมัครส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ตรวจหน้าจอขั้นที่ 3: แสดงฟอร์มอีเมล/รหัสผ่าน ลิงก์สมัครสมาชิก และปุ่ม Google Sign-In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แสดงฟอร์มอีเมล/รหัสผ่าน ลิงก์สมัครส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แสดงฟอร์มอีเมล/รหัสผ่าน ลิงก์สมัครสมาชิก และปุ่ม Google Sign-In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เริ่มต้นที่หน้าเข้าสู่ระบบ ผู้ป่วยกรอกข้อมูลหรือใช้ Google ตามที่ลงทะเบียนไว้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Processes/Pages/Patient-Portal/01_Login_Page.md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docs/screenshots/workflows/auth-login/WF01-patient-login-page.png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บัญชี Google ต้องตรงกับอีเมลที่ลงทะเบียนแล้ว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ผู้ใช้ใหม่ต้องสมัครก่อนใช้ SSO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2. ลงชื่อเข้าใช้ด้วย Google (ผู้ป่วย)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1. การเข้าสู่ระบบ | ผู้ป่วย | วัตถุประสงค์: SSO ช่วยลดขั้นตอนล็อกอิน แต่ต้องสมัครด้วยอีเมลเดียวกันก่อน</a:t>
            </a:r>
          </a:p>
        </p:txBody>
      </p:sp>
      <p:pic>
        <p:nvPicPr>
          <p:cNvPr id="4" name="Picture 3" descr="patient-login-with-goo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4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รอให้ปุ่ม Google โหลดเสร็จ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ปุ่ม Google แสดงใต้ฟอร์มอีเมล/รหัสผ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ตรวจหน้าจอขั้นที่ 1: ปุ่ม Google แสดงใต้ฟอร์มอีเมล/รหัสผ่าน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กด «ลงชื่อเข้าใช้ด้วย Google» และเลือกบัญชี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ปุ่ม Google แสดงใต้ฟอร์มอีเมล/รหัสผ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ตรวจหน้าจอขั้นที่ 2: ปุ่ม Google แสดงใต้ฟอร์มอีเมล/รหัสผ่าน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อนุญาตการเข้าถึงชื่อและอีเมล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ปุ่ม Google แสดงใต้ฟอร์มอีเมล/รหัสผ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ตรวจหน้าจอขั้นที่ 3: ปุ่ม Google แสดงใต้ฟอร์มอีเมล/รหัสผ่าน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ปุ่ม Google แสดงใต้ฟอร์มอีเมล/รหัสผ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ปุ่ม Google แสดงใต้ฟอร์มอีเมล/รหัสผ่าน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SSO ช่วยลดขั้นตอนล็อกอิน แต่ต้องสมัครด้วยอีเมลเดียวกันก่อน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Processes/Pages/Patient-Portal/01_Login_Page.md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docs/screenshots/sso/patient-login-with-google.png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บัญชี Google ต้องตรงกับอีเมลที่ลงทะเบียนแล้ว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ผู้ใช้ใหม่ต้องสมัครก่อนใช้ SSO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3. กรณี Google ยังไม่มีบัญชี — ไปหน้าสมัคร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1. การเข้าสู่ระบบ | ผู้ป่วย | วัตถุประสงค์: ป้องกันบัญชีคนแปลกปลอม — ต้องลงทะเบียนก่อนใช้ Google</a:t>
            </a:r>
          </a:p>
        </p:txBody>
      </p:sp>
      <p:pic>
        <p:nvPicPr>
          <p:cNvPr id="4" name="Picture 3" descr="sso-redirect-to-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4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ลองล็อกอินด้วย Google ที่ยังไม่เคยสมัคร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ระบบนำทางไปหน้าสมัครพร้อมข้อความแจ้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ตรวจหน้าจอขั้นที่ 1: ระบบนำทางไปหน้าสมัครพร้อมข้อความแจ้ง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อ่านข้อความแจ้งบนหน้าจอ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ระบบนำทางไปหน้าสมัครพร้อมข้อความแจ้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ตรวจหน้าจอขั้นที่ 2: ระบบนำทางไปหน้าสมัครพร้อมข้อความแจ้ง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กรอกแบบฟอร์มสมัครสมาชิกให้ครบ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ระบบนำทางไปหน้าสมัครพร้อมข้อความแจ้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ตรวจหน้าจอขั้นที่ 3: ระบบนำทางไปหน้าสมัครพร้อมข้อความแจ้ง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ระบบนำทางไปหน้าสมัครพร้อมข้อความแจ้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ระบบนำทางไปหน้าสมัครพร้อมข้อความแจ้ง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ป้องกันบัญชีคนแปลกปลอม — ต้องลงทะเบียนก่อนใช้ Google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Processes/Pages/Patient-Portal/01_Login_Page.md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docs/screenshots/sso/sso-redirect-to-register.png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บัญชี Google ต้องตรงกับอีเมลที่ลงทะเบียนแล้ว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ผู้ใช้ใหม่ต้องสมัครก่อนใช้ SSO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หมวด: 4. จองและติดตามนัดหมาย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กระบวนการจองนัดแบบ Wizard 3 ขั้น ส่งเข้า Appointment Pool เมื่อไม่ระบุแพทย์</a:t>
            </a:r>
          </a:p>
          <a:p>
            <a:pPr>
              <a:defRPr sz="1800" b="0">
                <a:latin typeface="FC Iconic"/>
              </a:defRPr>
            </a:pPr>
            <a:r>
              <a:t>1. ขั้น 1: เลือกประเภทนัด (ออนไลน์/ที่โรงพยาบาล)</a:t>
            </a:r>
          </a:p>
          <a:p>
            <a:pPr>
              <a:defRPr sz="1800" b="0">
                <a:latin typeface="FC Iconic"/>
              </a:defRPr>
            </a:pPr>
            <a:r>
              <a:t>2. ขั้น 2: กรอกอาการ ≥10 ตัวอักษร + ความเร่งด่วน + วันเวลา</a:t>
            </a:r>
          </a:p>
          <a:p>
            <a:pPr>
              <a:defRPr sz="1800" b="0">
                <a:latin typeface="FC Iconic"/>
              </a:defRPr>
            </a:pPr>
            <a:r>
              <a:t>3. ขั้น 3: เลือกแพทย์หรือ «ให้ระบบจัดสรร» → ยืนยัน</a:t>
            </a:r>
          </a:p>
          <a:p>
            <a:pPr>
              <a:defRPr sz="1800" b="0">
                <a:latin typeface="FC Iconic"/>
              </a:defRPr>
            </a:pPr>
            <a:r>
              <a:t>4. สถานะเริ่มต้น: `pending` หรือ `in_pool`</a:t>
            </a:r>
          </a:p>
          <a:p>
            <a:pPr>
              <a:defRPr sz="1800" b="0">
                <a:latin typeface="FC Iconic"/>
              </a:defRPr>
            </a:pPr>
            <a:r>
              <a:t>5. รอแอดมินจัดสรรแพทย์ หรือแพทย์ยืนยัน → `confirmed`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4. นัดหมายข้อมูลจริงจากระบบ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4. จองและติดตามนัดหมาย | ผู้ป่วย | วัตถุประสงค์: ไม่ใช่ข้อมูลจำลอง</a:t>
            </a:r>
          </a:p>
        </p:txBody>
      </p:sp>
      <p:pic>
        <p:nvPicPr>
          <p:cNvPr id="4" name="Picture 3" descr="E13-appointments-real-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459471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รีเฟรชหน้านัดหมาย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ข้อมูลจาก PostgreSQL จริง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ข้อมูลจาก PostgreSQL จริง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ข้อมูลจาก PostgreSQL จริง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ข้อมูลจาก PostgreSQL จริง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ไม่ใช่ข้อมูลจำลอง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Processes/Appointment_Workflows.md — Patient booking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docs/screenshots/group-E/E13-appointments-real-data.png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อาการส่งถึงแพทย์และ Pool — ห้ามกรอกข้อมูลละเอียดอ่อนเกินจำเป็น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5. รายละเอียดรายการนัด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4. จองและติดตามนัดหมาย | ผู้ป่วย | วัตถุประสงค์: ใช้เมื่อนัด confirmed</a:t>
            </a:r>
          </a:p>
        </p:txBody>
      </p:sp>
      <p:pic>
        <p:nvPicPr>
          <p:cNvPr id="4" name="Picture 3" descr="E14-appointment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454685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คลิกนัดที่ต้องการ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รายละเอียดและปุ่มเข้าร่วม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รายละเอียดและปุ่มเข้าร่วม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รายละเอียดและปุ่มเข้าร่วม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รายละเอียดและปุ่มเข้าร่วม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ใช้เมื่อนัด confirmed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Processes/Appointment_Workflows.md — Patient booking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docs/screenshots/group-E/E14-appointment-list.png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อาการส่งถึงแพทย์และ Pool — ห้ามกรอกข้อมูลละเอียดอ่อนเกินจำเป็น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หมวด: 5. วิดีโอคอลและ Lobby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Telehealth ผ่าน meet.jit.si + Izara Lobby แบบ Teams — แพทย์เป็น HOST อนุมัติผู้เข้าร่วม</a:t>
            </a:r>
          </a:p>
          <a:p>
            <a:pPr>
              <a:defRPr sz="1800" b="0">
                <a:latin typeface="FC Iconic"/>
              </a:defRPr>
            </a:pPr>
            <a:r>
              <a:t>1. เปิดนัดที่สถานะ `confirmed` → กดเข้าร่วมประชุม</a:t>
            </a:r>
          </a:p>
          <a:p>
            <a:pPr>
              <a:defRPr sz="1800" b="0">
                <a:latin typeface="FC Iconic"/>
              </a:defRPr>
            </a:pPr>
            <a:r>
              <a:t>2. อ่านและยอมรับข้อตกลง telemedicine (`WF15a`)</a:t>
            </a:r>
          </a:p>
          <a:p>
            <a:pPr>
              <a:defRPr sz="1800" b="0">
                <a:latin typeface="FC Iconic"/>
              </a:defRPr>
            </a:pPr>
            <a:r>
              <a:t>3. หน้า pre-join: ตรวจชื่อ กล้อง ไมค์ → เข้า Lobby</a:t>
            </a:r>
          </a:p>
          <a:p>
            <a:pPr>
              <a:defRPr sz="1800" b="0">
                <a:latin typeface="FC Iconic"/>
              </a:defRPr>
            </a:pPr>
            <a:r>
              <a:t>4. รอในห้อง Lobby (`lobby-waiting-screen`) จนแพทย์กด Admit</a:t>
            </a:r>
          </a:p>
          <a:p>
            <a:pPr>
              <a:defRPr sz="1800" b="0">
                <a:latin typeface="FC Iconic"/>
              </a:defRPr>
            </a:pPr>
            <a:r>
              <a:t>5. หลัง Admit — เข้า Jitsi; อนุญาตกล้อง/ไมค์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6. ปุ่มเข้าร่วมวิดีโอคอล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5. วิดีโอคอลและ Lobby | ผู้ป่วย | วัตถุประสงค์: ต้องอนุญาตกล้อง/ไมค์</a:t>
            </a:r>
          </a:p>
        </p:txBody>
      </p:sp>
      <p:pic>
        <p:nvPicPr>
          <p:cNvPr id="4" name="Picture 3" descr="E14-appointment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454685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เปิดนัดที่ยืนยันแล้ว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ปุ่ม Join สีเขียว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ปุ่ม Join สีเขียว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กดเข้าร่วมประชุม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ปุ่ม Join สีเขียว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2: ปุ่ม Join สีเขียว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ปุ่ม Join สีเขียว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ปุ่ม Join สีเขียว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ต้องอนุญาตกล้อง/ไมค์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Processes/VIDEO_MEETING_JITSI_GEMINI.md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docs/screenshots/group-E/E15-patient-meeting-access.png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อย่าแชร์ลิงก์ห้องประชุมสาธารณะ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Guest ต้องผ่านการอนุมัติจากแพทย์และรอแพทย์เริ่มห้อง (host-ready)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7. รอแพทย์ในห้อง Lobby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5. วิดีโอคอลและ Lobby | ผู้ป่วย | วัตถุประสงค์: ความปลอดภัยแบบ Teams Lobby</a:t>
            </a:r>
          </a:p>
        </p:txBody>
      </p:sp>
      <p:pic>
        <p:nvPicPr>
          <p:cNvPr id="4" name="Picture 3" descr="E10c0-patient-waiting-before-h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5013607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เข้าห้องก่อนแพทย์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สถานะ waiting to be admitted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สถานะ waiting to be admitted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สถานะ waiting to be admitted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สถานะ waiting to be admitted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ความปลอดภัยแบบ Teams Lobby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Processes/VIDEO_MEETING_JITSI_GEMINI.md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docs/screenshots/group-E/E10c0-patient-waiting-before-host.png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อย่าแชร์ลิงก์ห้องประชุมสาธารณะ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Guest ต้องผ่านการอนุมัติจากแพทย์และรอแพทย์เริ่มห้อง (host-ready)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8. ห้อง Lobby ผู้ป่วย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5. วิดีโอคอลและ Lobby | ผู้ป่วย | วัตถุประสงค์: แพทย์ควบคุมการเข้าห้อง</a:t>
            </a:r>
          </a:p>
        </p:txBody>
      </p:sp>
      <p:pic>
        <p:nvPicPr>
          <p:cNvPr id="4" name="Picture 3" descr="E10d-patient-meeting-lobb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รอจนแพทย์กด Admit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หน้าจอรออนุมัติ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หน้าจอรออนุมัติ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หน้าจอรออนุมัติ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หน้าจอรออนุมัติ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แพทย์ควบคุมการเข้าห้อง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Processes/VIDEO_MEETING_JITSI_GEMINI.md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docs/screenshots/group-E/E10d-patient-meeting-lobby.png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อย่าแชร์ลิงก์ห้องประชุมสาธารณะ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Guest ต้องผ่านการอนุมัติจากแพทย์และรอแพทย์เริ่มห้อง (host-ready)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9. ห้องประชุม Jitsi (ผู้ป่วย)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5. วิดีโอคอลและ Lobby | ผู้ป่วย | วัตถุประสงค์: ปรึกษาแพทย์แบบเรียลไทม์</a:t>
            </a:r>
          </a:p>
        </p:txBody>
      </p:sp>
      <p:pic>
        <p:nvPicPr>
          <p:cNvPr id="4" name="Picture 3" descr="E10d-patient-jitsi-m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หลังได้รับอนุมัติจาก Lobby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วิดีโอ แชท แชร์หน้าจอ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วิดีโอ แชท แชร์หน้าจอ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วิดีโอ แชท แชร์หน้าจอ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วิดีโอ แชท แชร์หน้าจอ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ปรึกษาแพทย์แบบเรียลไทม์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Processes/VIDEO_MEETING_JITSI_GEMINI.md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docs/screenshots/group-J-meeting-jitsi/E10d-patient-jitsi-meet.png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อย่าแชร์ลิงก์ห้องประชุมสาธารณะ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Guest ต้องผ่านการอนุมัติจากแพทย์และรอแพทย์เริ่มห้อง (host-ready)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10. ข้อตกลงก่อนเข้าห้อง (ผู้ป่วย)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5. วิดีโอคอลและ Lobby | ผู้ป่วย | วัตถุประสงค์: ตามมาตรฐาน telemedicine</a:t>
            </a:r>
          </a:p>
        </p:txBody>
      </p:sp>
      <p:pic>
        <p:nvPicPr>
          <p:cNvPr id="4" name="Picture 3" descr="WF15a-patient-agre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459471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อ่านข้อตกลง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หน้าตกลงการใช้บริการ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หน้าตกลงการใช้บริการ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กดยอมรับ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หน้าตกลงการใช้บริการ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2: หน้าตกลงการใช้บริการ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หน้าตกลงการใช้บริการ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หน้าตกลงการใช้บริการ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ตามมาตรฐาน telemedicine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Processes/VIDEO_MEETING_JITSI_GEMINI.md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docs/screenshots/workflows/video-meeting/WF15a-patient-agreement.png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อย่าแชร์ลิงก์ห้องประชุมสาธารณะ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Guest ต้องผ่านการอนุมัติจากแพทย์และรอแพทย์เริ่มห้อง (host-ready)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11. หน้าก่อนเข้าห้อง — ลิงก์เชิญ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5. วิดีโอคอลและ Lobby | ผู้ป่วย | วัตถุประสงค์: รองรับ guest invite</a:t>
            </a:r>
          </a:p>
        </p:txBody>
      </p:sp>
      <p:pic>
        <p:nvPicPr>
          <p:cNvPr id="4" name="Picture 3" descr="WF15b-patient-pre-join-inv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454685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ตรวจชื่อแสดงและอุปกรณ์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พรี-จอยน์พร้อมลิงก์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กดเข้าร่วม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พรี-จอยน์พร้อมลิงก์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2: พรี-จอยน์พร้อมลิงก์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พรี-จอยน์พร้อมลิงก์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พรี-จอยน์พร้อมลิงก์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รองรับ guest invite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Processes/VIDEO_MEETING_JITSI_GEMINI.md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docs/screenshots/workflows/video-meeting/WF15b-patient-pre-join-invite.png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อย่าแชร์ลิงก์ห้องประชุมสาธารณะ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Guest ต้องผ่านการอนุมัติจากแพทย์และรอแพทย์เริ่มห้อง (host-ready)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12. สรุปหลังจบการประชุม +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5. วิดีโอคอลและ Lobby | ผู้ป่วย | วัตถุประสงค์: ช่วยผู้ป่วยทบทวนคำแนะนำ</a:t>
            </a:r>
          </a:p>
        </p:txBody>
      </p:sp>
      <p:pic>
        <p:nvPicPr>
          <p:cNvPr id="4" name="Picture 3" descr="WF16-meeting-ended-ai-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6660817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จบการประชุม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สรุป AI และบันทึก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สรุป AI และบันทึก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สรุป AI และบันทึก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สรุป AI และบันทึก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ช่วยผู้ป่วยทบทวนคำแนะนำ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Processes/VIDEO_MEETING_JITSI_GEMINI.md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docs/screenshots/workflows/video-meeting/WF16-meeting-ended-ai-summary.png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อย่าแชร์ลิงก์ห้องประชุมสาธารณะ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Guest ต้องผ่านการอนุมัติจากแพทย์และรอแพทย์เริ่มห้อง (host-ready)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13. ผู้เชิญรอในห้อง (มุมผู้ป่วย)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5. วิดีโอคอลและ Lobby | ผู้ป่วย | วัตถุประสงค์: ญาติเข้าร่วมได้เมื่อแพทย์อนุมัติ</a:t>
            </a:r>
          </a:p>
        </p:txBody>
      </p:sp>
      <p:pic>
        <p:nvPicPr>
          <p:cNvPr id="4" name="Picture 3" descr="E14-appointment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454685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มี guest ใน lobby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รายชื่อผู้รอ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รายชื่อผู้รอ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รายชื่อผู้รอ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รายชื่อผู้รอ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ญาติเข้าร่วมได้เมื่อแพทย์อนุมัติ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Processes/VIDEO_MEETING_JITSI_GEMINI.md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docs/screenshots/group-E/E29-guests-before-host.png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อย่าแชร์ลิงก์ห้องประชุมสาธารณะ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Guest ต้องผ่านการอนุมัติจากแพทย์และรอแพทย์เริ่มห้อง (host-ready)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หมวด: 6. ประวัติสุขภาพ (PHR)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หมวด «6. ประวัติสุขภาพ (PHR)» ครอบคลุมฟังก์ชันผู้ป่วยตามเมนูและ UI test ที่ผ่าน</a:t>
            </a:r>
          </a:p>
          <a:p>
            <a:pPr>
              <a:defRPr sz="1800" b="0">
                <a:latin typeface="FC Iconic"/>
              </a:defRPr>
            </a:pPr>
            <a:r>
              <a:t>1. เข้าสู่ระบบด้วยบัญชีผู้ป่วยที่ลงทะเบียนแล้ว</a:t>
            </a:r>
          </a:p>
          <a:p>
            <a:pPr>
              <a:defRPr sz="1800" b="0">
                <a:latin typeface="FC Iconic"/>
              </a:defRPr>
            </a:pPr>
            <a:r>
              <a:t>2. เปิดเมนูที่เกี่ยวข้องกับหมวดนี้จาก Sidebar</a:t>
            </a:r>
          </a:p>
          <a:p>
            <a:pPr>
              <a:defRPr sz="1800" b="0">
                <a:latin typeface="FC Iconic"/>
              </a:defRPr>
            </a:pPr>
            <a:r>
              <a:t>3. ดำเนินการตามขั้นตอนในแต่ละภาพหน้าจอทีละขั้น</a:t>
            </a:r>
          </a:p>
          <a:p>
            <a:pPr>
              <a:defRPr sz="1800" b="0">
                <a:latin typeface="FC Iconic"/>
              </a:defRPr>
            </a:pPr>
            <a:r>
              <a:t>4. ตรวจสอบข้อความแจ้งเตือน สถานะ API และ `data-testid`</a:t>
            </a:r>
          </a:p>
          <a:p>
            <a:pPr>
              <a:defRPr sz="1800" b="0">
                <a:latin typeface="FC Iconic"/>
              </a:defRPr>
            </a:pPr>
            <a:r>
              <a:t>5. ยืนยันผลลัพธ์กับ Processes/Pages ที่อ้างอิง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14. หน้า PHR ภาพรวม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6. ประวัติสุขภาพ (PHR) | ผู้ป่วย | วัตถุประสงค์: ศูนย์กลางข้อมูลสุขภาพส่วนตัว</a:t>
            </a:r>
          </a:p>
        </p:txBody>
      </p:sp>
      <p:pic>
        <p:nvPicPr>
          <p:cNvPr id="4" name="Picture 3" descr="F01-phr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459471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เปิดเมนู PHR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แท็บและสรุปข้อมูล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แท็บและสรุปข้อมูล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แท็บและสรุปข้อมูล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แท็บและสรุปข้อมูล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ศูนย์กลางข้อมูลสุขภาพส่วนตัว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docs/screenshots/group-F/F01-phr-page.png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15. สำรวจทุกแท็บ PHR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6. ประวัติสุขภาพ (PHR) | ผู้ป่วย | วัตถุประสงค์: ข้อมูลครบในที่เดียว</a:t>
            </a:r>
          </a:p>
        </p:txBody>
      </p:sp>
      <p:pic>
        <p:nvPicPr>
          <p:cNvPr id="4" name="Picture 3" descr="F01-phr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459471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คลิกแต่ละแท็บ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สัญญาณชีพ ยา แพ้ แล็บ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สัญญาณชีพ ยา แพ้ แล็บ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สัญญาณชีพ ยา แพ้ แล็บ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สัญญาณชีพ ยา แพ้ แล็บ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ข้อมูลครบในที่เดียว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docs/screenshots/group-F/F02-phr-tabs-explored.png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16. แท็บสัญญาณชีพ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6. ประวัติสุขภาพ (PHR) | ผู้ป่วย | วัตถุประสงค์: ติดตามความดัน ชีพจร ฯลฯ</a:t>
            </a:r>
          </a:p>
        </p:txBody>
      </p:sp>
      <p:pic>
        <p:nvPicPr>
          <p:cNvPr id="4" name="Picture 3" descr="F03-vital-signs-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459471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เลือกแท็บสัญญาณชีพ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ตารางค่าสุขภาพ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ตารางค่าสุขภาพ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ตารางค่าสุขภาพ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ตารางค่าสุขภาพ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ติดตามความดัน ชีพจร ฯลฯ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docs/screenshots/group-F/F03-vital-signs-tab.png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17. เปิดฟอร์มบันทึกสัญญาณชีพ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6. ประวัติสุขภาพ (PHR) | ผู้ป่วย | วัตถุประสงค์: บันทึกด้วยตนเอง</a:t>
            </a:r>
          </a:p>
        </p:txBody>
      </p:sp>
      <p:pic>
        <p:nvPicPr>
          <p:cNvPr id="4" name="Picture 3" descr="F04-vital-form-o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459471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กดเพิ่ม/บันทึกค่าใหม่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ฟอร์มกรอกค่า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ฟอร์มกรอกค่า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ฟอร์มกรอกค่า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ฟอร์มกรอกค่า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บันทึกด้วยตนเอง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docs/screenshots/group-F/F04-vital-form-open.png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18. กรอกค่าสัญญาณชีพ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6. ประวัติสุขภาพ (PHR) | ผู้ป่วย | วัตถุประสงค์: ตรวจสอบความถูกต้อง</a:t>
            </a:r>
          </a:p>
        </p:txBody>
      </p:sp>
      <p:pic>
        <p:nvPicPr>
          <p:cNvPr id="4" name="Picture 3" descr="F05-vitals-fil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459471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กรอกตัวเลขครบ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ฟอร์มก่อนบันทึก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ฟอร์มก่อนบันทึก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กดบันทึก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ฟอร์มก่อนบันทึก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2: ฟอร์มก่อนบันทึก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ฟอร์มก่อนบันทึก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ฟอร์มก่อนบันทึก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ตรวจสอบความถูกต้อง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docs/screenshots/group-F/F05-vitals-filled.png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19. บันทึกสัญญาณชีพสำเร็จ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6. ประวัติสุขภาพ (PHR) | ผู้ป่วย | วัตถุประสงค์: แพทย์เห็นเมื่อเปิดเวชระเบียน</a:t>
            </a:r>
          </a:p>
        </p:txBody>
      </p:sp>
      <p:pic>
        <p:nvPicPr>
          <p:cNvPr id="4" name="Picture 3" descr="F06-vitals-sav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459471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ยืนยันการบันทึก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ค่าใหม่ในรายการ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ค่าใหม่ในรายการ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ค่าใหม่ในรายการ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ค่าใหม่ในรายการ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แพทย์เห็นเมื่อเปิดเวชระเบียน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docs/screenshots/group-F/F06-vitals-saved.png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20. แท็บยา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6. ประวัติสุขภาพ (PHR) | ผู้ป่วย | วัตถุประสงค์: แจ้งแพทย์ก่อนจ่ายยาใหม่</a:t>
            </a:r>
          </a:p>
        </p:txBody>
      </p:sp>
      <p:pic>
        <p:nvPicPr>
          <p:cNvPr id="4" name="Picture 3" descr="F07-medications-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1624513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เปิดแท็บยา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รายการยาประจำ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รายการยาประจำ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รายการยาประจำ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รายการยาประจำ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แจ้งแพทย์ก่อนจ่ายยาใหม่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docs/screenshots/group-F/F07-medications-tab.png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21. แท็บแพ้ยา/สาร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6. ประวัติสุขภาพ (PHR) | ผู้ป่วย | วัตถุประสงค์: สำคัญต่อความปลอดภัย</a:t>
            </a:r>
          </a:p>
        </p:txBody>
      </p:sp>
      <p:pic>
        <p:nvPicPr>
          <p:cNvPr id="4" name="Picture 3" descr="F08-allergies-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459471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เปิดแท็บแพ้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รายการสิ่งที่แพ้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รายการสิ่งที่แพ้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รายการสิ่งที่แพ้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รายการสิ่งที่แพ้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สำคัญต่อความปลอดภัย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docs/screenshots/group-F/F08-allergies-tab.png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22. แท็บผลแล็บ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6. ประวัติสุขภาพ (PHR) | ผู้ป่วย | วัตถุประสงค์: อ้างอิงก่อนพบแพทย์</a:t>
            </a:r>
          </a:p>
        </p:txBody>
      </p:sp>
      <p:pic>
        <p:nvPicPr>
          <p:cNvPr id="4" name="Picture 3" descr="F09-lab-results-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459471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เปิดแท็บผลแล็บ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ผลตรวจย้อนหลัง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ผลตรวจย้อนหลัง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ผลตรวจย้อนหลัง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ผลตรวจย้อนหลัง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อ้างอิงก่อนพบแพทย์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docs/screenshots/group-F/F09-lab-results-tab.png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23. ภาพรวม PHR พร้อมข้อมูล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6. ประวัติสุขภาพ (PHR) | ผู้ป่วย | วัตถุประสงค์: ข้อมูล sync กับแพทย์</a:t>
            </a:r>
          </a:p>
        </p:txBody>
      </p:sp>
      <p:pic>
        <p:nvPicPr>
          <p:cNvPr id="4" name="Picture 3" descr="F01-phr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459471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กลับแท็บภาพรวม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สรุปรวมทุกหมวด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สรุปรวมทุกหมวด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สรุปรวมทุกหมวด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สรุปรวมทุกหมวด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ข้อมูล sync กับแพทย์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docs/screenshots/group-F/F14-phr-overview-data.png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หมวด: 7. PDPA และหนังสือแสดงเจตนา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หมวด «7. PDPA และหนังสือแสดงเจตนา» ครอบคลุมฟังก์ชันผู้ป่วยตามเมนูและ UI test ที่ผ่าน</a:t>
            </a:r>
          </a:p>
          <a:p>
            <a:pPr>
              <a:defRPr sz="1800" b="0">
                <a:latin typeface="FC Iconic"/>
              </a:defRPr>
            </a:pPr>
            <a:r>
              <a:t>1. เข้าสู่ระบบด้วยบัญชีผู้ป่วยที่ลงทะเบียนแล้ว</a:t>
            </a:r>
          </a:p>
          <a:p>
            <a:pPr>
              <a:defRPr sz="1800" b="0">
                <a:latin typeface="FC Iconic"/>
              </a:defRPr>
            </a:pPr>
            <a:r>
              <a:t>2. เปิดเมนูที่เกี่ยวข้องกับหมวดนี้จาก Sidebar</a:t>
            </a:r>
          </a:p>
          <a:p>
            <a:pPr>
              <a:defRPr sz="1800" b="0">
                <a:latin typeface="FC Iconic"/>
              </a:defRPr>
            </a:pPr>
            <a:r>
              <a:t>3. ดำเนินการตามขั้นตอนในแต่ละภาพหน้าจอทีละขั้น</a:t>
            </a:r>
          </a:p>
          <a:p>
            <a:pPr>
              <a:defRPr sz="1800" b="0">
                <a:latin typeface="FC Iconic"/>
              </a:defRPr>
            </a:pPr>
            <a:r>
              <a:t>4. ตรวจสอบข้อความแจ้งเตือน สถานะ API และ `data-testid`</a:t>
            </a:r>
          </a:p>
          <a:p>
            <a:pPr>
              <a:defRPr sz="1800" b="0">
                <a:latin typeface="FC Iconic"/>
              </a:defRPr>
            </a:pPr>
            <a:r>
              <a:t>5. ยืนยันผลลัพธ์กับ Processes/Pages ที่อ้างอิง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24. นัดหมายจากมุม PDPA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7. PDPA และหนังสือแสดงเจตนา | ผู้ป่วย | วัตถุประสงค์: workflow ต่อเนื่อง</a:t>
            </a:r>
          </a:p>
        </p:txBody>
      </p:sp>
      <p:pic>
        <p:nvPicPr>
          <p:cNvPr id="4" name="Picture 3" descr="G13-patient-appoint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459471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กลับตรวจนัด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เชื่อมโยงกับเมนูนัด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เชื่อมโยงกับเมนูนัด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เชื่อมโยงกับเมนูนัด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เชื่อมโยงกับเมนูนัด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workflow ต่อเนื่อง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docs/screenshots/group-G/G13-patient-appointments.png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หมวด: 8. AI, Timeline, แผนที่, ค้นหาแพทย์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หมวด «8. AI, Timeline, แผนที่, ค้นหาแพทย์» ครอบคลุมฟังก์ชันผู้ป่วยตามเมนูและ UI test ที่ผ่าน</a:t>
            </a:r>
          </a:p>
          <a:p>
            <a:pPr>
              <a:defRPr sz="1800" b="0">
                <a:latin typeface="FC Iconic"/>
              </a:defRPr>
            </a:pPr>
            <a:r>
              <a:t>1. เข้าสู่ระบบด้วยบัญชีผู้ป่วยที่ลงทะเบียนแล้ว</a:t>
            </a:r>
          </a:p>
          <a:p>
            <a:pPr>
              <a:defRPr sz="1800" b="0">
                <a:latin typeface="FC Iconic"/>
              </a:defRPr>
            </a:pPr>
            <a:r>
              <a:t>2. เปิดเมนูที่เกี่ยวข้องกับหมวดนี้จาก Sidebar</a:t>
            </a:r>
          </a:p>
          <a:p>
            <a:pPr>
              <a:defRPr sz="1800" b="0">
                <a:latin typeface="FC Iconic"/>
              </a:defRPr>
            </a:pPr>
            <a:r>
              <a:t>3. ดำเนินการตามขั้นตอนในแต่ละภาพหน้าจอทีละขั้น</a:t>
            </a:r>
          </a:p>
          <a:p>
            <a:pPr>
              <a:defRPr sz="1800" b="0">
                <a:latin typeface="FC Iconic"/>
              </a:defRPr>
            </a:pPr>
            <a:r>
              <a:t>4. ตรวจสอบข้อความแจ้งเตือน สถานะ API และ `data-testid`</a:t>
            </a:r>
          </a:p>
          <a:p>
            <a:pPr>
              <a:defRPr sz="1800" b="0">
                <a:latin typeface="FC Iconic"/>
              </a:defRPr>
            </a:pPr>
            <a:r>
              <a:t>5. ยืนยันผลลัพธ์กับ Processes/Pages ที่อ้างอิง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25. AI Doctor — หน้าแรก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8. AI, Timeline, แผนที่, ค้นหาแพทย์ | ผู้ป่วย | วัตถุประสงค์: ไม่ใช่การวินิจฉัย — คำแนะนำเบื้องต้น</a:t>
            </a:r>
          </a:p>
        </p:txBody>
      </p:sp>
      <p:pic>
        <p:nvPicPr>
          <p:cNvPr id="4" name="Picture 3" descr="J01-ai-do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459471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เปิดปรึกษา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ช่องแชท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ช่องแชท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ช่องแชท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ช่องแชท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ไม่ใช่การวินิจฉัย — คำแนะนำเบื้องต้น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docs/screenshots/group-J/J01-ai-doctor.png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26. กรอกอาการใน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8. AI, Timeline, แผนที่, ค้นหาแพทย์ | ผู้ป่วย | วัตถุประสงค์: Gemini วิเคราะห์อาการ</a:t>
            </a:r>
          </a:p>
        </p:txBody>
      </p:sp>
      <p:pic>
        <p:nvPicPr>
          <p:cNvPr id="4" name="Picture 3" descr="J02-symptom-ty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459471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พิมพ์อาการ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ข้อความในช่อง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ข้อความในช่อง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ข้อความในช่อง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ข้อความในช่อง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Gemini วิเคราะห์อาการ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docs/screenshots/group-J/J02-symptom-typed.png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27. คำตอบจาก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8. AI, Timeline, แผนที่, ค้นหาแพทย์ | ผู้ป่วย | วัตถุประสงค์: ควรพบแพทย์หากรุนแรง</a:t>
            </a:r>
          </a:p>
        </p:txBody>
      </p:sp>
      <p:pic>
        <p:nvPicPr>
          <p:cNvPr id="4" name="Picture 3" descr="J03-ai-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459471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รอคำตอบ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คำแนะนำและคำเตือน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คำแนะนำและคำเตือน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คำแนะนำและคำเตือน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คำแนะนำและคำเตือน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ควรพบแพทย์หากรุนแรง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docs/screenshots/group-J/J03-ai-response.png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28. ตรวจสอบคำตอบ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8. AI, Timeline, แผนที่, ค้นหาแพทย์ | ผู้ป่วย | วัตถุประสงค์: บันทึกหรือจองนัดต่อ</a:t>
            </a:r>
          </a:p>
        </p:txBody>
      </p:sp>
      <p:pic>
        <p:nvPicPr>
          <p:cNvPr id="4" name="Picture 3" descr="J04-response-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459471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อ่านคำเตือน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ข้อความครบ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ข้อความครบ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ข้อความครบ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ข้อความครบ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บันทึกหรือจองนัดต่อ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docs/screenshots/group-J/J04-response-check.png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29. เส้นทางสุขภาพ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8. AI, Timeline, แผนที่, ค้นหาแพทย์ | ผู้ป่วย | วัตถุประสงค์: นัด ยา แล็บ รวมกัน</a:t>
            </a:r>
          </a:p>
        </p:txBody>
      </p:sp>
      <p:pic>
        <p:nvPicPr>
          <p:cNvPr id="4" name="Picture 3" descr="J05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459471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เปิด Timeline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เหตุการณ์เรียงเวลา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เหตุการณ์เรียงเวลา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เหตุการณ์เรียงเวลา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เหตุการณ์เรียงเวลา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นัด ยา แล็บ รวมกัน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docs/screenshots/group-J/J05-timeline.png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30. กรอง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8. AI, Timeline, แผนที่, ค้นหาแพทย์ | ผู้ป่วย | วัตถุประสงค์: ค้นหาเร็ว</a:t>
            </a:r>
          </a:p>
        </p:txBody>
      </p:sp>
      <p:pic>
        <p:nvPicPr>
          <p:cNvPr id="4" name="Picture 3" descr="J06-timeline-filt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454685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เลือกประเภทกรอง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เฉพาะประเภทที่เลือก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เฉพาะประเภทที่เลือก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เฉพาะประเภทที่เลือก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เฉพาะประเภทที่เลือก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ค้นหาเร็ว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docs/screenshots/group-J/J06-timeline-filtered.png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31. เลื่อนดู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8. AI, Timeline, แผนที่, ค้นหาแพทย์ | ผู้ป่วย | วัตถุประสงค์: ประวัติยาว</a:t>
            </a:r>
          </a:p>
        </p:txBody>
      </p:sp>
      <p:pic>
        <p:nvPicPr>
          <p:cNvPr id="4" name="Picture 3" descr="J06-timeline-filt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454685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เลื่อนลง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เหตุการณ์เก่า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เหตุการณ์เก่า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เหตุการณ์เก่า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เหตุการณ์เก่า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ประวัติยาว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docs/screenshots/group-J/J07-timeline-scrolled.png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32. แผนที่สถานพยาบาล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8. AI, Timeline, แผนที่, ค้นหาแพทย์ | ผู้ป่วย | วัตถุประสงค์: หาโรงพยาบาลใกล้</a:t>
            </a:r>
          </a:p>
        </p:txBody>
      </p:sp>
      <p:pic>
        <p:nvPicPr>
          <p:cNvPr id="4" name="Picture 3" descr="J08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459471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เปิดแผนที่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แผนที่และรายการ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แผนที่และรายการ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แผนที่และรายการ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แผนที่และรายการ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หาโรงพยาบาลใกล้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docs/screenshots/group-J/J08-map.png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33. ค้นหาบนแผนที่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8. AI, Timeline, แผนที่, ค้นหาแพทย์ | ผู้ป่วย | วัตถุประสงค์: เช่น โรงพยาบาล + เขต</a:t>
            </a:r>
          </a:p>
        </p:txBody>
      </p:sp>
      <p:pic>
        <p:nvPicPr>
          <p:cNvPr id="4" name="Picture 3" descr="J09-map-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459471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พิมพ์คำค้น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ผลค้นหา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ผลค้นหา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ผลค้นหา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ผลค้นหา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เช่น โรงพยาบาล + เขต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docs/screenshots/group-J/J09-map-search.png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34. ผลค้นหาแผนที่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8. AI, Timeline, แผนที่, ค้นหาแพทย์ | ผู้ป่วย | วัตถุประสงค์: นำทางหรือโทร</a:t>
            </a:r>
          </a:p>
        </p:txBody>
      </p:sp>
      <p:pic>
        <p:nvPicPr>
          <p:cNvPr id="4" name="Picture 3" descr="J10-map-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459471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เลือกสถานที่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หมุดบนแผนที่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หมุดบนแผนที่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หมุดบนแผนที่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หมุดบนแผนที่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นำทางหรือโทร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docs/screenshots/group-J/J10-map-results.png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35. ค้นหาแพทย์ — รายการ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8. AI, Timeline, แผนที่, ค้นหาแพทย์ | ผู้ป่วย | วัตถุประสงค์: ดูความเชี่ยวชาญ</a:t>
            </a:r>
          </a:p>
        </p:txBody>
      </p:sp>
      <p:pic>
        <p:nvPicPr>
          <p:cNvPr id="4" name="Picture 3" descr="J11-find-do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459471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เปิดค้นหาแพทย์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การ์ดแพทย์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การ์ดแพทย์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การ์ดแพทย์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การ์ดแพทย์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ดูความเชี่ยวชาญ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docs/screenshots/group-J/J11-find-doctors.png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36. กรองความเชี่ยวชาญ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8. AI, Timeline, แผนที่, ค้นหาแพทย์ | ผู้ป่วย | วัตถุประสงค์: จำกัดผลลัพธ์</a:t>
            </a:r>
          </a:p>
        </p:txBody>
      </p:sp>
      <p:pic>
        <p:nvPicPr>
          <p:cNvPr id="4" name="Picture 3" descr="J12-specialty-fil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459471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เลือกสาขา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รายการกรองแล้ว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รายการกรองแล้ว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รายการกรองแล้ว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รายการกรองแล้ว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จำกัดผลลัพธ์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docs/screenshots/group-J/J12-specialty-filter.png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37. รายละเอียดแพทย์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8. AI, Timeline, แผนที่, ค้นหาแพทย์ | ผู้ป่วย | วัตถุประสงค์: ก่อนจองนัด</a:t>
            </a:r>
          </a:p>
        </p:txBody>
      </p:sp>
      <p:pic>
        <p:nvPicPr>
          <p:cNvPr id="4" name="Picture 3" descr="J13-doctor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454685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คลิกการ์ดแพทย์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โปรไฟล์แพทย์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โปรไฟล์แพทย์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โปรไฟล์แพทย์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โปรไฟล์แพทย์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ก่อนจองนัด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docs/screenshots/group-J/J13-doctor-detail.png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หมวด: 9. คลังความรู้และการแจ้งเตือน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หมวด «9. คลังความรู้และการแจ้งเตือน» ครอบคลุมฟังก์ชันผู้ป่วยตามเมนูและ UI test ที่ผ่าน</a:t>
            </a:r>
          </a:p>
          <a:p>
            <a:pPr>
              <a:defRPr sz="1800" b="0">
                <a:latin typeface="FC Iconic"/>
              </a:defRPr>
            </a:pPr>
            <a:r>
              <a:t>1. เข้าสู่ระบบด้วยบัญชีผู้ป่วยที่ลงทะเบียนแล้ว</a:t>
            </a:r>
          </a:p>
          <a:p>
            <a:pPr>
              <a:defRPr sz="1800" b="0">
                <a:latin typeface="FC Iconic"/>
              </a:defRPr>
            </a:pPr>
            <a:r>
              <a:t>2. เปิดเมนูที่เกี่ยวข้องกับหมวดนี้จาก Sidebar</a:t>
            </a:r>
          </a:p>
          <a:p>
            <a:pPr>
              <a:defRPr sz="1800" b="0">
                <a:latin typeface="FC Iconic"/>
              </a:defRPr>
            </a:pPr>
            <a:r>
              <a:t>3. ดำเนินการตามขั้นตอนในแต่ละภาพหน้าจอทีละขั้น</a:t>
            </a:r>
          </a:p>
          <a:p>
            <a:pPr>
              <a:defRPr sz="1800" b="0">
                <a:latin typeface="FC Iconic"/>
              </a:defRPr>
            </a:pPr>
            <a:r>
              <a:t>4. ตรวจสอบข้อความแจ้งเตือน สถานะ API และ `data-testid`</a:t>
            </a:r>
          </a:p>
          <a:p>
            <a:pPr>
              <a:defRPr sz="1800" b="0">
                <a:latin typeface="FC Iconic"/>
              </a:defRPr>
            </a:pPr>
            <a:r>
              <a:t>5. ยืนยันผลลัพธ์กับ Processes/Pages ที่อ้างอิง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38. คลังความรู้ — รายการ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9. คลังความรู้และการแจ้งเตือน | ผู้ป่วย | วัตถุประสงค์: เนื้อหาอนุมัติแล้ว</a:t>
            </a:r>
          </a:p>
        </p:txBody>
      </p:sp>
      <p:pic>
        <p:nvPicPr>
          <p:cNvPr id="4" name="Picture 3" descr="H10-health-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6767715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เปิดคลังความรู้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บทความ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บทความ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บทความ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บทความ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เนื้อหาอนุมัติแล้ว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docs/screenshots/group-H/H10-health-library.png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39. อ่านบทความ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9. คลังความรู้และการแจ้งเตือน | ผู้ป่วย | วัตถุประสงค์: อ่านก่อนพบแพทย์</a:t>
            </a:r>
          </a:p>
        </p:txBody>
      </p:sp>
      <p:pic>
        <p:nvPicPr>
          <p:cNvPr id="4" name="Picture 3" descr="H11-article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66979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คลิกบทความ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เนื้อหาเต็ม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เนื้อหาเต็ม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เนื้อหาเต็ม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เนื้อหาเต็ม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อ่านก่อนพบแพทย์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docs/screenshots/group-H/H11-article-detail.png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40. AI จาก Group 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9. คลังความรู้และการแจ้งเตือน | ผู้ป่วย | วัตถุประสงค์: ยืนยัน cross-page</a:t>
            </a:r>
          </a:p>
        </p:txBody>
      </p:sp>
      <p:pic>
        <p:nvPicPr>
          <p:cNvPr id="4" name="Picture 3" descr="H12-ai-do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662813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ทดสอบ AI อีกครั้ง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หน้า AI สมบูรณ์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หน้า AI สมบูรณ์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หน้า AI สมบูรณ์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หน้า AI สมบูรณ์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ยืนยัน cross-page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docs/screenshots/group-H/H12-ai-doctor.png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41. การแจ้งเตือนผู้ป่วย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9. คลังความรู้และการแจ้งเตือน | ผู้ป่วย | วัตถุประสงค์: นัดใหม่ แพทย์รับเรื่อง</a:t>
            </a:r>
          </a:p>
        </p:txBody>
      </p:sp>
      <p:pic>
        <p:nvPicPr>
          <p:cNvPr id="4" name="Picture 3" descr="I11-patient-notif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470380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คลิกกระดิ่ง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รายการแจ้งเตือน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รายการแจ้งเตือน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รายการแจ้งเตือน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รายการแจ้งเตือน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นัดใหม่ แพทย์รับเรื่อง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docs/screenshots/group-I/I11-patient-notifications.png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หมวด: 10. เวิร์กโฟลว์ครบวงจร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ทดสอบเส้นทาง GATE0 ตั้งแต่จองจนจบการประชุม</a:t>
            </a:r>
          </a:p>
          <a:p>
            <a:pPr>
              <a:defRPr sz="1800" b="0">
                <a:latin typeface="FC Iconic"/>
              </a:defRPr>
            </a:pPr>
            <a:r>
              <a:t>1. จองนัด → in_pool หรือระบุแพทย์</a:t>
            </a:r>
          </a:p>
          <a:p>
            <a:pPr>
              <a:defRPr sz="1800" b="0">
                <a:latin typeface="FC Iconic"/>
              </a:defRPr>
            </a:pPr>
            <a:r>
              <a:t>2. แอดมินจัดสรร (ถ้า in_pool) → แพทย์ confirm</a:t>
            </a:r>
          </a:p>
          <a:p>
            <a:pPr>
              <a:defRPr sz="1800" b="0">
                <a:latin typeface="FC Iconic"/>
              </a:defRPr>
            </a:pPr>
            <a:r>
              <a:t>3. เข้าวิดีโอคอล → Lobby → Jitsi → จบ</a:t>
            </a:r>
          </a:p>
          <a:p>
            <a:pPr>
              <a:defRPr sz="1800" b="0">
                <a:latin typeface="FC Iconic"/>
              </a:defRPr>
            </a:pPr>
            <a:r>
              <a:t>4. ตรวจสถานะ `completed` และสรุป AI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42. นัดหมายว่าง (เริ่มต้น)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10. เวิร์กโฟลว์ครบวงจร | ผู้ป่วย | วัตถุประสงค์: จุดเริ่ม lifecycle</a:t>
            </a:r>
          </a:p>
        </p:txBody>
      </p:sp>
      <p:pic>
        <p:nvPicPr>
          <p:cNvPr id="4" name="Picture 3" descr="WF04-patient-appointments-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459471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ผู้ใช้ใหม่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ยังไม่มีนัด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ยังไม่มีนัด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ยังไม่มีนัด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ยังไม่มีนัด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จุดเริ่ม lifecycle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Processes/FULL_WORKFLOW_CONTRACT.md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docs/screenshots/workflows/appointment-lifecycle/WF04-patient-appointments-empty.png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ใช้บัญชีทดสอบที่ผ่าน cleanup แล้วเท่านั้น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43. จองนัด —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10. เวิร์กโฟลว์ครบวงจร | ผู้ป่วย | วัตถุประสงค์: ทดสอบ end-to-end</a:t>
            </a:r>
          </a:p>
        </p:txBody>
      </p:sp>
      <p:pic>
        <p:nvPicPr>
          <p:cNvPr id="4" name="Picture 3" descr="WF05-book-appointment-st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886653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WF05 จองขั้น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ตัวช่วยจอง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ตัวช่วยจอง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ตัวช่วยจอง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ตัวช่วยจอง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ทดสอบ end-to-end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Processes/FULL_WORKFLOW_CONTRACT.md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docs/screenshots/workflows/appointment-lifecycle/WF05-book-appointment-step1.png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ใช้บัญชีทดสอบที่ผ่าน cleanup แล้วเท่านั้น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44. นัดยืนยันแล้ว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10. เวิร์กโฟลว์ครบวงจร | ผู้ป่วย | วัตถุประสงค์: พร้อมวิดีโอคอล</a:t>
            </a:r>
          </a:p>
        </p:txBody>
      </p:sp>
      <p:pic>
        <p:nvPicPr>
          <p:cNvPr id="4" name="Picture 3" descr="WF13-patient-appointment-confir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459471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หลังแพทย์/แอดมินยืนยัน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สถานะ confirmed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สถานะ confirmed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สถานะ confirmed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สถานะ confirmed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พร้อมวิดีโอคอล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Processes/FULL_WORKFLOW_CONTRACT.md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docs/screenshots/workflows/appointment-lifecycle/WF13-patient-appointment-confirmed.png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ใช้บัญชีทดสอบที่ผ่าน cleanup แล้วเท่านั้น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สรุปและ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ครบ 44 ขั้นตอนพร้อมภาพ UI tests</a:t>
            </a:r>
          </a:p>
          <a:p>
            <a:pPr>
              <a:defRPr sz="1800" b="0">
                <a:latin typeface="FC Iconic"/>
              </a:defRPr>
            </a:pPr>
            <a:r>
              <a:t>TH Sarabun New 16 pt (Word) / FC Iconic (สไลด์)</a:t>
            </a:r>
          </a:p>
          <a:p>
            <a:pPr>
              <a:defRPr sz="1800" b="0">
                <a:latin typeface="FC Iconic"/>
              </a:defRPr>
            </a:pPr>
            <a:r>
              <a:t>อ้างอิง Processes/Pages และ GATE0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