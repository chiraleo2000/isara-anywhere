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แนะนำภาพรวม Phase 1 — สามพอร์ทัล หนึ่งฐานข้อมูล PostgreSQL บน GCE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อ้างอิง Processes/PHASE1_REQUIREMENTS.md และ GATE0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draw.io หน้า 1 — System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อธิบายทิศทางข้อมูล: ลงบน → ขึ้นบน ไม่มี GCS สำหรับข้อมูลคลินิกหลัก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draw.io หน้า 9 — แพทย์ unified image nginx→3011 auth/ws, 3009 API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เน้นจุดตรวจสอบเมื่อ deploy: MEETING_SERVER_URL ต้องตรงกันทุกพอร์ทัล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Schema: scripts/database/izara-database.sql — draw.io หน้า 8 ERD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อธิบาย foreign key แบบ logical — patient_id / doctor_id เป็น VARCHAR อ้าง users.id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Processes/Appointment_Workflows.md — draw.io หน้า 3 และ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Processes/VIDEO_MEETING_JITSI_GEMINI.md — แพทย์เท่านั้นที่เป็น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อย่าส่งผล AI ถึงผู้ป่วยก่อน validated — ข้อกำหนด DR Man-in-the-Loop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อ้างอิง GATE0_IMPLEMENTATION_STATUS.md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draw.io หน้า 5 Health Records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draw.io หน้า 2 User Management, หน้า 7 Notification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npm run test:unit; test:quality:gate; test:cloud:unit-gate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reports/defect-fix/v1.7.45-final.txt; DEFECT_REMEDIATION_DRAWIO_UPDATES §9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 b="0">
                <a:latin typeface="FC Iconic"/>
              </a:defRPr>
            </a:pPr>
            <a:r>
              <a:t>README.md, docs/CLOUD_ACCESS_TH.md, docs/diagrams.drawio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โครงสร้างทางเทคนิค — Izara Anywhere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ระบบแพทย์ทางไกล (Telemedicine) สำหรับประเทศไทย</a:t>
            </a:r>
          </a:p>
          <a:p>
            <a:pPr>
              <a:defRPr sz="1800" b="0">
                <a:latin typeface="FC Iconic"/>
              </a:defRPr>
            </a:pPr>
            <a:r>
              <a:t>• เวอร์ชัน 1.7.45 | จัดทำ 30 พฤษภาคม 2569</a:t>
            </a:r>
          </a:p>
          <a:p>
            <a:pPr>
              <a:defRPr sz="1800" b="0">
                <a:latin typeface="FC Iconic"/>
              </a:defRPr>
            </a:pPr>
            <a:r>
              <a:t>• มาตรฐานรายงาน: Word TH Sarabun New 16 pt | สไลด์ FC Iconic</a:t>
            </a:r>
          </a:p>
          <a:p>
            <a:pPr>
              <a:defRPr sz="1800" b="0">
                <a:latin typeface="FC Iconic"/>
              </a:defRPr>
            </a:pPr>
            <a:r>
              <a:t>• แผนภาพ: docs/diagrams.drawio (10 หน้า)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วัตถุประสงค์และหลักการ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หลัก Man-in-the-Loop: แพทย์อนุมัติทุกผลลัพธ์ทางคลินิกจาก AI ก่อนส่งถึงผู้ป่วย</a:t>
            </a:r>
          </a:p>
          <a:p>
            <a:pPr>
              <a:defRPr sz="1800" b="0">
                <a:latin typeface="FC Iconic"/>
              </a:defRPr>
            </a:pPr>
            <a:r>
              <a:t>• รองรับ PDPA — ความยินยอม บันทึก audit และการแยกสิทธิ์ patient / doctor / admin</a:t>
            </a:r>
          </a:p>
          <a:p>
            <a:pPr>
              <a:defRPr sz="1800" b="0">
                <a:latin typeface="FC Iconic"/>
              </a:defRPr>
            </a:pPr>
            <a:r>
              <a:t>• Phase 1: เว็บแอปเท่านั้น — จองนัด วิดีโอคอล PHR/EMR ใบสั่งยา คำสั่ง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ภาพรวมสามพอร์ทัล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1556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400050"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พอร์ทัล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เทคโนโลยี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พอร์ต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บทบาท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React+Vite+Express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3005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ผู้ป่วย — จองนัด PHR AI แผนที่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Doctor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React+Vite+nginx+Node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3010 / Cloud 8080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แพทย์/แอดมิน — EMR คิว Pool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Meeting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Express+Socket.IO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3020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Jitsi lobby STT pipeline AI SOAP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2788920"/>
            <a:ext cx="111556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ชั้นงานสถาปัตยกรรม (Layers)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1. Client — เบราว์เซอร์, Jitsi WebRTC, Web Speech API</a:t>
            </a:r>
          </a:p>
          <a:p>
            <a:pPr>
              <a:defRPr sz="1800" b="0">
                <a:latin typeface="FC Iconic"/>
              </a:defRPr>
            </a:pPr>
            <a:r>
              <a:t>• 2. Portal — REST /api/, auth :3011, ไฟล์ static ผ่าน nginx</a:t>
            </a:r>
          </a:p>
          <a:p>
            <a:pPr>
              <a:defRPr sz="1800" b="0">
                <a:latin typeface="FC Iconic"/>
              </a:defRPr>
            </a:pPr>
            <a:r>
              <a:t>• 3. Real-time — PostgreSQL NOTIFY → pgNotifyListener → Socket.IO</a:t>
            </a:r>
          </a:p>
          <a:p>
            <a:pPr>
              <a:defRPr sz="1800" b="0">
                <a:latin typeface="FC Iconic"/>
              </a:defRPr>
            </a:pPr>
            <a:r>
              <a:t>• 4. Data — izara_phase1 บน PostgreSQL 18 + pgvector</a:t>
            </a:r>
          </a:p>
          <a:p>
            <a:pPr>
              <a:defRPr sz="1800" b="0">
                <a:latin typeface="FC Iconic"/>
              </a:defRPr>
            </a:pPr>
            <a:r>
              <a:t>• 5. External — Gemini 2.5 Flash Lite, Maps, OAuth, อีเมล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เครือข่ายคลาวด์ (Cloud Network)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โครงการ GCP: izara-telemedicine | ภูมิภาค asia-southeast1</a:t>
            </a:r>
          </a:p>
          <a:p>
            <a:pPr>
              <a:defRPr sz="1800" b="0">
                <a:latin typeface="FC Iconic"/>
              </a:defRPr>
            </a:pPr>
            <a:r>
              <a:t>• Cloud Run: izara-patient-portal-dev-testing, izara-doctor-portal-dev-testing, izara-meeting-server-dev-testing</a:t>
            </a:r>
          </a:p>
          <a:p>
            <a:pPr>
              <a:defRPr sz="1800" b="0">
                <a:latin typeface="FC Iconic"/>
              </a:defRPr>
            </a:pPr>
            <a:r>
              <a:t>• ฐานข้อมูล: GCE VM 35.240.157.230:5432 (ไม่ใช้ Cloud SQL)</a:t>
            </a:r>
          </a:p>
          <a:p>
            <a:pPr>
              <a:defRPr sz="1800" b="0">
                <a:latin typeface="FC Iconic"/>
              </a:defRPr>
            </a:pPr>
            <a:r>
              <a:t>• Secret Manager: jwt-secret, database-url, gemini-api-key, google-client-id</a:t>
            </a:r>
          </a:p>
          <a:p>
            <a:pPr>
              <a:defRPr sz="1800" b="0">
                <a:latin typeface="FC Iconic"/>
              </a:defRPr>
            </a:pPr>
            <a:r>
              <a:t>• Artifact Registry + cloudbuild.yaml → deploy อัตโนมัติ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การเชื่อมต่อบริการ (Service Connections)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HTTPS: เบราว์เซอร์ → Cloud Run แต่ละพอร์ทัล</a:t>
            </a:r>
          </a:p>
          <a:p>
            <a:pPr>
              <a:defRPr sz="1800" b="0">
                <a:latin typeface="FC Iconic"/>
              </a:defRPr>
            </a:pPr>
            <a:r>
              <a:t>• TCP 5432: ทุก Run service → PostgreSQL บน GCE (firewall จำกัด egress)</a:t>
            </a:r>
          </a:p>
          <a:p>
            <a:pPr>
              <a:defRPr sz="1800" b="0">
                <a:latin typeface="FC Iconic"/>
              </a:defRPr>
            </a:pPr>
            <a:r>
              <a:t>• WebRTC: Client ↔ meet.jit.si — สื่อวิดีโอไม่ผ่านเซิร์ฟเวอร์ Izara</a:t>
            </a:r>
          </a:p>
          <a:p>
            <a:pPr>
              <a:defRPr sz="1800" b="0">
                <a:latin typeface="FC Iconic"/>
              </a:defRPr>
            </a:pPr>
            <a:r>
              <a:t>• REST: Patient/Doctor → Meeting Server (/api/meetings, lobby, guest)</a:t>
            </a:r>
          </a:p>
          <a:p>
            <a:pPr>
              <a:defRPr sz="1800" b="0">
                <a:latin typeface="FC Iconic"/>
              </a:defRPr>
            </a:pPr>
            <a:r>
              <a:t>• WebSocket: Socket.IO สำหรับคิว การแจ้งเตือน อัปเดตนัด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โครงสร้างฐานข้อมูล (กลุ่มตาราง)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65760"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กลุ่ม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ตารางตัวอย่าง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หน้าที่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ตัวตน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users,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ล็อกอิน บทบาท อนุมัติแพทย์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ผู้ป่วย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phr, vital_signs, living_wills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PHR PDPA หนังสือเจตนา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doctor_profiles, doctor_schedules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โปรไฟล์ ตารางเวร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นัดหมาย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appointments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สถานะ in_pool doctor_id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คลินิก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emr, prescriptions, lab_orders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SOAP ใบสั่งยา lab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ประชุม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meeting_records, meeting_transcripts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วิดีโอ STT สรุป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749039"/>
            <a:ext cx="11155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ความสัมพันธ์ข้อมูลหลัก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users → patient_profiles | doctor_profiles</a:t>
            </a:r>
          </a:p>
          <a:p>
            <a:pPr>
              <a:defRPr sz="1800" b="0">
                <a:latin typeface="FC Iconic"/>
              </a:defRPr>
            </a:pPr>
            <a:r>
              <a:t>• users → appointments → meeting_records → meeting_transcripts</a:t>
            </a:r>
          </a:p>
          <a:p>
            <a:pPr>
              <a:defRPr sz="1800" b="0">
                <a:latin typeface="FC Iconic"/>
              </a:defRPr>
            </a:pPr>
            <a:r>
              <a:t>• appointments → emr, prescriptions, lab_orders</a:t>
            </a:r>
          </a:p>
          <a:p>
            <a:pPr>
              <a:defRPr sz="1800" b="0">
                <a:latin typeface="FC Iconic"/>
              </a:defRPr>
            </a:pPr>
            <a:r>
              <a:t>• emr.requires_validation = true จนกว่าแพทย์ลงนาม</a:t>
            </a:r>
          </a:p>
          <a:p>
            <a:pPr>
              <a:defRPr sz="1800" b="0">
                <a:latin typeface="FC Iconic"/>
              </a:defRPr>
            </a:pPr>
            <a:r>
              <a:t>• Trigger NOTIFY เมื่อ appointments เปลี่ยน → อัปเดตคิวแบบ real-time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กระบวนการจองนัด (ขั้นที่ 1–6)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155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65760"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ขั้น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ผู้ปฏิบัติ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การกระทำ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ระบบ/ตาราง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ผู้ป่วย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ล็อกอิน + PDPA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users, patient_consents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ผู้ป่วย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จองนัด กรอกอาการ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appointments INSERT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แพทย์/แอดมิน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รับจาก Pool หรือจัดสรร doctor_id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in_pool, doctor_id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ยืนยันนัด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status=confirmed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แพลตฟอร์ม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NOTIFY + Socket.IO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แดชบอร์ดอัปเดต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แพทย์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อ่านสรุป AI ก่อนพบ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Gemini + phr/emr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749039"/>
            <a:ext cx="11155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กระบวนการวิดีโอคอล (ขั้นที่ 7–10)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1556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84047"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ขั้น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ผู้ปฏิบัติ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การกระทำ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ระบบ</a:t>
                      </a:r>
                    </a:p>
                  </a:txBody>
                  <a:tcPr/>
                </a:tc>
              </a:tr>
              <a:tr h="384047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ผู้ป่วย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เข้า Jitsi lobby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Meeting Server + meet.jit.si</a:t>
                      </a:r>
                    </a:p>
                  </a:txBody>
                  <a:tcPr/>
                </a:tc>
              </a:tr>
              <a:tr h="384047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แพทย์ (HOST)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เริ่มประชุม อนุมัติแขก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lobby API</a:t>
                      </a:r>
                    </a:p>
                  </a:txBody>
                  <a:tcPr/>
                </a:tc>
              </a:tr>
              <a:tr h="384047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ทั้งคู่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วิดีโอ + STT + แชท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meeting_transcripts</a:t>
                      </a:r>
                    </a:p>
                  </a:txBody>
                  <a:tcPr/>
                </a:tc>
              </a:tr>
              <a:tr h="384051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แพลตฟอร์ม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postMeetingPipeline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Gemini → emr draft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108959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กระบวนการหลังพบ (ขั้นที่ 11–12)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11. แพทย์ตรวจสอบ EMR / ใบสั่งยา / lab — Man-in-the-Loop</a:t>
            </a:r>
          </a:p>
          <a:p>
            <a:pPr>
              <a:defRPr sz="1800" b="0">
                <a:latin typeface="FC Iconic"/>
              </a:defRPr>
            </a:pPr>
            <a:r>
              <a:t>• 11a. ลงนาม validated_by, signed_at</a:t>
            </a:r>
          </a:p>
          <a:p>
            <a:pPr>
              <a:defRPr sz="1800" b="0">
                <a:latin typeface="FC Iconic"/>
              </a:defRPr>
            </a:pPr>
            <a:r>
              <a:t>• 12. ผู้ป่วยเห็น timeline, คำแนะนำ, PHR ที่อนุมัติแล้ว</a:t>
            </a:r>
          </a:p>
          <a:p>
            <a:pPr>
              <a:defRPr sz="1800" b="0">
                <a:latin typeface="FC Iconic"/>
              </a:defRPr>
            </a:pPr>
            <a:r>
              <a:t>• 12a. การแจ้งเตือนผ่าน notifications + Socket.IO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สถานะนัดหมาย (Status Machine)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pending → in_pool → assigned → confirmed → in_meeting → completed</a:t>
            </a:r>
          </a:p>
          <a:p>
            <a:pPr>
              <a:defRPr sz="1800" b="0">
                <a:latin typeface="FC Iconic"/>
              </a:defRPr>
            </a:pPr>
            <a:r>
              <a:t>• ยกเลิก: cancelled (ทุกฝ่ายตามสิทธิ์)</a:t>
            </a:r>
          </a:p>
          <a:p>
            <a:pPr>
              <a:defRPr sz="1800" b="0">
                <a:latin typeface="FC Iconic"/>
              </a:defRPr>
            </a:pPr>
            <a:r>
              <a:t>• in_pool=true: แสดงใน Appointment Pool ให้แพทย์รับหรือแอดมินจัดสรร</a:t>
            </a:r>
          </a:p>
          <a:p>
            <a:pPr>
              <a:defRPr sz="1800" b="0">
                <a:latin typeface="FC Iconic"/>
              </a:defRPr>
            </a:pPr>
            <a:r>
              <a:t>• ตรวจ doctor_id ก่อนสร้าง meeting — GATE0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PHR · EMR ·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PHR: ผู้ป่วยเป็นเจ้าของ — แพ้ยา ยา สัญญาณชีพ หนังสือเจตนา</a:t>
            </a:r>
          </a:p>
          <a:p>
            <a:pPr>
              <a:defRPr sz="1800" b="0">
                <a:latin typeface="FC Iconic"/>
              </a:defRPr>
            </a:pPr>
            <a:r>
              <a:t>• EMR: SOAP JSONB — subjective, objective, assessment, plan</a:t>
            </a:r>
          </a:p>
          <a:p>
            <a:pPr>
              <a:defRPr sz="1800" b="0">
                <a:latin typeface="FC Iconic"/>
              </a:defRPr>
            </a:pPr>
            <a:r>
              <a:t>• AI: Gemini สรุป transcript → ร่าง EMR — แพทย์แก้และลงนาม</a:t>
            </a:r>
          </a:p>
          <a:p>
            <a:pPr>
              <a:defRPr sz="1800" b="0">
                <a:latin typeface="FC Iconic"/>
              </a:defRPr>
            </a:pPr>
            <a:r>
              <a:t>• RAG: pgvector บน knowledge_base / clinical_resources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ความปลอดภัยและ Real-time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RBAC: แยก route patient / doctor / admin</a:t>
            </a:r>
          </a:p>
          <a:p>
            <a:pPr>
              <a:defRPr sz="1800" b="0">
                <a:latin typeface="FC Iconic"/>
              </a:defRPr>
            </a:pPr>
            <a:r>
              <a:t>• Auth: JWT/session, bcrypt, rate limit ล็อกอิน</a:t>
            </a:r>
          </a:p>
          <a:p>
            <a:pPr>
              <a:defRPr sz="1800" b="0">
                <a:latin typeface="FC Iconic"/>
              </a:defRPr>
            </a:pPr>
            <a:r>
              <a:t>• OWASP middleware: CSP, security headers</a:t>
            </a:r>
          </a:p>
          <a:p>
            <a:pPr>
              <a:defRPr sz="1800" b="0">
                <a:latin typeface="FC Iconic"/>
              </a:defRPr>
            </a:pPr>
            <a:r>
              <a:t>• Real-time: ช่อง NOTIFY appointment_* → Socket.IO room</a:t>
            </a:r>
          </a:p>
          <a:p>
            <a:pPr>
              <a:defRPr sz="1800" b="0">
                <a:latin typeface="FC Iconic"/>
              </a:defRPr>
            </a:pPr>
            <a:r>
              <a:t>• audit_logs: บันทึกการกระทำสำคัญ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การทดสอบและคุณภาพ (v1.7.45)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51560"/>
          <a:ext cx="111556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373379"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ชั้น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เครื่องมือ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latin typeface="FC Iconic"/>
                        </a:defRPr>
                      </a:pPr>
                      <a:r>
                        <a:t>ผลลัพธ์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Vitest 150 ไฟล์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2731 tests ผ่าน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Sonar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SonarLint + sonar-project.properties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S1874/S6594 แก้แล้ว; S6747 suppress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Cloud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test:cloud:unit-gate + GATE0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78 cloud unit + G1–G5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Defect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Playwright Defect-regression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34 passed, 2 skipped (cloud)</a:t>
                      </a:r>
                    </a:p>
                  </a:txBody>
                  <a:tcPr/>
                </a:tc>
              </a:tr>
              <a:tr h="373384"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เอกสาร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draw.io + DOCX/PPTX/PDF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FC Iconic"/>
                        </a:defRPr>
                      </a:pPr>
                      <a:r>
                        <a:t>docs/diagrams.drawio — ไม่ใช้ HTML diagram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1480" y="3428999"/>
            <a:ext cx="11155680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แผนภาพ: docs/diagrams.drawio (export PNG/PDF จาก draw.io)</a:t>
            </a:r>
          </a:p>
          <a:p>
            <a:pPr>
              <a:defRPr sz="1800" b="0">
                <a:latin typeface="FC Iconic"/>
              </a:defRPr>
            </a:pPr>
            <a:r>
              <a:t>• Defect pack: DN5, DP1, DJ1–DJ2 + v1.7.44 suites</a:t>
            </a:r>
          </a:p>
          <a:p>
            <a:pPr>
              <a:defRPr sz="1800" b="0">
                <a:latin typeface="FC Iconic"/>
              </a:defRPr>
            </a:pPr>
            <a:r>
              <a:t>• PHR persist, map lang=, health library thumbnail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Defect Remediation v1.7.45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23/23 defects Verified — PDF Defect หมออิสระ</a:t>
            </a:r>
          </a:p>
          <a:p>
            <a:pPr>
              <a:defRPr sz="1800" b="0">
                <a:latin typeface="FC Iconic"/>
              </a:defRPr>
            </a:pPr>
            <a:r>
              <a:t>• Sonar: emrService Blob URL print (S1874); scheduleCountParity RegExp.exec (S6594)</a:t>
            </a:r>
          </a:p>
          <a:p>
            <a:pPr>
              <a:defRPr sz="1800" b="0">
                <a:latin typeface="FC Iconic"/>
              </a:defRPr>
            </a:pPr>
            <a:r>
              <a:t>• S6747/S6438: CompleteEMREditor, CompletePrescribing, LiveTranscription — parser false positive</a:t>
            </a:r>
          </a:p>
          <a:p>
            <a:pPr>
              <a:defRPr sz="1800" b="0">
                <a:latin typeface="FC Iconic"/>
              </a:defRPr>
            </a:pPr>
            <a:r>
              <a:t>• Playwright: DN5 mark-all UI, DP1 PHR re-login, DJ1 map lang, DJ2 thumbnail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latin typeface="FC Iconic"/>
              </a:defRPr>
            </a:pPr>
            <a:r>
              <a:t>การ deploy และเอกสารอ้างอิง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51560"/>
            <a:ext cx="11155680" cy="5532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latin typeface="FC Iconic"/>
              </a:defRPr>
            </a:pPr>
            <a:r>
              <a:t>• Local: docker-compose up — Patient :3005 Doctor :3010 Meeting :3020</a:t>
            </a:r>
          </a:p>
          <a:p>
            <a:pPr>
              <a:defRPr sz="1800" b="0">
                <a:latin typeface="FC Iconic"/>
              </a:defRPr>
            </a:pPr>
            <a:r>
              <a:t>• Cloud: npm run cloud:deploy -- -Tag v1.7.45 + gcloud update-traffic</a:t>
            </a:r>
          </a:p>
          <a:p>
            <a:pPr>
              <a:defRPr sz="1800" b="0">
                <a:latin typeface="FC Iconic"/>
              </a:defRPr>
            </a:pPr>
            <a:r>
              <a:t>• ล้างข้อมูลทดสอบ: npm run cleanup:cloud-test-only</a:t>
            </a:r>
          </a:p>
          <a:p>
            <a:pPr>
              <a:defRPr sz="1800" b="0">
                <a:latin typeface="FC Iconic"/>
              </a:defRPr>
            </a:pPr>
            <a:r>
              <a:t>• Processes/Pages/** — ขั้นตอนละเอียดต่อหน้าจอ</a:t>
            </a:r>
          </a:p>
          <a:p>
            <a:pPr>
              <a:defRPr sz="1800" b="0">
                <a:latin typeface="FC Iconic"/>
              </a:defRPr>
            </a:pPr>
            <a:r>
              <a:t>• สร้างคู่มือ: npm run guides:technical (TH Sarabun 16pt, FC Iconic PPT)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