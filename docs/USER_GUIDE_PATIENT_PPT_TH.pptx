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สวัสดีครับ/ค่ะ วันนี้นำเสนอคู่มือการใช้งาน คู่มือการใช้งาน — พอร์ทัลผู้ป่วย เวอร์ชัน 1.7.32 ทุกภาพหน้าจอมาจากการทดสอบ UI ที่ผ่านทั้งหมด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Patient Portal มี 10 เมนูหลัก ครอบคลุมจองนัด PHR วิดีโอคอล AI แผนที่ PDPA และคลังความรู้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หน้าเข้าสู่ระบบผู้ป่วย ในกลุ่ม 1. การเข้าสู่ระบบ. เริ่มต้นที่หน้าเข้าสู่ระบบ ผู้ป่วยกรอกข้อมูลหรือใช้ Google ตามที่ลงทะเบียนไว้ ขั้นตอนคือ: เปิด URL พอร์ทัลผู้ป่วยในเบราว์เซอร์ Chrome หรือ Edge กรอกอีเมลและรหัสผ่าน หรือเลือกลงชื่อเข้าใช้ด้วย Google กดปุ่ม «เข้าสู่ระบบ» เมื่อทำสำเร็จบนหน้าจอจะเห็นแสดงฟอร์มอีเมล/รหัสผ่าน ลิงก์สมัครสมาชิก และปุ่ม Google Sign-In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ลงชื่อเข้าใช้ด้วย Google (ผู้ป่วย) ในกลุ่ม 1. การเข้าสู่ระบบ. SSO ช่วยลดขั้นตอนล็อกอิน แต่ต้องสมัครด้วยอีเมลเดียวกันก่อน ขั้นตอนคือ: รอให้ปุ่ม Google โหลดเสร็จ กด «ลงชื่อเข้าใช้ด้วย Google» และเลือกบัญชี อนุญาตการเข้าถึงชื่อและอีเมล เมื่อทำสำเร็จบนหน้าจอจะเห็นปุ่ม Google แสดงใต้ฟอร์มอีเมล/รหัสผ่าน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กรณี Google ยังไม่มีบัญชี — ไปหน้าสมัคร ในกลุ่ม 1. การเข้าสู่ระบบ. ป้องกันบัญชีคนแปลกปลอม — ต้องลงทะเบียนก่อนใช้ Google ขั้นตอนคือ: ลองล็อกอินด้วย Google ที่ยังไม่เคยสมัคร อ่านข้อความแจ้งบนหน้าจอ กรอกแบบฟอร์มสมัครสมาชิกให้ครบ เมื่อทำสำเร็จบนหน้าจอจะเห็นระบบนำทางไปหน้าสมัครพร้อมข้อความแจ้ง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แดชบอร์ดหลักหลังเข้าสู่ระบบ ในกลุ่ม 2. แดชบอร์ดและเมนู. นี่คือศูนย์กลางการใช้งานประจำวันของผู้ป่วย ขั้นตอนคือ: เข้าสู่ระบบสำเร็จ — ระบบเปิดหน้า «หน้าหลัก» ตรวจสอบข้อความต้อนรับและนัดหมายที่กำลังจะมาถึง ใช้ปุ่มดำเนินการด่วนจองนัดหรือดู PHR เมื่อทำสำเร็จบนหน้าจอจะเห็นแสดงชื่อผู้ป่วย นัดใกล้ถึง และปุ่มลัด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การ์ดสถิติสุขภาพบนแดชบอร์ด ในกลุ่ม 2. แดชบอร์ดและเมนู. ช่วยให้ผู้ป่วยเห็นภาพรวมโดยไม่ต้องเปิดหลายเมนู ขั้นตอนคือ: เลื่อนดูการ์ดสรุปบนแดชบอร์ด ตรวจจำนวนนัดรอ/เสร็จ และข้อมูลสุขภาพล่าสุด เมื่อทำสำเร็จบนหน้าจอจะเห็นการ์ด KPI สุขภาพและนัดหมายอัปเดตจากฐานข้อมูลจริง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เมนูนำทาง 10 รายการ (Sidebar) ในกลุ่ม 2. แดชบอร์ดและเมนู. การนำทางต่อเนื่องทดสอบใน Group B — ไม่ต้องกลับหน้าหลักทุกครั้ง ขั้นตอนคือ: ดูแถบเมนูด้านซ้ายครบทุกรายการ คลิกเมนูเพื่อไปหน้าที่ต้องการ — รายการปัจจุบันไฮไลต์ เมื่อทำสำเร็จบนหน้าจอจะเห็นHome, นัดหมาย, AI, คลังความรู้, PHR, Timeline, แผนที่, ค้นหาแพทย์, PDPA, ตั้งค่า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หน้าหลัก (Dashboard) ในกลุ่ม 3. ทุกหน้าในระบบ (Group B). ยืนยันหน้าโหลดครบถ้วน ขั้นตอนคือ: คลิกเมนู «หน้าหลัก» เมื่อทำสำเร็จบนหน้าจอจะเห็นสรุปนัดและทางลัด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หน้านัดหมาย ในกลุ่ม 3. ทุกหน้าในระบบ (Group B). จุดเริ่มจองและติดตามนัด ขั้นตอนคือ: คลิกเมนู «นัดหมาย» เมื่อทำสำเร็จบนหน้าจอจะเห็นรายการนัดและปุ่มจอง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ปรึกษา AI Doctor ในกลุ่ม 3. ทุกหน้าในระบบ (Group B). ประเมินอาการเบื้องต้นก่อนพบแพทย์ ขั้นตอนคือ: คลิกเมนู «ปรึกษา AI» เมื่อทำสำเร็จบนหน้าจอจะเห็นช่องกรอกอาการและพื้นที่สนทนา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คลังความรู้สุขภาพ ในกลุ่ม 3. ทุกหน้าในระบบ (Group B). เนื้อหาที่แพทย์และผู้ดูแลอนุมัติ ขั้นตอนคือ: คลิกเมนู «คลังความรู้» เมื่อทำสำเร็จบนหน้าจอจะเห็นบทความและหมวดหมู่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ประวัติสุขภาพ PHR ในกลุ่ม 3. ทุกหน้าในระบบ (Group B). บันทึกข้อมูลส่วนตัวตาม PDPA ขั้นตอนคือ: คลิกเมนู «ประวัติสุขภาพ» เมื่อทำสำเร็จบนหน้าจอจะเห็นแท็บภาพรวม สัญญาณชีพ ยา แพ้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เส้นทางสุขภาพ (Timeline) ในกลุ่ม 3. ทุกหน้าในระบบ (Group B). ดูประวัติย้อนหลังตามเวลา ขั้นตอนคือ: คลิกเมนู «เส้นทางสุขภาพ» เมื่อทำสำเร็จบนหน้าจอจะเห็นไทม์ไลน์เหตุการณ์รักษา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แผนที่สถานพยาบาล ในกลุ่ม 3. ทุกหน้าในระบบ (Group B). ค้นหาสถานพยาบาลใกล้ตัว ขั้นตอนคือ: คลิกเมนู «แผนที่» เมื่อทำสำเร็จบนหน้าจอจะเห็นแผนที่และรายการสถานพยาบาล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ค้นหาแพทย์ ในกลุ่ม 3. ทุกหน้าในระบบ (Group B). เลือกแพทย์ก่อนจองนัด ขั้นตอนคือ: คลิกเมนู «ค้นหาแพทย์» เมื่อทำสำเร็จบนหน้าจอจะเห็นรายการแพทย์และตัวกรอง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PDPA และหนังสือแสดงเจตนา ในกลุ่ม 3. ทุกหน้าในระบบ (Group B). ควบคุมความเป็นส่วนตัวตามกฎหมาย ขั้นตอนคือ: คลิกเมนู «PDPA» เมื่อทำสำเร็จบนหน้าจอจะเห็นแท็บความยินยอมและ Living Will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ตั้งค่า ในกลุ่ม 3. ทุกหน้าในระบบ (Group B). ปรับประสบการณ์ใช้งาน ขั้นตอนคือ: คลิกเมนู «ตั้งค่า» เมื่อทำสำเร็จบนหน้าจอจะเห็นภาษา ธีม การแจ้งเตือน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โปรไฟล์ผู้ป่วย ในกลุ่ม 3. ทุกหน้าในระบบ (Group B). ตรวจสอบข้อมูลติดต่อ ขั้นตอนคือ: เปิดหน้าโปรไฟล์จากตั้งค่าหรือเมนูผู้ใช้ เมื่อทำสำเร็จบนหน้าจอจะเห็นชื่อ อีเมล โทรศัพท์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รายการนัดหมาย — แท็บกรอง ในกลุ่ม 4. จองและติดตามนัดหมาย. กรองตามสถานะได้ทันที ขั้นตอนคือ: เปิดเมนูนัดหมาย เลือกแท็บ Pending / All / Confirmed / Completed เมื่อทำสำเร็จบนหน้าจอจะเห็นรายการนัดพร้อมป้ายสถานะ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 «ทั้งหมด» ในกลุ่ม 4. จองและติดตามนัดหมาย. ภาพรวมนัดทั้งหมด ขั้นตอนคือ: คลิกแท็บ All เมื่อทำสำเร็จบนหน้าจอจะเห็นแสดงนัดทุกสถานะรวมกัน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ตัวช่วยจองนัด — ขั้นที่ 1 ในกลุ่ม 4. จองและติดตามนัดหมาย. Wizard ช่วยไม่พลาดขั้นตอน ขั้นตอนคือ: กด «จองนัดหมายใหม่» เลือกประเภทออนไลน์หรือที่โรงพยาบาล เมื่อทำสำเร็จบนหน้าจอจะเห็นตัวบอกขั้นตอน 3 ขั้น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กรอกอาการและความเร่งด่วน ในกลุ่ม 4. จองและติดตามนัดหมาย. ข้อมูลนี้ส่งให้แพทย์และ Pool ขั้นตอนคือ: กรอกอาการอย่างน้อย 10 ตัวอักษร เลือกระดับความเร่งด่วนและวันเวลา กดถัดไป เมื่อทำสำเร็จบนหน้าจอจะเห็นฟอร์มอาการครบ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เลือกแพทย์ ในกลุ่ม 4. จองและติดตามนัดหมาย. ไม่ระบุแพทย์จะเข้า Appointment Pool ขั้นตอนคือ: ดูการ์ดแพทย์ เลือกแพทย์หรือ «ให้ระบบจัดสรร» เมื่อทำสำเร็จบนหน้าจอจะเห็นรายการแพทย์พร้อมเวลาว่าง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ยืนยันแพทย์ที่เลือก ในกลุ่ม 4. จองและติดตามนัดหมาย. ลดความผิดพลาดก่อนส่งคำขอ ขั้นตอนคือ: คลิกการ์ดแพทย์ — มีกรอบเน้น กดถัดไป เมื่อทำสำเร็จบนหน้าจอจะเห็นแพทย์ที่เลือกชัดเจน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ส่งคำขอนัดสำเร็จ ในกลุ่ม 4. จองและติดตามนัดหมาย. สถานะเริ่ม pending หรือ in_pool ขั้นตอนคือ: ตรวจสอบสรุป กดยืนยันและส่ง เมื่อทำสำเร็จบนหน้าจอจะเห็นข้อความสำเร็จและรหัสนัด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รายการนัดหลังจอง ในกลุ่ม 4. จองและติดตามนัดหมาย. ติดตามสถานะแบบเรียลไทม์ ขั้นตอนคือ: กลับหน้านัดหมาย เมื่อทำสำเร็จบนหน้าจอจะเห็นนัดใหม่ปรากฏในรายการ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นัดหมายข้อมูลจริงจากระบบ ในกลุ่ม 4. จองและติดตามนัดหมาย. ไม่ใช่ข้อมูลจำลอง ขั้นตอนคือ: รีเฟรชหน้านัดหมาย เมื่อทำสำเร็จบนหน้าจอจะเห็นข้อมูลจาก PostgreSQL จริง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รายละเอียดรายการนัด ในกลุ่ม 4. จองและติดตามนัดหมาย. ใช้เมื่อนัด confirmed ขั้นตอนคือ: คลิกนัดที่ต้องการ เมื่อทำสำเร็จบนหน้าจอจะเห็นรายละเอียดและปุ่มเข้าร่วม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ปุ่มเข้าร่วมวิดีโอคอล ในกลุ่ม 5. วิดีโอคอลและ Lobby. ต้องอนุญาตกล้อง/ไมค์ ขั้นตอนคือ: เปิดนัดที่ยืนยันแล้ว กดเข้าร่วมประชุม เมื่อทำสำเร็จบนหน้าจอจะเห็นปุ่ม Join สีเขียว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รอแพทย์ในห้อง Lobby ในกลุ่ม 5. วิดีโอคอลและ Lobby. ความปลอดภัยแบบ Teams Lobby ขั้นตอนคือ: เข้าห้องก่อนแพทย์ เมื่อทำสำเร็จบนหน้าจอจะเห็นสถานะ waiting to be admitted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ห้อง Lobby ผู้ป่วย ในกลุ่ม 5. วิดีโอคอลและ Lobby. แพทย์ควบคุมการเข้าห้อง ขั้นตอนคือ: รอจนแพทย์กด Admit เมื่อทำสำเร็จบนหน้าจอจะเห็นหน้าจอรออนุมัติ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ห้องประชุม Jitsi (ผู้ป่วย) ในกลุ่ม 5. วิดีโอคอลและ Lobby. ปรึกษาแพทย์แบบเรียลไทม์ ขั้นตอนคือ: หลังได้รับอนุมัติจาก Lobby เมื่อทำสำเร็จบนหน้าจอจะเห็นวิดีโอ แชท แชร์หน้าจอ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ข้อตกลงก่อนเข้าห้อง (ผู้ป่วย) ในกลุ่ม 5. วิดีโอคอลและ Lobby. ตามมาตรฐาน telemedicine ขั้นตอนคือ: อ่านข้อตกลง กดยอมรับ เมื่อทำสำเร็จบนหน้าจอจะเห็นหน้าตกลงการใช้บริการ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หน้าก่อนเข้าห้อง — ลิงก์เชิญ ในกลุ่ม 5. วิดีโอคอลและ Lobby. รองรับ guest invite ขั้นตอนคือ: ตรวจชื่อแสดงและอุปกรณ์ กดเข้าร่วม เมื่อทำสำเร็จบนหน้าจอจะเห็นพรี-จอยน์พร้อมลิงก์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สรุปหลังจบการประชุม + AI ในกลุ่ม 5. วิดีโอคอลและ Lobby. ช่วยผู้ป่วยทบทวนคำแนะนำ ขั้นตอนคือ: จบการประชุม เมื่อทำสำเร็จบนหน้าจอจะเห็นสรุป AI และบันทึก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ผู้เชิญรอในห้อง (มุมผู้ป่วย) ในกลุ่ม 5. วิดีโอคอลและ Lobby. ญาติเข้าร่วมได้เมื่อแพทย์อนุมัติ ขั้นตอนคือ: มี guest ใน lobby เมื่อทำสำเร็จบนหน้าจอจะเห็นรายชื่อผู้รอ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 PHR ภาพรวม ในกลุ่ม 6. ประวัติสุขภาพ (PHR). ศูนย์กลางข้อมูลสุขภาพส่วนตัว ขั้นตอนคือ: เปิดเมนู PHR เมื่อทำสำเร็จบนหน้าจอจะเห็นแท็บและสรุปข้อมูล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สำรวจทุกแท็บ PHR ในกลุ่ม 6. ประวัติสุขภาพ (PHR). ข้อมูลครบในที่เดียว ขั้นตอนคือ: คลิกแต่ละแท็บ เมื่อทำสำเร็จบนหน้าจอจะเห็นสัญญาณชีพ ยา แพ้ แล็บ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แท็บสัญญาณชีพ ในกลุ่ม 6. ประวัติสุขภาพ (PHR). ติดตามความดัน ชีพจร ฯลฯ ขั้นตอนคือ: เลือกแท็บสัญญาณชีพ เมื่อทำสำเร็จบนหน้าจอจะเห็นตารางค่าสุขภาพ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เปิดฟอร์มบันทึกสัญญาณชีพ ในกลุ่ม 6. ประวัติสุขภาพ (PHR). บันทึกด้วยตนเอง ขั้นตอนคือ: กดเพิ่ม/บันทึกค่าใหม่ เมื่อทำสำเร็จบนหน้าจอจะเห็นฟอร์มกรอกค่า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กรอกค่าสัญญาณชีพ ในกลุ่ม 6. ประวัติสุขภาพ (PHR). ตรวจสอบความถูกต้อง ขั้นตอนคือ: กรอกตัวเลขครบ กดบันทึก เมื่อทำสำเร็จบนหน้าจอจะเห็นฟอร์มก่อนบันทึก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บันทึกสัญญาณชีพสำเร็จ ในกลุ่ม 6. ประวัติสุขภาพ (PHR). แพทย์เห็นเมื่อเปิดเวชระเบียน ขั้นตอนคือ: ยืนยันการบันทึก เมื่อทำสำเร็จบนหน้าจอจะเห็นค่าใหม่ในรายการ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แท็บยา ในกลุ่ม 6. ประวัติสุขภาพ (PHR). แจ้งแพทย์ก่อนจ่ายยาใหม่ ขั้นตอนคือ: เปิดแท็บยา เมื่อทำสำเร็จบนหน้าจอจะเห็นรายการยาประจำ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แท็บแพ้ยา/สาร ในกลุ่ม 6. ประวัติสุขภาพ (PHR). สำคัญต่อความปลอดภัย ขั้นตอนคือ: เปิดแท็บแพ้ เมื่อทำสำเร็จบนหน้าจอจะเห็นรายการสิ่งที่แพ้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แท็บผลแล็บ ในกลุ่ม 6. ประวัติสุขภาพ (PHR). อ้างอิงก่อนพบแพทย์ ขั้นตอนคือ: เปิดแท็บผลแล็บ เมื่อทำสำเร็จบนหน้าจอจะเห็นผลตรวจย้อนหลัง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ภาพรวม PHR พร้อมข้อมูล ในกลุ่ม 6. ประวัติสุขภาพ (PHR). ข้อมูล sync กับแพทย์ ขั้นตอนคือ: กลับแท็บภาพรวม เมื่อทำสำเร็จบนหน้าจอจะเห็นสรุปรวมทุกหมวด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 PDPA ในกลุ่ม 7. PDPA และหนังสือแสดงเจตนา. ตาม พ.ร.บ. คุ้มครองข้อมูล ขั้นตอนคือ: เปิดเมนู PDPA เมื่อทำสำเร็จบนหน้าจอจะเห็นนโยบายและสิทธิ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แท็บความยินยอม PDPA ในกลุ่ม 7. PDPA และหนังสือแสดงเจตนา. ควบคุมการแชร์ข้อมูล ขั้นตอนคือ: สลับแท็บยินยอม เมื่อทำสำเร็จบนหน้าจอจะเห็นรายการ consent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สวิตช์ความเป็นส่วนตัว ในกลุ่ม 7. PDPA และหนังสือแสดงเจตนา. เปลี่ยนได้ตลอด ขั้นตอนคือ: เปิด/ปิดการแชร์ เมื่อทำสำเร็จบนหน้าจอจะเห็นtoggle ต่อหัวข้อ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หนังสือแสดงเจตนา — เริ่มต้น ในกลุ่ม 7. PDPA และหนังสือแสดงเจตนา. บันทึกเจตจำนงการรักษา ขั้นตอนคือ: เลือกทำ Living Will เมื่อทำสำเร็จบนหน้าจอจะเห็นตัวช่วย 3 ขั้น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ขั้น 1 — ผู้แทน ในกลุ่ม 7. PDPA และหนังสือแสดงเจตนา. ใช้เมื่อไม่สามารถตัดสินใจเอง ขั้นตอนคือ: กรอกผู้แทนโดยชอบธรรม เมื่อทำสำเร็จบนหน้าจอจะเห็นรายชื่อผู้ติดต่อ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ขั้น 2 — การรักษา ในกลุ่ม 7. PDPA และหนังสือแสดงเจตนา. ชัดเจนตามความต้องการ ขั้นตอนคือ: เลือกแนวทางการรักษา เมื่อทำสำเร็จบนหน้าจอจะเห็นตัวเลือกการรักษา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ความชอบการรักษา ในกลุ่ม 7. PDPA และหนังสือแสดงเจตนา. ลดความคลุมเครือ ขั้นตอนคือ: ระบุรายละเอียด เมื่อทำสำเร็จบนหน้าจอจะเห็นค่าที่เลือกแล้ว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ขั้น 3 — ลายเซ็น ในกลุ่ม 7. PDPA และหนังสือแสดงเจตนา. ยืนยันความถูกต้อง ขั้นตอนคือ: ลงลายเซ็นดิจิทัล เมื่อทำสำเร็จบนหน้าจอจะเห็นพื้นที่เซ็น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บันทึก Living Will สำเร็จ ในกลุ่ม 7. PDPA และหนังสือแสดงเจตนา. เก็บในฐานข้อมูลปลอดภัย ขั้นตอนคือ: กดบันทึก เมื่อทำสำเร็จบนหน้าจอจะเห็นข้อความยืนยัน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นัดหมายจากมุม PDPA flow ในกลุ่ม 7. PDPA และหนังสือแสดงเจตนา. workflow ต่อเนื่อง ขั้นตอนคือ: กลับตรวจนัด เมื่อทำสำเร็จบนหน้าจอจะเห็นเชื่อมโยงกับเมนูนัด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AI Doctor — หน้าแรก ในกลุ่ม 8. AI, Timeline, แผนที่, ค้นหาแพทย์. ไม่ใช่การวินิจฉัย — คำแนะนำเบื้องต้น ขั้นตอนคือ: เปิดปรึกษา AI เมื่อทำสำเร็จบนหน้าจอจะเห็นช่องแชท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กรอกอาการใน AI ในกลุ่ม 8. AI, Timeline, แผนที่, ค้นหาแพทย์. Gemini วิเคราะห์อาการ ขั้นตอนคือ: พิมพ์อาการ เมื่อทำสำเร็จบนหน้าจอจะเห็นข้อความในช่อง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คำตอบจาก AI ในกลุ่ม 8. AI, Timeline, แผนที่, ค้นหาแพทย์. ควรพบแพทย์หากรุนแรง ขั้นตอนคือ: รอคำตอบ เมื่อทำสำเร็จบนหน้าจอจะเห็นคำแนะนำและคำเตือน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ตรวจสอบคำตอบ AI ในกลุ่ม 8. AI, Timeline, แผนที่, ค้นหาแพทย์. บันทึกหรือจองนัดต่อ ขั้นตอนคือ: อ่านคำเตือน เมื่อทำสำเร็จบนหน้าจอจะเห็นข้อความครบ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เส้นทางสุขภาพ ในกลุ่ม 8. AI, Timeline, แผนที่, ค้นหาแพทย์. นัด ยา แล็บ รวมกัน ขั้นตอนคือ: เปิด Timeline เมื่อทำสำเร็จบนหน้าจอจะเห็นเหตุการณ์เรียงเวลา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กรอง Timeline ในกลุ่ม 8. AI, Timeline, แผนที่, ค้นหาแพทย์. ค้นหาเร็ว ขั้นตอนคือ: เลือกประเภทกรอง เมื่อทำสำเร็จบนหน้าจอจะเห็นเฉพาะประเภทที่เลือก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เลื่อนดู Timeline ในกลุ่ม 8. AI, Timeline, แผนที่, ค้นหาแพทย์. ประวัติยาว ขั้นตอนคือ: เลื่อนลง เมื่อทำสำเร็จบนหน้าจอจะเห็นเหตุการณ์เก่า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แผนที่สถานพยาบาล ในกลุ่ม 8. AI, Timeline, แผนที่, ค้นหาแพทย์. หาโรงพยาบาลใกล้ ขั้นตอนคือ: เปิดแผนที่ เมื่อทำสำเร็จบนหน้าจอจะเห็นแผนที่และรายการ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ค้นหาบนแผนที่ ในกลุ่ม 8. AI, Timeline, แผนที่, ค้นหาแพทย์. เช่น โรงพยาบาล + เขต ขั้นตอนคือ: พิมพ์คำค้น เมื่อทำสำเร็จบนหน้าจอจะเห็นผลค้นหา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ผลค้นหาแผนที่ ในกลุ่ม 8. AI, Timeline, แผนที่, ค้นหาแพทย์. นำทางหรือโทร ขั้นตอนคือ: เลือกสถานที่ เมื่อทำสำเร็จบนหน้าจอจะเห็นหมุดบนแผนที่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ค้นหาแพทย์ — รายการ ในกลุ่ม 8. AI, Timeline, แผนที่, ค้นหาแพทย์. ดูความเชี่ยวชาญ ขั้นตอนคือ: เปิดค้นหาแพทย์ เมื่อทำสำเร็จบนหน้าจอจะเห็นการ์ดแพทย์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กรองความเชี่ยวชาญ ในกลุ่ม 8. AI, Timeline, แผนที่, ค้นหาแพทย์. จำกัดผลลัพธ์ ขั้นตอนคือ: เลือกสาขา เมื่อทำสำเร็จบนหน้าจอจะเห็นรายการกรองแล้ว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รายละเอียดแพทย์ ในกลุ่ม 8. AI, Timeline, แผนที่, ค้นหาแพทย์. ก่อนจองนัด ขั้นตอนคือ: คลิกการ์ดแพทย์ เมื่อทำสำเร็จบนหน้าจอจะเห็นโปรไฟล์แพทย์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คลังความรู้ — รายการ ในกลุ่ม 9. คลังความรู้และการแจ้งเตือน. เนื้อหาอนุมัติแล้ว ขั้นตอนคือ: เปิดคลังความรู้ เมื่อทำสำเร็จบนหน้าจอจะเห็นบทความ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อ่านบทความ ในกลุ่ม 9. คลังความรู้และการแจ้งเตือน. อ่านก่อนพบแพทย์ ขั้นตอนคือ: คลิกบทความ เมื่อทำสำเร็จบนหน้าจอจะเห็นเนื้อหาเต็ม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AI จาก Group H ในกลุ่ม 9. คลังความรู้และการแจ้งเตือน. ยืนยัน cross-page ขั้นตอนคือ: ทดสอบ AI อีกครั้ง เมื่อทำสำเร็จบนหน้าจอจะเห็นหน้า AI สมบูรณ์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การแจ้งเตือนผู้ป่วย ในกลุ่ม 9. คลังความรู้และการแจ้งเตือน. นัดใหม่ แพทย์รับเรื่อง ขั้นตอนคือ: คลิกกระดิ่ง เมื่อทำสำเร็จบนหน้าจอจะเห็นรายการแจ้งเตือน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นัดหมายว่าง (เริ่มต้น) ในกลุ่ม 10. เวิร์กโฟลว์ครบวงจร. จุดเริ่ม lifecycle ขั้นตอนคือ: ผู้ใช้ใหม่ เมื่อทำสำเร็จบนหน้าจอจะเห็นยังไม่มีนัด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จองนัด — workflow ในกลุ่ม 10. เวิร์กโฟลว์ครบวงจร. ทดสอบ end-to-end ขั้นตอนคือ: WF05 จองขั้น 1 เมื่อทำสำเร็จบนหน้าจอจะเห็นตัวช่วยจอง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นัดยืนยันแล้ว ในกลุ่ม 10. เวิร์กโฟลว์ครบวงจร. พร้อมวิดีโอคอล ขั้นตอนคือ: หลังแพทย์/แอดมินยืนยัน เมื่อทำสำเร็จบนหน้าจอจะเห็นสถานะ confirmed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ความปลอดภัย — แยกบทบาท ในกลุ่ม 10. เวิร์กโฟลว์ครบวงจร. OWASP / JWT role ขั้นตอนคือ: ผู้ป่วยไม่เห็นเมนูแพทย์ เมื่อทำสำเร็จบนหน้าจอจะเห็นข้อความปฏิเสธสิทธิ์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สรุปคู่มือ คู่มือการใช้งาน — พอร์ทัลผู้ป่วย ครบ 76 ขั้นตอนพร้อมภาพจาก UI tests ขอบคุณครับ/ค่ะ มีคำถามเพิ่มเติมไหมครับ/คะ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ชื่อเรื่อง — Isara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Isara Anywhere</a:t>
            </a:r>
            <a:br/>
            <a:r>
              <a:t>Patient Portal</a:t>
            </a:r>
            <a:br/>
            <a:r>
              <a:t>v1.7.32 | 23 พฤษภาคม 2569</a:t>
            </a:r>
            <a:br/>
            <a:r>
              <a:t>แบบอักษร FC Iconic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ตารางภาพรวมระบบ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URL: https://izara-patient-portal-dev-testing-724889190329.asia-southeast1.run.app</a:t>
            </a:r>
          </a:p>
          <a:p>
            <a:pPr>
              <a:defRPr sz="1800" b="0">
                <a:latin typeface="FC Iconic"/>
              </a:defRPr>
            </a:pPr>
            <a:r>
              <a:t>สไลด์มีภาพจาก UI tests: 76 รายการ</a:t>
            </a:r>
          </a:p>
          <a:p>
            <a:pPr>
              <a:defRPr sz="1800" b="0">
                <a:latin typeface="FC Iconic"/>
              </a:defRPr>
            </a:pPr>
            <a:r>
              <a:t>รูปแบบ: หนึ่งภาพต่อหนึ่งสไลด์ + คำอธิบายขั้นตอน</a:t>
            </a:r>
          </a:p>
          <a:p>
            <a:pPr>
              <a:defRPr sz="1800" b="0">
                <a:latin typeface="FC Iconic"/>
              </a:defRPr>
            </a:pPr>
            <a:r>
              <a:t>อ้างอิง Processes/ และ GATE0 workflows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หน้าเข้าสู่ระบบผู้ป่วย</a:t>
            </a:r>
          </a:p>
        </p:txBody>
      </p:sp>
      <p:pic>
        <p:nvPicPr>
          <p:cNvPr id="3" name="Picture 2" descr="WF01-patient-login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779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URL พอร์ทัลผู้ป่วยในเบราว์เซอร์ Chrome หรือ Edge</a:t>
            </a:r>
          </a:p>
          <a:p>
            <a:pPr>
              <a:defRPr sz="1600" b="0">
                <a:latin typeface="FC Iconic"/>
              </a:defRPr>
            </a:pPr>
            <a:r>
              <a:t>2. กรอกอีเมลและรหัสผ่าน หรือเลือกลงชื่อเข้าใช้ด้วย Google</a:t>
            </a:r>
          </a:p>
          <a:p>
            <a:pPr>
              <a:defRPr sz="1600" b="0">
                <a:latin typeface="FC Iconic"/>
              </a:defRPr>
            </a:pPr>
            <a:r>
              <a:t>3. กดปุ่ม «เข้าสู่ระบบ»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ลงชื่อเข้าใช้ด้วย Google (ผู้ป่วย)</a:t>
            </a:r>
          </a:p>
        </p:txBody>
      </p:sp>
      <p:pic>
        <p:nvPicPr>
          <p:cNvPr id="3" name="Picture 2" descr="patient-login-with-goo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รอให้ปุ่ม Google โหลดเสร็จ</a:t>
            </a:r>
          </a:p>
          <a:p>
            <a:pPr>
              <a:defRPr sz="1600" b="0">
                <a:latin typeface="FC Iconic"/>
              </a:defRPr>
            </a:pPr>
            <a:r>
              <a:t>2. กด «ลงชื่อเข้าใช้ด้วย Google» และเลือกบัญชี</a:t>
            </a:r>
          </a:p>
          <a:p>
            <a:pPr>
              <a:defRPr sz="1600" b="0">
                <a:latin typeface="FC Iconic"/>
              </a:defRPr>
            </a:pPr>
            <a:r>
              <a:t>3. อนุญาตการเข้าถึงชื่อและอีเมล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กรณี Google ยังไม่มีบัญชี — ไปหน้าสมัคร</a:t>
            </a:r>
          </a:p>
        </p:txBody>
      </p:sp>
      <p:pic>
        <p:nvPicPr>
          <p:cNvPr id="3" name="Picture 2" descr="sso-redirect-to-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ลองล็อกอินด้วย Google ที่ยังไม่เคยสมัคร</a:t>
            </a:r>
          </a:p>
          <a:p>
            <a:pPr>
              <a:defRPr sz="1600" b="0">
                <a:latin typeface="FC Iconic"/>
              </a:defRPr>
            </a:pPr>
            <a:r>
              <a:t>2. อ่านข้อความแจ้งบนหน้าจอ</a:t>
            </a:r>
          </a:p>
          <a:p>
            <a:pPr>
              <a:defRPr sz="1600" b="0">
                <a:latin typeface="FC Iconic"/>
              </a:defRPr>
            </a:pPr>
            <a:r>
              <a:t>3. กรอกแบบฟอร์มสมัครสมาชิกให้ครบ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แดชบอร์ดหลักหลังเข้าสู่ระบบ</a:t>
            </a:r>
          </a:p>
        </p:txBody>
      </p:sp>
      <p:pic>
        <p:nvPicPr>
          <p:cNvPr id="3" name="Picture 2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เข้าสู่ระบบสำเร็จ — ระบบเปิดหน้า «หน้าหลัก»</a:t>
            </a:r>
          </a:p>
          <a:p>
            <a:pPr>
              <a:defRPr sz="1600" b="0">
                <a:latin typeface="FC Iconic"/>
              </a:defRPr>
            </a:pPr>
            <a:r>
              <a:t>2. ตรวจสอบข้อความต้อนรับและนัดหมายที่กำลังจะมาถึง</a:t>
            </a:r>
          </a:p>
          <a:p>
            <a:pPr>
              <a:defRPr sz="1600" b="0">
                <a:latin typeface="FC Iconic"/>
              </a:defRPr>
            </a:pPr>
            <a:r>
              <a:t>3. ใช้ปุ่มดำเนินการด่วนจองนัดหรือดู PHR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การ์ดสถิติสุขภาพบนแดชบอร์ด</a:t>
            </a:r>
          </a:p>
        </p:txBody>
      </p:sp>
      <p:pic>
        <p:nvPicPr>
          <p:cNvPr id="3" name="Picture 2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เลื่อนดูการ์ดสรุปบนแดชบอร์ด</a:t>
            </a:r>
          </a:p>
          <a:p>
            <a:pPr>
              <a:defRPr sz="1600" b="0">
                <a:latin typeface="FC Iconic"/>
              </a:defRPr>
            </a:pPr>
            <a:r>
              <a:t>2. ตรวจจำนวนนัดรอ/เสร็จ และข้อมูลสุขภาพล่าสุด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เมนูนำทาง 10 รายการ (Sidebar)</a:t>
            </a:r>
          </a:p>
        </p:txBody>
      </p:sp>
      <p:pic>
        <p:nvPicPr>
          <p:cNvPr id="3" name="Picture 2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ดูแถบเมนูด้านซ้ายครบทุกรายการ</a:t>
            </a:r>
          </a:p>
          <a:p>
            <a:pPr>
              <a:defRPr sz="1600" b="0">
                <a:latin typeface="FC Iconic"/>
              </a:defRPr>
            </a:pPr>
            <a:r>
              <a:t>2. คลิกเมนูเพื่อไปหน้าที่ต้องการ — รายการปัจจุบันไฮไลต์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หน้าหลัก (Dashboard)</a:t>
            </a:r>
          </a:p>
        </p:txBody>
      </p:sp>
      <p:pic>
        <p:nvPicPr>
          <p:cNvPr id="3" name="Picture 2" descr="B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«หน้าหลัก»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หน้านัดหมาย</a:t>
            </a:r>
          </a:p>
        </p:txBody>
      </p:sp>
      <p:pic>
        <p:nvPicPr>
          <p:cNvPr id="3" name="Picture 2" descr="B02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«นัดหมาย»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ปรึกษา AI Doctor</a:t>
            </a:r>
          </a:p>
        </p:txBody>
      </p:sp>
      <p:pic>
        <p:nvPicPr>
          <p:cNvPr id="3" name="Picture 2" descr="B03-ai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«ปรึกษา AI»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คลังความรู้สุขภาพ</a:t>
            </a:r>
          </a:p>
        </p:txBody>
      </p:sp>
      <p:pic>
        <p:nvPicPr>
          <p:cNvPr id="3" name="Picture 2" descr="B04-health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023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«คลังความรู้»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ประวัติสุขภาพ PHR</a:t>
            </a:r>
          </a:p>
        </p:txBody>
      </p:sp>
      <p:pic>
        <p:nvPicPr>
          <p:cNvPr id="3" name="Picture 2" descr="B05-p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«ประวัติสุขภาพ»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เส้นทางสุขภาพ (Timeline)</a:t>
            </a:r>
          </a:p>
        </p:txBody>
      </p:sp>
      <p:pic>
        <p:nvPicPr>
          <p:cNvPr id="3" name="Picture 2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«เส้นทางสุขภาพ»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แผนที่สถานพยาบาล</a:t>
            </a:r>
          </a:p>
        </p:txBody>
      </p:sp>
      <p:pic>
        <p:nvPicPr>
          <p:cNvPr id="3" name="Picture 2" descr="B07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«แผนที่»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ค้นหาแพทย์</a:t>
            </a:r>
          </a:p>
        </p:txBody>
      </p:sp>
      <p:pic>
        <p:nvPicPr>
          <p:cNvPr id="3" name="Picture 2" descr="B08-find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«ค้นหาแพทย์»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PDPA และหนังสือแสดงเจตนา</a:t>
            </a:r>
          </a:p>
        </p:txBody>
      </p:sp>
      <p:pic>
        <p:nvPicPr>
          <p:cNvPr id="3" name="Picture 2" descr="B09-pd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«PDPA»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ตั้งค่า</a:t>
            </a:r>
          </a:p>
        </p:txBody>
      </p:sp>
      <p:pic>
        <p:nvPicPr>
          <p:cNvPr id="3" name="Picture 2" descr="B10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คลิกเมนู «ตั้งค่า»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โปรไฟล์ผู้ป่วย</a:t>
            </a:r>
          </a:p>
        </p:txBody>
      </p:sp>
      <p:pic>
        <p:nvPicPr>
          <p:cNvPr id="3" name="Picture 2" descr="B11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เปิดหน้าโปรไฟล์จากตั้งค่าหรือเมนูผู้ใช้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รายการนัดหมาย — แท็บกรอง</a:t>
            </a:r>
          </a:p>
        </p:txBody>
      </p:sp>
      <p:pic>
        <p:nvPicPr>
          <p:cNvPr id="3" name="Picture 2" descr="D01-appointment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เปิดเมนูนัดหมาย</a:t>
            </a:r>
          </a:p>
          <a:p>
            <a:pPr>
              <a:defRPr sz="1600" b="0">
                <a:latin typeface="FC Iconic"/>
              </a:defRPr>
            </a:pPr>
            <a:r>
              <a:t>2. เลือกแท็บ Pending / All / Confirmed / Completed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 «ทั้งหมด»</a:t>
            </a:r>
          </a:p>
        </p:txBody>
      </p:sp>
      <p:pic>
        <p:nvPicPr>
          <p:cNvPr id="3" name="Picture 2" descr="D02-all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คลิกแท็บ All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ตัวช่วยจองนัด — ขั้นที่ 1</a:t>
            </a:r>
          </a:p>
        </p:txBody>
      </p:sp>
      <p:pic>
        <p:nvPicPr>
          <p:cNvPr id="3" name="Picture 2" descr="D03-booking-wi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61023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 «จองนัดหมายใหม่»</a:t>
            </a:r>
          </a:p>
          <a:p>
            <a:pPr>
              <a:defRPr sz="1600" b="0">
                <a:latin typeface="FC Iconic"/>
              </a:defRPr>
            </a:pPr>
            <a:r>
              <a:t>2. เลือกประเภทออนไลน์หรือที่โรงพยาบาล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กรอกอาการและความเร่งด่วน</a:t>
            </a:r>
          </a:p>
        </p:txBody>
      </p:sp>
      <p:pic>
        <p:nvPicPr>
          <p:cNvPr id="3" name="Picture 2" descr="D04-symptoms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77401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กรอกอาการอย่างน้อย 10 ตัวอักษร</a:t>
            </a:r>
          </a:p>
          <a:p>
            <a:pPr>
              <a:defRPr sz="1600" b="0">
                <a:latin typeface="FC Iconic"/>
              </a:defRPr>
            </a:pPr>
            <a:r>
              <a:t>2. เลือกระดับความเร่งด่วนและวันเวลา</a:t>
            </a:r>
          </a:p>
          <a:p>
            <a:pPr>
              <a:defRPr sz="1600" b="0">
                <a:latin typeface="FC Iconic"/>
              </a:defRPr>
            </a:pPr>
            <a:r>
              <a:t>3. กดถัดไป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เลือกแพทย์</a:t>
            </a:r>
          </a:p>
        </p:txBody>
      </p:sp>
      <p:pic>
        <p:nvPicPr>
          <p:cNvPr id="3" name="Picture 2" descr="D05-doctor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3645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2. เลือกแพทย์หรือ «ให้ระบบจัดสรร»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ยืนยันแพทย์ที่เลือก</a:t>
            </a:r>
          </a:p>
        </p:txBody>
      </p:sp>
      <p:pic>
        <p:nvPicPr>
          <p:cNvPr id="3" name="Picture 2" descr="D06-doctor-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คลิกการ์ดแพทย์ — มีกรอบเน้น</a:t>
            </a:r>
          </a:p>
          <a:p>
            <a:pPr>
              <a:defRPr sz="1600" b="0">
                <a:latin typeface="FC Iconic"/>
              </a:defRPr>
            </a:pPr>
            <a:r>
              <a:t>2. กดถัดไป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ส่งคำขอนัดสำเร็จ</a:t>
            </a:r>
          </a:p>
        </p:txBody>
      </p:sp>
      <p:pic>
        <p:nvPicPr>
          <p:cNvPr id="3" name="Picture 2" descr="D06-doctor-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ตรวจสอบสรุป</a:t>
            </a:r>
          </a:p>
          <a:p>
            <a:pPr>
              <a:defRPr sz="1600" b="0">
                <a:latin typeface="FC Iconic"/>
              </a:defRPr>
            </a:pPr>
            <a:r>
              <a:t>2. กดยืนยันและส่ง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รายการนัดหลังจอง</a:t>
            </a:r>
          </a:p>
        </p:txBody>
      </p:sp>
      <p:pic>
        <p:nvPicPr>
          <p:cNvPr id="3" name="Picture 2" descr="D08-appointments-after-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กลับหน้านัดหมาย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นัดหมายข้อมูลจริงจากระบบ</a:t>
            </a:r>
          </a:p>
        </p:txBody>
      </p:sp>
      <p:pic>
        <p:nvPicPr>
          <p:cNvPr id="3" name="Picture 2" descr="E13-appointments-real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รีเฟรชหน้านัดหมาย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รายละเอียดรายการนัด</a:t>
            </a:r>
          </a:p>
        </p:txBody>
      </p:sp>
      <p:pic>
        <p:nvPicPr>
          <p:cNvPr id="3" name="Picture 2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881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คลิกนัดที่ต้องการ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ปุ่มเข้าร่วมวิดีโอคอล</a:t>
            </a:r>
          </a:p>
        </p:txBody>
      </p:sp>
      <p:pic>
        <p:nvPicPr>
          <p:cNvPr id="3" name="Picture 2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881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เปิดนัดที่ยืนยันแล้ว</a:t>
            </a:r>
          </a:p>
          <a:p>
            <a:pPr>
              <a:defRPr sz="1600" b="0">
                <a:latin typeface="FC Iconic"/>
              </a:defRPr>
            </a:pPr>
            <a:r>
              <a:t>2. กดเข้าร่วมประชุม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รอแพทย์ในห้อง Lobby</a:t>
            </a:r>
          </a:p>
        </p:txBody>
      </p:sp>
      <p:pic>
        <p:nvPicPr>
          <p:cNvPr id="3" name="Picture 2" descr="E10c0-patient-waiting-before-h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1424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เข้าห้องก่อนแพทย์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ห้อง Lobby ผู้ป่วย</a:t>
            </a:r>
          </a:p>
        </p:txBody>
      </p:sp>
      <p:pic>
        <p:nvPicPr>
          <p:cNvPr id="3" name="Picture 2" descr="E10d-patient-meeting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รอจนแพทย์กด Admit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ห้องประชุม Jitsi (ผู้ป่วย)</a:t>
            </a:r>
          </a:p>
        </p:txBody>
      </p:sp>
      <p:pic>
        <p:nvPicPr>
          <p:cNvPr id="3" name="Picture 2" descr="E10d-patient-jitsi-m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หลังได้รับอนุมัติจาก Lobby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ข้อตกลงก่อนเข้าห้อง (ผู้ป่วย)</a:t>
            </a:r>
          </a:p>
        </p:txBody>
      </p:sp>
      <p:pic>
        <p:nvPicPr>
          <p:cNvPr id="3" name="Picture 2" descr="WF15a-patient-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อ่านข้อตกลง</a:t>
            </a:r>
          </a:p>
          <a:p>
            <a:pPr>
              <a:defRPr sz="1600" b="0">
                <a:latin typeface="FC Iconic"/>
              </a:defRPr>
            </a:pPr>
            <a:r>
              <a:t>2. กดยอมรับ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หน้าก่อนเข้าห้อง — ลิงก์เชิญ</a:t>
            </a:r>
          </a:p>
        </p:txBody>
      </p:sp>
      <p:pic>
        <p:nvPicPr>
          <p:cNvPr id="3" name="Picture 2" descr="WF15a-patient-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ตรวจชื่อแสดงและอุปกรณ์</a:t>
            </a:r>
          </a:p>
          <a:p>
            <a:pPr>
              <a:defRPr sz="1600" b="0">
                <a:latin typeface="FC Iconic"/>
              </a:defRPr>
            </a:pPr>
            <a:r>
              <a:t>2. กดเข้าร่วม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สรุปหลังจบการประชุม + AI</a:t>
            </a:r>
          </a:p>
        </p:txBody>
      </p:sp>
      <p:pic>
        <p:nvPicPr>
          <p:cNvPr id="3" name="Picture 2" descr="WF16-meeting-ended-ai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จบการประชุม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ผู้เชิญรอในห้อง (มุมผู้ป่วย)</a:t>
            </a:r>
          </a:p>
        </p:txBody>
      </p:sp>
      <p:pic>
        <p:nvPicPr>
          <p:cNvPr id="3" name="Picture 2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881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มี guest ใน lobby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 PHR ภาพรวม</a:t>
            </a:r>
          </a:p>
        </p:txBody>
      </p:sp>
      <p:pic>
        <p:nvPicPr>
          <p:cNvPr id="3" name="Picture 2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เปิดเมนู PHR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สำรวจทุกแท็บ PHR</a:t>
            </a:r>
          </a:p>
        </p:txBody>
      </p:sp>
      <p:pic>
        <p:nvPicPr>
          <p:cNvPr id="3" name="Picture 2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คลิกแต่ละแท็บ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แท็บสัญญาณชีพ</a:t>
            </a:r>
          </a:p>
        </p:txBody>
      </p:sp>
      <p:pic>
        <p:nvPicPr>
          <p:cNvPr id="3" name="Picture 2" descr="F03-vital-sign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เลือกแท็บสัญญาณชีพ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เปิดฟอร์มบันทึกสัญญาณชีพ</a:t>
            </a:r>
          </a:p>
        </p:txBody>
      </p:sp>
      <p:pic>
        <p:nvPicPr>
          <p:cNvPr id="3" name="Picture 2" descr="F04-vital-form-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กดเพิ่ม/บันทึกค่าใหม่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กรอกค่าสัญญาณชีพ</a:t>
            </a:r>
          </a:p>
        </p:txBody>
      </p:sp>
      <p:pic>
        <p:nvPicPr>
          <p:cNvPr id="3" name="Picture 2" descr="F05-vitals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กรอกตัวเลขครบ</a:t>
            </a:r>
          </a:p>
          <a:p>
            <a:pPr>
              <a:defRPr sz="1600" b="0">
                <a:latin typeface="FC Iconic"/>
              </a:defRPr>
            </a:pPr>
            <a:r>
              <a:t>2. กดบันทึก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บันทึกสัญญาณชีพสำเร็จ</a:t>
            </a:r>
          </a:p>
        </p:txBody>
      </p:sp>
      <p:pic>
        <p:nvPicPr>
          <p:cNvPr id="3" name="Picture 2" descr="F06-vitals-sa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ยืนยันการบันทึก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แท็บยา</a:t>
            </a:r>
          </a:p>
        </p:txBody>
      </p:sp>
      <p:pic>
        <p:nvPicPr>
          <p:cNvPr id="3" name="Picture 2" descr="F07-medication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2962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เปิดแท็บยา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แท็บแพ้ยา/สาร</a:t>
            </a:r>
          </a:p>
        </p:txBody>
      </p:sp>
      <p:pic>
        <p:nvPicPr>
          <p:cNvPr id="3" name="Picture 2" descr="F08-allergie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เปิดแท็บแพ้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แท็บผลแล็บ</a:t>
            </a:r>
          </a:p>
        </p:txBody>
      </p:sp>
      <p:pic>
        <p:nvPicPr>
          <p:cNvPr id="3" name="Picture 2" descr="F09-lab-result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เปิดแท็บผลแล็บ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ภาพรวม PHR พร้อมข้อมูล</a:t>
            </a:r>
          </a:p>
        </p:txBody>
      </p:sp>
      <p:pic>
        <p:nvPicPr>
          <p:cNvPr id="3" name="Picture 2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5775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กลับแท็บภาพรวม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 PDPA</a:t>
            </a:r>
          </a:p>
        </p:txBody>
      </p:sp>
      <p:pic>
        <p:nvPicPr>
          <p:cNvPr id="3" name="Picture 2" descr="B09-pd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เปิดเมนู PDPA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แท็บความยินยอม PDPA</a:t>
            </a:r>
          </a:p>
        </p:txBody>
      </p:sp>
      <p:pic>
        <p:nvPicPr>
          <p:cNvPr id="3" name="Picture 2" descr="G02-pdpa-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35511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สลับแท็บยินยอม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สวิตช์ความเป็นส่วนตัว</a:t>
            </a:r>
          </a:p>
        </p:txBody>
      </p:sp>
      <p:pic>
        <p:nvPicPr>
          <p:cNvPr id="3" name="Picture 2" descr="G03-privacy-tog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38031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เปิด/ปิดการแชร์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หนังสือแสดงเจตนา — เริ่มต้น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เลือกทำ Living Will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ขั้น 1 — ผู้แทน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กรอกผู้แทนโดยชอบธรรม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ขั้น 2 — การรักษา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เลือกแนวทางการรักษา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ความชอบการรักษา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ระบุรายละเอียด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ขั้น 3 — ลายเซ็น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ลงลายเซ็นดิจิทัล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บันทึก Living Will สำเร็จ</a:t>
            </a:r>
          </a:p>
        </p:txBody>
      </p:sp>
      <p:pic>
        <p:nvPicPr>
          <p:cNvPr id="3" name="Picture 2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38266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กดบันทึก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นัดหมายจากมุม PDPA flow</a:t>
            </a:r>
          </a:p>
        </p:txBody>
      </p:sp>
      <p:pic>
        <p:nvPicPr>
          <p:cNvPr id="3" name="Picture 2" descr="B02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กลับตรวจนัด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AI Doctor — หน้าแรก</a:t>
            </a:r>
          </a:p>
        </p:txBody>
      </p:sp>
      <p:pic>
        <p:nvPicPr>
          <p:cNvPr id="3" name="Picture 2" descr="B03-ai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เปิดปรึกษา AI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กรอกอาการใน AI</a:t>
            </a:r>
          </a:p>
        </p:txBody>
      </p:sp>
      <p:pic>
        <p:nvPicPr>
          <p:cNvPr id="3" name="Picture 2" descr="J02-symptom-ty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พิมพ์อาการ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คำตอบจาก AI</a:t>
            </a:r>
          </a:p>
        </p:txBody>
      </p:sp>
      <p:pic>
        <p:nvPicPr>
          <p:cNvPr id="3" name="Picture 2" descr="J03-ai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รอคำตอบ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ตรวจสอบคำตอบ AI</a:t>
            </a:r>
          </a:p>
        </p:txBody>
      </p:sp>
      <p:pic>
        <p:nvPicPr>
          <p:cNvPr id="3" name="Picture 2" descr="J03-ai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อ่านคำเตือน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เส้นทางสุขภาพ</a:t>
            </a:r>
          </a:p>
        </p:txBody>
      </p:sp>
      <p:pic>
        <p:nvPicPr>
          <p:cNvPr id="3" name="Picture 2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Timeline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กรอง Timeline</a:t>
            </a:r>
          </a:p>
        </p:txBody>
      </p:sp>
      <p:pic>
        <p:nvPicPr>
          <p:cNvPr id="3" name="Picture 2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เลือกประเภทกรอง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เลื่อนดู Timeline</a:t>
            </a:r>
          </a:p>
        </p:txBody>
      </p:sp>
      <p:pic>
        <p:nvPicPr>
          <p:cNvPr id="3" name="Picture 2" descr="J07-timeline-scro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เลื่อนลง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แผนที่สถานพยาบาล</a:t>
            </a:r>
          </a:p>
        </p:txBody>
      </p:sp>
      <p:pic>
        <p:nvPicPr>
          <p:cNvPr id="3" name="Picture 2" descr="J08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เปิดแผนที่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ค้นหาบนแผนที่</a:t>
            </a:r>
          </a:p>
        </p:txBody>
      </p:sp>
      <p:pic>
        <p:nvPicPr>
          <p:cNvPr id="3" name="Picture 2" descr="J09-map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พิมพ์คำค้น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ผลค้นหาแผนที่</a:t>
            </a:r>
          </a:p>
        </p:txBody>
      </p:sp>
      <p:pic>
        <p:nvPicPr>
          <p:cNvPr id="3" name="Picture 2" descr="J10-map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เลือกสถานที่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ค้นหาแพทย์ — รายการ</a:t>
            </a:r>
          </a:p>
        </p:txBody>
      </p:sp>
      <p:pic>
        <p:nvPicPr>
          <p:cNvPr id="3" name="Picture 2" descr="B08-find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เปิดค้นหาแพทย์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กรองความเชี่ยวชาญ</a:t>
            </a:r>
          </a:p>
        </p:txBody>
      </p:sp>
      <p:pic>
        <p:nvPicPr>
          <p:cNvPr id="3" name="Picture 2" descr="J12-specialty-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เลือกสาขา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รายละเอียดแพทย์</a:t>
            </a:r>
          </a:p>
        </p:txBody>
      </p:sp>
      <p:pic>
        <p:nvPicPr>
          <p:cNvPr id="3" name="Picture 2" descr="J12-specialty-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คลิกการ์ดแพทย์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คลังความรู้ — รายการ</a:t>
            </a:r>
          </a:p>
        </p:txBody>
      </p:sp>
      <p:pic>
        <p:nvPicPr>
          <p:cNvPr id="3" name="Picture 2" descr="B04-health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023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เปิดคลังความรู้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อ่านบทความ</a:t>
            </a:r>
          </a:p>
        </p:txBody>
      </p:sp>
      <p:pic>
        <p:nvPicPr>
          <p:cNvPr id="3" name="Picture 2" descr="H11-art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023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คลิกบทความ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AI จาก Group H</a:t>
            </a:r>
          </a:p>
        </p:txBody>
      </p:sp>
      <p:pic>
        <p:nvPicPr>
          <p:cNvPr id="3" name="Picture 2" descr="H11-art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0233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ทดสอบ AI อีกครั้ง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การแจ้งเตือนผู้ป่วย</a:t>
            </a:r>
          </a:p>
        </p:txBody>
      </p:sp>
      <p:pic>
        <p:nvPicPr>
          <p:cNvPr id="3" name="Picture 2" descr="I11-patient-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คลิกกระดิ่ง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นัดหมายว่าง (เริ่มต้น)</a:t>
            </a:r>
          </a:p>
        </p:txBody>
      </p:sp>
      <p:pic>
        <p:nvPicPr>
          <p:cNvPr id="3" name="Picture 2" descr="WF04-patient-appointments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96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ผู้ใช้ใหม่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จองนัด — workflow</a:t>
            </a:r>
          </a:p>
        </p:txBody>
      </p:sp>
      <p:pic>
        <p:nvPicPr>
          <p:cNvPr id="3" name="Picture 2" descr="WF05-book-appointment-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61023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WF05 จองขั้น 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นัดยืนยันแล้ว</a:t>
            </a:r>
          </a:p>
        </p:txBody>
      </p:sp>
      <p:pic>
        <p:nvPicPr>
          <p:cNvPr id="3" name="Picture 2" descr="WF13-patient-appointment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03858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หลังแพทย์/แอดมินยืนยัน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ความปลอดภัย — แยกบทบาท</a:t>
            </a:r>
          </a:p>
        </p:txBody>
      </p:sp>
      <p:pic>
        <p:nvPicPr>
          <p:cNvPr id="3" name="Picture 2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09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ผู้ป่วยไม่เห็นเมนูแพทย์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สรุปและ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