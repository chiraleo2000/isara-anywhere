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193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นำเสนอคู่มือ คู่มือผู้ป่วย Isara Anywhere เวอร์ชัน 1.7.33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บัญชี Google ต้องตรงกับอีเมลที่ลงทะเบียนแล้ว ผู้ใช้ใหม่ต้องสมัครก่อนใช้ SSO ออกจากระบบเมื่อใช้เครื่องสาธารณะ อ้างอิง Processes/Pages/Patient-Portal/01_Login_Page.md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1: หน้าเข้าสู่ระบบผู้ป่วย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เริ่มต้นที่หน้าเข้าสู่ระบบ ผู้ป่วยกรอกข้อมูลหรือใช้ Google ตามที่ลงทะเบียนไว้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URL พอร์ทัลผู้ป่วยในเบราว์เซอร์ Chrome หรือ Edge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3. กรอกอีเมลและรหัสผ่าน หรือเลือกลงชื่อเข้าใช้ด้วย Google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5. กดปุ่ม «เข้าสู่ระบบ»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2: ลงชื่อเข้าใช้ด้วย Google (ผู้ป่วย)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SSO ช่วยลดขั้นตอนล็อกอิน แต่ต้องสมัครด้วยอีเมลเดียวกันก่อน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รอให้ปุ่ม Google โหลดเสร็จ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3. กด «ลงชื่อเข้าใช้ด้วย Google» และเลือกบัญชี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5. อนุญาตการเข้าถึงชื่อและอีเมล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3: กรณี Google ยังไม่มีบัญชี — ไปหน้าสมัคร | กลุ่ม 1. การเข้าสู่ระบบ</a:t>
            </a:r>
          </a:p>
          <a:p>
            <a:pPr>
              <a:defRPr sz="1600" b="0">
                <a:latin typeface="FC Iconic"/>
              </a:defRPr>
            </a:pPr>
            <a:r>
              <a:t>ป้องกันบัญชีคนแปลกปลอม — ต้องลงทะเบียนก่อนใช้ Google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ลองล็อกอินด้วย Google ที่ยังไม่เคยสมัคร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3. อ่านข้อความแจ้งบนหน้าจอ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5. กรอกแบบฟอร์มสมัครสมาชิกให้ครบ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4: แดชบอร์ดหลักหลังเข้าสู่ระบบ | กลุ่ม 2.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นี่คือศูนย์กลางการใช้งานประจำวันของผู้ป่วย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เข้าสู่ระบบสำเร็จ — ระบบเปิดหน้า «หน้าหลัก»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แสดงชื่อผู้ป่วย นัดใกล้ถึง และปุ่มลัด</a:t>
            </a:r>
          </a:p>
          <a:p>
            <a:pPr>
              <a:defRPr sz="1600" b="0">
                <a:latin typeface="FC Iconic"/>
              </a:defRPr>
            </a:pPr>
            <a:r>
              <a:t>  3. ตรวจสอบข้อความต้อนรับและนัดหมายที่กำลังจะมาถึง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แสดงชื่อผู้ป่วย นัดใกล้ถึง และปุ่มลัด</a:t>
            </a:r>
          </a:p>
          <a:p>
            <a:pPr>
              <a:defRPr sz="1600" b="0">
                <a:latin typeface="FC Iconic"/>
              </a:defRPr>
            </a:pPr>
            <a:r>
              <a:t>  5. ใช้ปุ่มดำเนินการด่วนจองนัดหรือดู PHR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แสดงชื่อผู้ป่วย นัดใกล้ถึง และปุ่มลัด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แสดงชื่อผู้ป่วย นัดใกล้ถึง และปุ่มลัด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5: การ์ดสถิติสุขภาพบนแดชบอร์ด | กลุ่ม 2.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ช่วยให้ผู้ป่วยเห็นภาพรวมโดยไม่ต้องเปิดหลายเมนู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เลื่อนดูการ์ดสรุปบนแดชบอร์ด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การ์ด KPI สุขภาพและนัดหมายอัปเดตจากฐานข้อมูลจริง</a:t>
            </a:r>
          </a:p>
          <a:p>
            <a:pPr>
              <a:defRPr sz="1600" b="0">
                <a:latin typeface="FC Iconic"/>
              </a:defRPr>
            </a:pPr>
            <a:r>
              <a:t>  3. ตรวจจำนวนนัดรอ/เสร็จ และข้อมูลสุขภาพล่าสุด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การ์ด KPI สุขภาพและนัดหมายอัปเดตจากฐานข้อมูลจริง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การ์ด KPI สุขภาพและนัดหมายอัปเดตจากฐานข้อมูลจริง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6: เมนูนำทาง 10 รายการ (Sidebar) | กลุ่ม 2. แดชบอร์ดและเมนู</a:t>
            </a:r>
          </a:p>
          <a:p>
            <a:pPr>
              <a:defRPr sz="1600" b="0">
                <a:latin typeface="FC Iconic"/>
              </a:defRPr>
            </a:pPr>
            <a:r>
              <a:t>การนำทางต่อเนื่องทดสอบใน Group B — ไม่ต้องกลับหน้าหลักทุกครั้ง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ดูแถบเมนูด้านซ้ายครบทุกรายการ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Home, นัดหมาย, AI, คลังความรู้, PHR, Timeline, แผนที่, ค้นหาแพทย์, PDPA, ตั้งค่า</a:t>
            </a:r>
          </a:p>
          <a:p>
            <a:pPr>
              <a:defRPr sz="1600" b="0">
                <a:latin typeface="FC Iconic"/>
              </a:defRPr>
            </a:pPr>
            <a:r>
              <a:t>  3. คลิกเมนูเพื่อไปหน้าที่ต้องการ — รายการปัจจุบันไฮไลต์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Home, นัดหมาย, AI, คลังความรู้, PHR, Timeline, แผนที่, ค้นหาแพทย์, PDPA, ตั้งค่า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Home, นัดหมาย, AI, คลังความรู้, PHR, Timeline, แผนที่, ค้นหาแพทย์, PDPA, ตั้งค่า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อย่าข้าม PDPA ก่อนจองนัดที่ต้องแชร์ข้อมูล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7: หน้าหลัก (Dashboard)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ยืนยันหน้าโหลดครบถ้วน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«หน้าหลัก»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สรุปนัดและทางลัด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สรุปนัดและทางลัด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8: หน้านัดหมาย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จุดเริ่มจองและติดตามนัด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«นัดหมาย»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รายการนัดและปุ่มจอง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รายการนัดและปุ่มจอง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9: ปรึกษา AI Doctor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ประเมินอาการเบื้องต้นก่อนพบแพทย์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«ปรึกษา AI»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ช่องกรอกอาการและพื้นที่สนทนา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ช่องกรอกอาการและพื้นที่สนทนา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10: คลังความรู้สุขภาพ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เนื้อหาที่แพทย์และผู้ดูแลอนุมัติ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«คลังความรู้»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บทความและหมวดหมู่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บทความและหมวดหมู่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11: ประวัติสุขภาพ PHR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บันทึกข้อมูลส่วนตัวตาม PDPA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«ประวัติสุขภาพ»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แท็บภาพรวม สัญญาณชีพ ยา แพ้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แท็บภาพรวม สัญญาณชีพ ยา แพ้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12: เส้นทางสุขภาพ (Timeline)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ดูประวัติย้อนหลังตามเวลา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«เส้นทางสุขภาพ»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ไทม์ไลน์เหตุการณ์รักษา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ไทม์ไลน์เหตุการณ์รักษา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13: แผนที่สถานพยาบาล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ค้นหาสถานพยาบาลใกล้ตัว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«แผนที่»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แผนที่และรายการสถานพยาบาล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แผนที่และรายการสถานพยาบาล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14: ค้นหาแพทย์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เลือกแพทย์ก่อนจองนัด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«ค้นหาแพทย์»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รายการแพทย์และตัวกรอง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รายการแพทย์และตัวกรอง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15: PDPA และหนังสือแสดงเจตนา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ควบคุมความเป็นส่วนตัวตามกฎหมาย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«PDPA»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แท็บความยินยอมและ Living Will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แท็บความยินยอมและ Living Will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16: ตั้งค่า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ปรับประสบการณ์ใช้งาน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คลิกเมนู «ตั้งค่า»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ภาษา ธีม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ภาษา ธีม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17: โปรไฟล์ผู้ป่วย | กลุ่ม 3. ทุกหน้าในระบบ (Group B)</a:t>
            </a:r>
          </a:p>
          <a:p>
            <a:pPr>
              <a:defRPr sz="1600" b="0">
                <a:latin typeface="FC Iconic"/>
              </a:defRPr>
            </a:pPr>
            <a:r>
              <a:t>ตรวจสอบข้อมูลติดต่อ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เปิดหน้าโปรไฟล์จากตั้งค่าหรือเมนูผู้ใช้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ชื่อ อีเมล โทรศัพท์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ชื่อ อีเมล โทรศัพท์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อาการส่งถึงแพทย์และ Pool — ห้ามกรอกข้อมูลละเอียดอ่อนเกินจำเป็น อ้างอิง Processes/Appointment_Workflows.md — Patient booking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18: รายการนัดหมาย — แท็บกรอง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กรองตามสถานะได้ทันที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เปิดเมนูนัดหมาย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รายการนัดพร้อมป้ายสถานะ</a:t>
            </a:r>
          </a:p>
          <a:p>
            <a:pPr>
              <a:defRPr sz="1600" b="0">
                <a:latin typeface="FC Iconic"/>
              </a:defRPr>
            </a:pPr>
            <a:r>
              <a:t>  3. เลือกแท็บ Pending / All / Confirmed / Completed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รายการนัดพร้อมป้ายสถานะ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รายการนัดพร้อมป้ายสถานะ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19: แท็บ «ทั้งหมด»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ภาพรวมนัดทั้งหมด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คลิกแท็บ All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แสดงนัดทุกสถานะรวมกัน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แสดงนัดทุกสถานะรวมกัน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20: ตัวช่วยจองนัด — ขั้นที่ 1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Wizard ช่วยไม่พลาดขั้นตอน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 «จองนัดหมายใหม่»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ตัวบอกขั้นตอน 3 ขั้น</a:t>
            </a:r>
          </a:p>
          <a:p>
            <a:pPr>
              <a:defRPr sz="1600" b="0">
                <a:latin typeface="FC Iconic"/>
              </a:defRPr>
            </a:pPr>
            <a:r>
              <a:t>  3. เลือกประเภทออนไลน์หรือที่โรงพยาบาล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ตัวบอกขั้นตอน 3 ขั้น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ตัวบอกขั้นตอน 3 ขั้น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21: กรอกอาการและความเร่งด่วน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ข้อมูลนี้ส่งให้แพทย์และ Pool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กรอกอาการอย่างน้อย 10 ตัวอักษร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ฟอร์มอาการครบ</a:t>
            </a:r>
          </a:p>
          <a:p>
            <a:pPr>
              <a:defRPr sz="1600" b="0">
                <a:latin typeface="FC Iconic"/>
              </a:defRPr>
            </a:pPr>
            <a:r>
              <a:t>  3. เลือกระดับความเร่งด่วนและวันเวลา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ฟอร์มอาการครบ</a:t>
            </a:r>
          </a:p>
          <a:p>
            <a:pPr>
              <a:defRPr sz="1600" b="0">
                <a:latin typeface="FC Iconic"/>
              </a:defRPr>
            </a:pPr>
            <a:r>
              <a:t>  5. กดถัดไป</a:t>
            </a:r>
          </a:p>
          <a:p>
            <a:pPr>
              <a:defRPr sz="1600" b="0">
                <a:latin typeface="FC Iconic"/>
              </a:defRPr>
            </a:pPr>
            <a:r>
              <a:t>  6. ตรวจหน้าจอขั้นที่ 3: ฟอร์มอาการครบ</a:t>
            </a:r>
          </a:p>
          <a:p>
            <a:pPr>
              <a:defRPr sz="1600" b="0">
                <a:latin typeface="FC Iconic"/>
              </a:defRPr>
            </a:pPr>
            <a:r>
              <a:t>  7.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8.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ฟอร์มอาการครบ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22: เลือกแพทย์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ไม่ระบุแพทย์จะเข้า Appointment Pool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ดูการ์ดแพทย์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รายการแพทย์พร้อมเวลาว่าง</a:t>
            </a:r>
          </a:p>
          <a:p>
            <a:pPr>
              <a:defRPr sz="1600" b="0">
                <a:latin typeface="FC Iconic"/>
              </a:defRPr>
            </a:pPr>
            <a:r>
              <a:t>  3. เลือกแพทย์หรือ «ให้ระบบจัดสรร»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รายการแพทย์พร้อมเวลาว่าง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รายการแพทย์พร้อมเวลาว่าง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23: ยืนยันแพทย์ที่เลือก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ลดความผิดพลาดก่อนส่งคำขอ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คลิกการ์ดแพทย์ — มีกรอบเน้น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แพทย์ที่เลือกชัดเจน</a:t>
            </a:r>
          </a:p>
          <a:p>
            <a:pPr>
              <a:defRPr sz="1600" b="0">
                <a:latin typeface="FC Iconic"/>
              </a:defRPr>
            </a:pPr>
            <a:r>
              <a:t>  3. กดถัดไป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แพทย์ที่เลือกชัดเจน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แพทย์ที่เลือกชัดเจน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24: ส่งคำขอนัดสำเร็จ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สถานะเริ่ม pending หรือ in_pool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ตรวจสอบสรุป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ข้อความสำเร็จและรหัสนัด</a:t>
            </a:r>
          </a:p>
          <a:p>
            <a:pPr>
              <a:defRPr sz="1600" b="0">
                <a:latin typeface="FC Iconic"/>
              </a:defRPr>
            </a:pPr>
            <a:r>
              <a:t>  3. กดยืนยันและส่ง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ข้อความสำเร็จและรหัสนัด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ข้อความสำเร็จและรหัสนัด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25: รายการนัดหลังจอง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ติดตามสถานะแบบเรียลไทม์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กลับหน้านัดหมาย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นัดใหม่ปรากฏในรายการ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นัดใหม่ปรากฏในรายการ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26: นัดหมายข้อมูลจริงจากระบบ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ไม่ใช่ข้อมูลจำลอง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รีเฟรชหน้านัดหมาย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27: รายละเอียดรายการนัด | กลุ่ม 4. จองและติดตามนัดหมาย</a:t>
            </a:r>
          </a:p>
          <a:p>
            <a:pPr>
              <a:defRPr sz="1600" b="0">
                <a:latin typeface="FC Iconic"/>
              </a:defRPr>
            </a:pPr>
            <a:r>
              <a:t>ใช้เมื่อนัด confirmed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คลิกนัดที่ต้องการ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อย่าแชร์ลิงก์ห้องประชุมสาธารณะ Guest ต้องผ่านการอนุมัติจากแพทย์และรอแพทย์เริ่มห้อง (host-ready) ลิงก์เชิญมาจาก meeting server เท่านั้น (ไม่ใช่ URL แพทย์) อ้างอิง Processes/VIDEO_MEETING_JITSI_GEMINI.md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28: ปุ่มเข้าร่วมวิดีโอคอล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ต้องอนุญาตกล้อง/ไมค์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เปิดนัดที่ยืนยันแล้ว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  3. กดเข้าร่วมประชุม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29: รอแพทย์ในห้อง Lobby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ความปลอดภัยแบบ Teams Lobby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เข้าห้องก่อนแพทย์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30: ห้อง Lobby ผู้ป่วย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แพทย์ควบคุมการเข้าห้อง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รอจนแพทย์กด Admit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31: ห้องประชุม Jitsi (ผู้ป่วย)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ปรึกษาแพทย์แบบเรียลไทม์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หลังได้รับอนุมัติจาก Lobby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32: ข้อตกลงก่อนเข้าห้อง (ผู้ป่วย)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ตามมาตรฐาน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อ่านข้อตกลง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  3. กดยอมรับ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33: หน้าก่อนเข้าห้อง — ลิงก์เชิญ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รองรับ guest invite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ตรวจชื่อแสดงและอุปกรณ์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  3. กดเข้าร่วม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34: สรุปหลังจบการประชุม + AI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ช่วยผู้ป่วยทบทวนคำแนะนำ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จบการประชุม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35: ผู้เชิญรอในห้อง (มุมผู้ป่วย) | กลุ่ม 5. วิดีโอคอลและ Lobby</a:t>
            </a:r>
          </a:p>
          <a:p>
            <a:pPr>
              <a:defRPr sz="1600" b="0">
                <a:latin typeface="FC Iconic"/>
              </a:defRPr>
            </a:pPr>
            <a:r>
              <a:t>ญาติเข้าร่วมได้เมื่อแพทย์อนุมัติ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มี guest ใน lobby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36: หน้า PHR ภาพรวม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ศูนย์กลางข้อมูลสุขภาพส่วนตัว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เปิดเมนู PHR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37: สำรวจทุกแท็บ PHR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ข้อมูลครบในที่เดียว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คลิกแต่ละแท็บ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38: แท็บสัญญาณชีพ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ติดตามความดัน ชีพจร ฯลฯ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เลือกแท็บสัญญาณชีพ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39: เปิดฟอร์มบันทึกสัญญาณชีพ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บันทึกด้วยตนเอง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กดเพิ่ม/บันทึกค่าใหม่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40: กรอกค่าสัญญาณชีพ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ตรวจสอบความถูกต้อง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กรอกตัวเลขครบ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  3. กดบันทึก</a:t>
            </a:r>
          </a:p>
          <a:p>
            <a:pPr>
              <a:defRPr sz="1600" b="0">
                <a:latin typeface="FC Iconic"/>
              </a:defRPr>
            </a:pPr>
            <a:r>
              <a:t>  4. ตรวจหน้าจอขั้นที่ 2: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  5.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6.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41: บันทึกสัญญาณชีพสำเร็จ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แพทย์เห็นเมื่อเปิดเวชระเบียน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ยืนยันการบันทึก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42: แท็บยา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แจ้งแพทย์ก่อนจ่ายยาใหม่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เปิดแท็บยา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43: แท็บแพ้ยา/สาร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สำคัญต่อความปลอดภัย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เปิดแท็บแพ้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44: แท็บผลแล็บ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อ้างอิงก่อนพบแพทย์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เปิดแท็บผลแล็บ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45: ภาพรวม PHR พร้อมข้อมูล | กลุ่ม 6. ประวัติสุขภาพ (PHR)</a:t>
            </a:r>
          </a:p>
          <a:p>
            <a:pPr>
              <a:defRPr sz="1600" b="0">
                <a:latin typeface="FC Iconic"/>
              </a:defRPr>
            </a:pPr>
            <a:r>
              <a:t>ข้อมูล sync กับแพทย์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กลับแท็บภาพรวม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46: หน้า PDPA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ตาม พ.ร.บ. คุ้มครองข้อมูล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เปิดเมนู PDPA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นโยบายและสิทธิ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นโยบายและสิทธิ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47: แท็บความยินยอม PDPA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ควบคุมการแชร์ข้อมูล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สลับแท็บยินยอม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 consent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 consent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48: สวิตช์ความเป็นส่วนตัว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เปลี่ยนได้ตลอด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เปิด/ปิดการแชร์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toggle ต่อหัวข้อ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toggle ต่อหัวข้อ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49: หนังสือแสดงเจตนา — เริ่มต้น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บันทึกเจตจำนงการรักษา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เลือกทำ Living Will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ตัวช่วย 3 ขั้น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ตัวช่วย 3 ขั้น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50: ขั้น 1 — ผู้แทน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ใช้เมื่อไม่สามารถตัดสินใจเอง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กรอกผู้แทนโดยชอบธรรม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รายชื่อผู้ติดต่อ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รายชื่อผู้ติดต่อ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51: ขั้น 2 — การรักษา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ชัดเจนตามความต้องการ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เลือกแนวทางการรักษา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ตัวเลือกการรักษา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ตัวเลือกการรักษา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52: ความชอบการรักษา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ลดความคลุมเครือ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ระบุรายละเอียด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ค่าที่เลือกแล้ว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ค่าที่เลือกแล้ว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53: ขั้น 3 — ลายเซ็น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ยืนยันความถูกต้อง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ลงลายเซ็นดิจิทัล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พื้นที่เซ็น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พื้นที่เซ็น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54: บันทึก Living Will สำเร็จ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เก็บในฐานข้อมูลปลอดภัย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กดบันทึก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ข้อความยืนยัน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ข้อความยืนยัน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55: นัดหมายจากมุม PDPA flow | กลุ่ม 7. PDPA และหนังสือแสดงเจตนา</a:t>
            </a:r>
          </a:p>
          <a:p>
            <a:pPr>
              <a:defRPr sz="1600" b="0">
                <a:latin typeface="FC Iconic"/>
              </a:defRPr>
            </a:pPr>
            <a:r>
              <a:t>workflow ต่อเนื่อง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กลับตรวจนัด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56: AI Doctor — หน้าแรก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ไม่ใช่การวินิจฉัย — คำแนะนำเบื้องต้น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เปิดปรึกษา AI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ช่องแชท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ช่องแชท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57: กรอกอาการใน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Gemini วิเคราะห์อาการ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พิมพ์อาการ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58: คำตอบจาก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ควรพบแพทย์หากรุนแรง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รอคำตอบ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59: ตรวจสอบคำตอบ AI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บันทึกหรือจองนัดต่อ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อ่านคำเตือน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60: เส้นทางสุขภาพ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นัด ยา แล็บ รวมกัน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 Timeline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61: กรอง Timeline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ค้นหาเร็ว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เลือกประเภทกรอง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62: เลื่อนดู Timeline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ประวัติยาว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เลื่อนลง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63: แผนที่สถานพยาบาล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หาโรงพยาบาลใกล้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เปิดแผนที่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64: ค้นหาบนแผนที่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เช่น โรงพยาบาล + เขต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พิมพ์คำค้น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ผลค้นหา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65: ผลค้นหาแผนที่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นำทางหรือโทร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เลือกสถานที่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66: ค้นหาแพทย์ — รายการ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ดูความเชี่ยวชาญ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67: กรองความเชี่ยวชาญ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จำกัดผลลัพธ์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เลือกสาขา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68: รายละเอียดแพทย์ | กลุ่ม 8. AI, Timeline, แผนที่, ค้นหาแพทย์</a:t>
            </a:r>
          </a:p>
          <a:p>
            <a:pPr>
              <a:defRPr sz="1600" b="0">
                <a:latin typeface="FC Iconic"/>
              </a:defRPr>
            </a:pPr>
            <a:r>
              <a:t>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ข้อมูลสุขภาพเป็นความลับ — อย่าแชร์รหัสผ่าน AI ให้คำแนะนำเบื้องต้น ไม่ใช่การวินิจฉัย อ้างอิง Processes/Pages/Patient-Portal/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69: คลังความรู้ — รายการ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เนื้อหาอนุมัติแล้ว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เปิดคลังความรู้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บทความ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บทความ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70: อ่านบทความ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อ่านก่อนพบแพทย์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คลิกบทความ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71: AI จาก Group H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ยืนยัน cross-page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ทดสอบ AI อีกครั้ง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72: การแจ้งเตือนผู้ป่วย | กลุ่ม 9. คลังความรู้และการแจ้งเตือน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นัดใหม่ แพทย์รับเรื่อง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คลิกกระดิ่ง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ใช้บัญชีทดสอบที่ผ่าน cleanup แล้วเท่านั้น อ้างอิง Processes/FULL_WORKFLOW_CONTRACT.md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73: นัดหมายว่าง (เริ่มต้น)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จุดเริ่ม lifecycle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ผู้ใช้ใหม่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74: จองนัด — workflow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ทดสอบ end-to-end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WF05 จองขั้น 1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75: นัดยืนยันแล้ว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พร้อมวิดีโอคอล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หลังแพทย์/แอดมินยืนยัน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สถานะ confirmed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สถานะ confirmed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สไลด์ 76: ความปลอดภัย — แยกบทบาท | กลุ่ม 10. เวิร์กโฟลว์ครบวงจร</a:t>
            </a:r>
          </a:p>
          <a:p>
            <a:pPr>
              <a:defRPr sz="1600" b="0">
                <a:latin typeface="FC Iconic"/>
              </a:defRPr>
            </a:pPr>
            <a:r>
              <a:t>OWASP / JWT role</a:t>
            </a:r>
          </a:p>
          <a:p>
            <a:pPr>
              <a:defRPr sz="1600" b="0">
                <a:latin typeface="FC Iconic"/>
              </a:defRPr>
            </a:pPr>
            <a:r>
              <a:t>ขั้นตอนละเอียด:</a:t>
            </a:r>
          </a:p>
          <a:p>
            <a:pPr>
              <a:defRPr sz="1600" b="0">
                <a:latin typeface="FC Iconic"/>
              </a:defRPr>
            </a:pPr>
            <a:r>
              <a:t>  1. ผู้ป่วยไม่เห็นเมนูแพทย์</a:t>
            </a:r>
          </a:p>
          <a:p>
            <a:pPr>
              <a:defRPr sz="1600" b="0">
                <a:latin typeface="FC Iconic"/>
              </a:defRPr>
            </a:pPr>
            <a:r>
              <a:t>  2. ตรวจหน้าจอขั้นที่ 1: ข้อความปฏิเสธสิทธิ์</a:t>
            </a:r>
          </a:p>
          <a:p>
            <a:pPr>
              <a:defRPr sz="1600" b="0">
                <a:latin typeface="FC Iconic"/>
              </a:defRPr>
            </a:pPr>
            <a:r>
              <a:t>  3. ตรวจ Network: HTTP 2xx, ไม่มี toast แดง, session/JWT ยังใช้ได้</a:t>
            </a:r>
          </a:p>
          <a:p>
            <a:pPr>
              <a:defRPr sz="1600" b="0">
                <a:latin typeface="FC Iconic"/>
              </a:defRPr>
            </a:pPr>
            <a:r>
              <a:t>  4. บันทึก appointmentId / meetingId จาก URL หรือ DevTools หากต้องส่งต่อ IT</a:t>
            </a:r>
          </a:p>
          <a:p>
            <a:pPr>
              <a:defRPr sz="1600" b="0">
                <a:latin typeface="FC Iconic"/>
              </a:defRPr>
            </a:pPr>
            <a:r>
              <a:t>ผลลัพธ์: ข้อความปฏิเสธสิทธิ์</a:t>
            </a:r>
          </a:p>
          <a:p>
            <a:pPr>
              <a:defRPr sz="1600" b="0">
                <a:latin typeface="FC Iconic"/>
              </a:defRPr>
            </a:pPr>
            <a:r>
              <a:t>อ้างอิง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Word: TH Sarabun New 16 pt (ตาราง+สารบัญ) | สไลด์: FC Iconic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ขอบคุณ — เปิด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คู่มือผู้ป่วย Isara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latin typeface="FC Iconic"/>
              </a:defRPr>
            </a:pPr>
            <a:r>
              <a:rPr sz="4000" b="1" dirty="0"/>
              <a:t>Isara Anywhere — Patient Portal</a:t>
            </a:r>
          </a:p>
          <a:p>
            <a:pPr algn="ctr">
              <a:defRPr sz="1800" b="0">
                <a:latin typeface="FC Iconic"/>
              </a:defRPr>
            </a:pPr>
            <a:endParaRPr lang="en-US" sz="4000" b="1" dirty="0"/>
          </a:p>
          <a:p>
            <a:pPr algn="ctr">
              <a:defRPr sz="1800" b="0">
                <a:latin typeface="FC Iconic"/>
              </a:defRPr>
            </a:pPr>
            <a:endParaRPr lang="en-US" sz="4000" b="1" dirty="0"/>
          </a:p>
          <a:p>
            <a:pPr algn="ctr">
              <a:defRPr sz="1800" b="0">
                <a:latin typeface="FC Iconic"/>
              </a:defRPr>
            </a:pPr>
            <a:r>
              <a:rPr lang="en-US" sz="4000" b="1"/>
              <a:t>URLS - </a:t>
            </a:r>
            <a:r>
              <a:rPr sz="4000" b="1"/>
              <a:t>https</a:t>
            </a:r>
            <a:r>
              <a:rPr sz="4000" b="1" dirty="0"/>
              <a:t>://izara-patient-portal-dev-testing-724889190329.asia-southeast1.run.app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ภาพรวมระบบและมาตรฐานเอกสาร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รายละเอียด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https://izara-patient-portal-dev-testing-724889190329.asia-southeast1.run.app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กลุ่มทดสอบ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A, B, D, E, F, G, H, I, J, SSO,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จำนวนสไลด์เนื้อหา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TH Sarabun New 16 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PowerPoint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FC Iconic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1. การเข้าสู่ระบบ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ให้ผู้ป่วยเข้าใช้ระบบอย่างปลอดภัย รองรับรหัสผ่านและ Google SSO ตาม PDPA</a:t>
            </a:r>
          </a:p>
          <a:p>
            <a:pPr>
              <a:defRPr sz="1800" b="0">
                <a:latin typeface="FC Iconic"/>
              </a:defRPr>
            </a:pPr>
            <a:r>
              <a:t>1. เปิด URL พอร์ทัลผู้ป่วย (Cloud dev-testing หรือ localhost:3005)</a:t>
            </a:r>
          </a:p>
          <a:p>
            <a:pPr>
              <a:defRPr sz="1800" b="0">
                <a:latin typeface="FC Iconic"/>
              </a:defRPr>
            </a:pPr>
            <a:r>
              <a:t>2. ตรวจสอบใบรับรอง HTTPS และไม่แชร์รหัสผ่าน</a:t>
            </a:r>
          </a:p>
          <a:p>
            <a:pPr>
              <a:defRPr sz="1800" b="0">
                <a:latin typeface="FC Iconic"/>
              </a:defRPr>
            </a:pPr>
            <a:r>
              <a:t>3. กรอกอีเมล/รหัสผ่าน หรือกด «ลงชื่อเข้าใช้ด้วย Google»</a:t>
            </a:r>
          </a:p>
          <a:p>
            <a:pPr>
              <a:defRPr sz="1800" b="0">
                <a:latin typeface="FC Iconic"/>
              </a:defRPr>
            </a:pPr>
            <a:r>
              <a:t>4. หาก Google ยังไม่มีบัญชี — ระบบนำไปหน้าสมัครสมาชิก</a:t>
            </a:r>
          </a:p>
          <a:p>
            <a:pPr>
              <a:defRPr sz="1800" b="0">
                <a:latin typeface="FC Iconic"/>
              </a:defRPr>
            </a:pPr>
            <a:r>
              <a:t>5. ล็อกอินสำเร็จ → JWT ถูกเก็บใน session → ไปแดชบอร์ด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1. หน้าเข้าสู่ระบบผู้ป่วย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เริ่มต้นที่หน้าเข้าสู่ระบบ ผู้ป่วยกรอกข้อมูลหรือใช้ Google ตามที่ลงทะเบียนไว้</a:t>
            </a:r>
          </a:p>
        </p:txBody>
      </p:sp>
      <p:pic>
        <p:nvPicPr>
          <p:cNvPr id="4" name="Picture 3" descr="WF01-patient-login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4975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เปิด URL พอร์ทัลผู้ป่วยในเบราว์เซอร์ Chrome หรือ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กรอกอีเมลและรหัสผ่าน หรือเลือกลงชื่อเข้าใช้ด้วย 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กดปุ่ม «เข้าสู่ระบบ»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แสดงฟอร์มอีเมล/รหัสผ่าน ลิงก์สมัครสมาชิก และปุ่ม Google Sign-In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แสดงฟอร์มอีเมล/รหัสผ่าน ลิงก์สมัครส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แสดงฟอร์มอีเมล/รหัสผ่าน ลิงก์สมัครสมาชิก และปุ่ม Google Sign-In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เริ่มต้นที่หน้าเข้าสู่ระบบ ผู้ป่วยกรอกข้อมูลหรือใช้ Google ตามที่ลงทะเบียนไว้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docs/screenshots/workflows/auth-login/WF01-patient-login-page.png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2. ลงชื่อเข้าใช้ด้วย Google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SSO ช่วยลดขั้นตอนล็อกอิน แต่ต้องสมัครด้วยอีเมลเดียวกันก่อน</a:t>
            </a:r>
          </a:p>
        </p:txBody>
      </p:sp>
      <p:pic>
        <p:nvPicPr>
          <p:cNvPr id="4" name="Picture 3" descr="patient-login-with-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รอให้ปุ่ม Google โหลดเสร็จ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กด «ลงชื่อเข้าใช้ด้วย Google» และเลือกบัญชี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อนุญาตการเข้าถึงชื่อและอีเมล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ปุ่ม Google แสดงใต้ฟอร์มอีเมล/รหัสผ่าน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ปุ่ม Google แสดงใต้ฟอร์มอีเมล/รหัสผ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Google แสดงใต้ฟอร์มอีเมล/รหัสผ่าน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SSO ช่วยลดขั้นตอนล็อกอิน แต่ต้องสมัครด้วยอีเมลเดียวกันก่อน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docs/screenshots/sso/patient-login-with-google.png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3. กรณี Google ยังไม่มีบัญชี — ไปหน้าสมัคร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1. การเข้าสู่ระบบ | ผู้ป่วย | วัตถุประสงค์: ป้องกันบัญชีคนแปลกปลอม — ต้องลงทะเบียนก่อนใช้ Google</a:t>
            </a:r>
          </a:p>
        </p:txBody>
      </p:sp>
      <p:pic>
        <p:nvPicPr>
          <p:cNvPr id="4" name="Picture 3" descr="sso-redirect-to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ลองล็อกอินด้วย Google ที่ยังไม่เคยสมัคร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อ่านข้อความแจ้งบนหน้าจอ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กรอกแบบฟอร์มสมัครสมาชิกให้ครบ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ระบบนำทางไปหน้าสมัครพร้อมข้อความแจ้ง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ระบบนำทางไปหน้าสมัครพร้อมข้อความแจ้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ระบบนำทางไปหน้าสมัครพร้อมข้อความแจ้ง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ป้องกันบัญชีคนแปลกปลอม — ต้องลงทะเบียนก่อนใช้ Google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Processes/Pages/Patient-Portal/01_Login_Page.md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docs/screenshots/sso/sso-redirect-to-register.png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บัญชี Google ต้องตรงกับอีเมลที่ลงทะเบียนแล้ว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ผู้ใช้ใหม่ต้องสมัครก่อนใช้ SSO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2. แดชบอร์ดและเมนู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«2. แดชบอร์ดและเมนู»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4. แดชบอร์ดหลักหลังเข้าสู่ระบบ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2. แดชบอร์ดและเมนู | ผู้ป่วย | วัตถุประสงค์: นี่คือศูนย์กลางการใช้งานประจำวันของผู้ป่วย</a:t>
            </a:r>
          </a:p>
        </p:txBody>
      </p:sp>
      <p:pic>
        <p:nvPicPr>
          <p:cNvPr id="4" name="Picture 3" descr="A01-pati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เข้าสู่ระบบสำเร็จ — ระบบเปิดหน้า «หน้าหลัก»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แสดงชื่อผู้ป่วย นัดใกล้ถึง และปุ่มล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แสดงชื่อผู้ป่วย นัดใกล้ถึง และปุ่มลัด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ตรวจสอบข้อความต้อนรับและนัดหมายที่กำลังจะมาถึง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แสดงชื่อผู้ป่วย นัดใกล้ถึง และปุ่มลัด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ใช้ปุ่มดำเนินการด่วนจองนัดหรือดู PHR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แสดงชื่อผู้ป่วย นัดใกล้ถึง และปุ่มล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แสดงชื่อผู้ป่วย นัดใกล้ถึง และปุ่มลัด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แสดงชื่อผู้ป่วย นัดใกล้ถึง และปุ่มล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แสดงชื่อผู้ป่วย นัดใกล้ถึง และปุ่มลัด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นี่คือศูนย์กลางการใช้งานประจำวันของผู้ป่วย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docs/screenshots/group-A/A01-patient-dashboard.png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5. การ์ดสถิติสุขภาพบนแดชบอร์ด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2. แดชบอร์ดและเมนู | ผู้ป่วย | วัตถุประสงค์: ช่วยให้ผู้ป่วยเห็นภาพรวมโดยไม่ต้องเปิดหลายเมนู</a:t>
            </a:r>
          </a:p>
        </p:txBody>
      </p:sp>
      <p:pic>
        <p:nvPicPr>
          <p:cNvPr id="4" name="Picture 3" descr="A01-pati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เลื่อนดูการ์ดสรุปบนแดชบอร์ด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 KPI สุขภาพและนัดหมายอัปเดตจาก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การ์ด KPI สุขภาพและนัดหมายอัปเดตจากฐานข้อมูลจริง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ตรวจจำนวนนัดรอ/เสร็จ และข้อมูลสุขภาพล่าสุด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การ์ด KPI สุขภาพและนัดหมายอัปเดตจากฐานข้อมูลจริง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 KPI สุขภาพและนัดหมายอัปเดตจาก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การ์ด KPI สุขภาพและนัดหมายอัปเดตจากฐานข้อมูลจริง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ช่วยให้ผู้ป่วยเห็นภาพรวมโดยไม่ต้องเปิดหลายเมนู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docs/screenshots/group-A/A09-patient-stats.png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6. เมนูนำทาง 10 รายการ (Sidebar)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2. แดชบอร์ดและเมนู | ผู้ป่วย | วัตถุประสงค์: การนำทางต่อเนื่องทดสอบใน Group B — ไม่ต้องกลับหน้าหลักทุกครั้ง</a:t>
            </a:r>
          </a:p>
        </p:txBody>
      </p:sp>
      <p:pic>
        <p:nvPicPr>
          <p:cNvPr id="4" name="Picture 3" descr="A01-pati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ดูแถบเมนูด้านซ้ายครบทุกรายการ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Home, นัดหมาย, AI, คลังความรู้, PHR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Home, นัดหมาย, AI, คลังความรู้, PHR, Timeline, แผนที่, ค้นหาแพทย์, PDPA, 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คลิกเมนูเพื่อไปหน้าที่ต้องการ — รายการปัจจุบันไฮไลต์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Home, นัดหมาย, AI, คลังความรู้, PHR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Home, นัดหมาย, AI, คลังความรู้, PHR, Timeline, แผนที่, ค้นหาแพทย์, PDPA, 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Home, นัดหมาย, AI, คลังความรู้, PHR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Home, นัดหมาย, AI, คลังความรู้, PHR, Timeline, แผนที่, ค้นหาแพทย์, PDPA, ตั้งค่า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การนำทางต่อเนื่องทดสอบใน Group B — ไม่ต้องกลับหน้าหลักทุกครั้ง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docs/screenshots/group-A/A02-patient-sidebar.png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3. ทุกหน้าในระบบ (Group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สำรวจทุกเมนูผู้ป่วยตามลำดับ UI test Group B</a:t>
            </a:r>
          </a:p>
          <a:p>
            <a:pPr>
              <a:defRPr sz="1800" b="0">
                <a:latin typeface="FC Iconic"/>
              </a:defRPr>
            </a:pPr>
            <a:r>
              <a:t>1. ใช้ Sidebar ไม่ใช้ URL ตรงเพื่อจำลองผู้ใช้จริง</a:t>
            </a:r>
          </a:p>
          <a:p>
            <a:pPr>
              <a:defRPr sz="1800" b="0">
                <a:latin typeface="FC Iconic"/>
              </a:defRPr>
            </a:pPr>
            <a:r>
              <a:t>2. ตรวจ Dashboard, Appointments, PHR, AI Doctor, Map, PDPA, Settings</a:t>
            </a:r>
          </a:p>
          <a:p>
            <a:pPr>
              <a:defRPr sz="1800" b="0">
                <a:latin typeface="FC Iconic"/>
              </a:defRPr>
            </a:pPr>
            <a:r>
              <a:t>3. ทุกหน้าต้องโหลดเนื้อหา &gt; 50 ตัวอักษร</a:t>
            </a:r>
          </a:p>
          <a:p>
            <a:pPr>
              <a:defRPr sz="1800" b="0">
                <a:latin typeface="FC Iconic"/>
              </a:defRPr>
            </a:pPr>
            <a:r>
              <a:t>4. ตรวจ `data-testid` ตาม `tests/SELECTORS.md`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7. หน้าหลัก (Dashboard)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ยืนยันหน้าโหลดครบถ้วน</a:t>
            </a:r>
          </a:p>
        </p:txBody>
      </p:sp>
      <p:pic>
        <p:nvPicPr>
          <p:cNvPr id="4" name="Picture 3" descr="B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«หน้าหลัก»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สรุปนัดและทางลัด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สรุปนัดและทางลัด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สรุปนัดและทางลัด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สรุปนัดและทางลัด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ยืนยันหน้าโหลดครบถ้วน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docs/screenshots/group-B/B01-dashboard.png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8. หน้านัดหมาย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จุดเริ่มจองและติดตามนัด</a:t>
            </a:r>
          </a:p>
        </p:txBody>
      </p:sp>
      <p:pic>
        <p:nvPicPr>
          <p:cNvPr id="4" name="Picture 3" descr="B02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«นัดหมาย»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รายการนัดและปุ่มจอง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รายการนัดและปุ่มจอง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รายการนัดและปุ่มจอง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รายการนัดและปุ่มจอง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จุดเริ่มจองและติดตามนัด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docs/screenshots/group-B/B02-appointments.png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9. ปรึกษา AI Doctor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ประเมินอาการเบื้องต้นก่อนพบแพทย์</a:t>
            </a:r>
          </a:p>
        </p:txBody>
      </p:sp>
      <p:pic>
        <p:nvPicPr>
          <p:cNvPr id="4" name="Picture 3" descr="B03-ai-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«ปรึกษา AI»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ช่องกรอกอาการและพื้นที่สนทนา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ช่องกรอกอาการและพื้นที่สนทนา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ช่องกรอกอาการและพื้นที่สนทนา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ช่องกรอกอาการและพื้นที่สนทนา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ประเมินอาการเบื้องต้นก่อนพบแพทย์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docs/screenshots/group-B/B03-ai-doctor.png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10. คลังความรู้สุขภาพ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เนื้อหาที่แพทย์และผู้ดูแลอนุมัติ</a:t>
            </a:r>
          </a:p>
        </p:txBody>
      </p:sp>
      <p:pic>
        <p:nvPicPr>
          <p:cNvPr id="4" name="Picture 3" descr="B04-health-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663676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«คลังความรู้»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บทความและหมวดหมู่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บทความและหมวดหมู่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บทความและหมวดหมู่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บทความและหมวดหมู่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เนื้อหาที่แพทย์และผู้ดูแลอนุมัติ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docs/screenshots/group-B/B04-health-library.png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11. ประวัติสุขภาพ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บันทึกข้อมูลส่วนตัวตาม PDPA</a:t>
            </a:r>
          </a:p>
        </p:txBody>
      </p:sp>
      <p:pic>
        <p:nvPicPr>
          <p:cNvPr id="4" name="Picture 3" descr="B05-ph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«ประวัติสุขภาพ»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แท็บภาพรวม สัญญาณชีพ ยา แพ้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แท็บภาพรวม สัญญาณชีพ ยา แพ้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แท็บภาพรวม สัญญาณชีพ ยา แพ้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แท็บภาพรวม สัญญาณชีพ ยา แพ้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บันทึกข้อมูลส่วนตัวตาม PDPA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docs/screenshots/group-B/B05-phr.png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12. เส้นทางสุขภาพ (Timeline)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ดูประวัติย้อนหลังตามเวลา</a:t>
            </a:r>
          </a:p>
        </p:txBody>
      </p:sp>
      <p:pic>
        <p:nvPicPr>
          <p:cNvPr id="4" name="Picture 3" descr="B06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«เส้นทางสุขภาพ»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ไทม์ไลน์เหตุการณ์รักษา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ไทม์ไลน์เหตุการณ์รักษา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ไทม์ไลน์เหตุการณ์รักษา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ไทม์ไลน์เหตุการณ์รักษา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ดูประวัติย้อนหลังตามเวลา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docs/screenshots/group-B/B06-timeline.png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13. แผนที่สถานพยาบาล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ค้นหาสถานพยาบาลใกล้ตัว</a:t>
            </a:r>
          </a:p>
        </p:txBody>
      </p:sp>
      <p:pic>
        <p:nvPicPr>
          <p:cNvPr id="4" name="Picture 3" descr="B07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«แผนที่»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แผนที่และรายการสถานพยาบาล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แผนที่และรายการสถานพยาบาล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แผนที่และรายการสถานพยาบาล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แผนที่และรายการสถานพยาบาล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ค้นหาสถานพยาบาลใกล้ตัว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docs/screenshots/group-B/B07-map.png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14. ค้นหาแพทย์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เลือกแพทย์ก่อนจองนัด</a:t>
            </a:r>
          </a:p>
        </p:txBody>
      </p:sp>
      <p:pic>
        <p:nvPicPr>
          <p:cNvPr id="4" name="Picture 3" descr="B08-find-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«ค้นหาแพทย์»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รายการแพทย์และตัวกรอง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รายการแพทย์และตัวกรอง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รายการแพทย์และตัวกรอง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รายการแพทย์และตัวกรอง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เลือกแพทย์ก่อนจองนัด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docs/screenshots/group-B/B08-find-doctors.png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15. PDPA และหนังสือแสดงเจตนา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ควบคุมความเป็นส่วนตัวตามกฎหมาย</a:t>
            </a:r>
          </a:p>
        </p:txBody>
      </p:sp>
      <p:pic>
        <p:nvPicPr>
          <p:cNvPr id="4" name="Picture 3" descr="B09-pd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«PDPA»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แท็บความยินยอมและ Living Will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แท็บความยินยอมและ Living 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แท็บความยินยอมและ Living Will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แท็บความยินยอมและ Living Will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ควบคุมความเป็นส่วนตัวตามกฎหมาย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docs/screenshots/group-B/B09-pdpa.png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16. ตั้งค่า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ปรับประสบการณ์ใช้งาน</a:t>
            </a:r>
          </a:p>
        </p:txBody>
      </p:sp>
      <p:pic>
        <p:nvPicPr>
          <p:cNvPr id="4" name="Picture 3" descr="B10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คลิกเมนู «ตั้งค่า»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ภาษา ธีม การแจ้งเตือน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ภาษา ธีม การแจ้งเตือน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ภาษา ธีม การแจ้งเตือน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ภาษา ธีม 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ปรับประสบการณ์ใช้งาน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docs/screenshots/group-B/B10-settings.png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17. โปรไฟล์ผู้ป่วย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3. ทุกหน้าในระบบ (Group B) | ผู้ป่วย | วัตถุประสงค์: ตรวจสอบข้อมูลติดต่อ</a:t>
            </a:r>
          </a:p>
        </p:txBody>
      </p:sp>
      <p:pic>
        <p:nvPicPr>
          <p:cNvPr id="4" name="Picture 3" descr="B11-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เปิดหน้าโปรไฟล์จากตั้งค่าหรือเมนูผู้ใช้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ชื่อ อีเมล โทรศัพท์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ชื่อ อีเมล โทรศัพท์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ชื่อ อีเมล โทรศัพท์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ชื่อ อีเมล โทรศัพท์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ตรวจสอบข้อมูลติดต่อ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docs/screenshots/group-B/B11-profile.png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อย่าข้าม PDPA ก่อนจองนัดที่ต้องแชร์ข้อมูล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4. จองและติดตามนัดหมาย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กระบวนการจองนัดแบบ Wizard 3 ขั้น ส่งเข้า Appointment Pool เมื่อไม่ระบุแพทย์</a:t>
            </a:r>
          </a:p>
          <a:p>
            <a:pPr>
              <a:defRPr sz="1800" b="0">
                <a:latin typeface="FC Iconic"/>
              </a:defRPr>
            </a:pPr>
            <a:r>
              <a:t>1. ขั้น 1: เลือกประเภทนัด (ออนไลน์/ที่โรงพยาบาล)</a:t>
            </a:r>
          </a:p>
          <a:p>
            <a:pPr>
              <a:defRPr sz="1800" b="0">
                <a:latin typeface="FC Iconic"/>
              </a:defRPr>
            </a:pPr>
            <a:r>
              <a:t>2. ขั้น 2: กรอกอาการ ≥10 ตัวอักษร + ความเร่งด่วน + วันเวลา</a:t>
            </a:r>
          </a:p>
          <a:p>
            <a:pPr>
              <a:defRPr sz="1800" b="0">
                <a:latin typeface="FC Iconic"/>
              </a:defRPr>
            </a:pPr>
            <a:r>
              <a:t>3. ขั้น 3: เลือกแพทย์หรือ «ให้ระบบจัดสรร» → ยืนยัน</a:t>
            </a:r>
          </a:p>
          <a:p>
            <a:pPr>
              <a:defRPr sz="1800" b="0">
                <a:latin typeface="FC Iconic"/>
              </a:defRPr>
            </a:pPr>
            <a:r>
              <a:t>4. สถานะเริ่มต้น: `pending` หรือ `in_pool`</a:t>
            </a:r>
          </a:p>
          <a:p>
            <a:pPr>
              <a:defRPr sz="1800" b="0">
                <a:latin typeface="FC Iconic"/>
              </a:defRPr>
            </a:pPr>
            <a:r>
              <a:t>5. รอแอดมินจัดสรรแพทย์ หรือแพทย์ยืนยัน → `confirmed`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18. รายการนัดหมาย — แท็บกรอง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กรองตามสถานะได้ทันที</a:t>
            </a:r>
          </a:p>
        </p:txBody>
      </p:sp>
      <p:pic>
        <p:nvPicPr>
          <p:cNvPr id="4" name="Picture 3" descr="D01-appointments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เปิดเมนูนัดหมาย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รายการนัดพร้อมป้ายสถานะ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รายการนัดพร้อมป้ายสถานะ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เลือกแท็บ Pending / All / Confirmed /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รายการนัดพร้อมป้ายสถานะ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รายการนัดพร้อมป้ายสถานะ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รายการนัดพร้อมป้ายสถานะ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รายการนัดพร้อมป้ายสถานะ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กรองตามสถานะได้ทันที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docs/screenshots/group-D/D01-appointments-list.png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19. แท็บ «ทั้งหมด»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ภาพรวมนัดทั้งหมด</a:t>
            </a:r>
          </a:p>
        </p:txBody>
      </p:sp>
      <p:pic>
        <p:nvPicPr>
          <p:cNvPr id="4" name="Picture 3" descr="D02-all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คลิกแท็บ 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แสดงนัดทุกสถานะรวมกัน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แสดงนัดทุกสถานะรวมกัน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แสดงนัดทุกสถานะรวมกัน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แสดงนัดทุกสถานะรวมกัน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ภาพรวมนัดทั้งหมด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docs/screenshots/group-D/D02-all-appointments.png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20. ตัวช่วยจองนัด — ขั้นที่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Wizard ช่วยไม่พลาดขั้นตอน</a:t>
            </a:r>
          </a:p>
        </p:txBody>
      </p:sp>
      <p:pic>
        <p:nvPicPr>
          <p:cNvPr id="4" name="Picture 3" descr="D03-booking-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883031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 «จองนัดหมายใหม่»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ตัวบอกขั้นตอน 3 ขั้น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ตัวบอกขั้นตอน 3 ขั้น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เลือกประเภทออนไลน์หรือที่โรงพยาบาล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ตัวบอกขั้นตอน 3 ขั้น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ตัวบอกขั้นตอน 3 ขั้น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ตัวบอกขั้นตอน 3 ขั้น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ตัวบอกขั้นตอน 3 ขั้น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Wizard ช่วยไม่พลาดขั้นตอน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docs/screenshots/group-D/D03-booking-wizard.png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21. กรอกอาการและความเร่งด่วน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ข้อมูลนี้ส่งให้แพทย์และ Pool</a:t>
            </a:r>
          </a:p>
        </p:txBody>
      </p:sp>
      <p:pic>
        <p:nvPicPr>
          <p:cNvPr id="4" name="Picture 3" descr="D04-symptoms-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97284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กรอกอาการอย่างน้อย 10 ตัวอักษร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ฟอร์มอาการครบ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1: ฟอร์มอาการครบ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เลือกระดับความเร่งด่วนและวันเวลา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ฟอร์มอาการครบ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2: ฟอร์มอาการครบ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กดถัดไป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ฟอร์มอาการครบ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ตรวจหน้าจอขั้นที่ 3: ฟอร์มอาการครบ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latin typeface="FC Iconic"/>
                        </a:defRPr>
                      </a:pPr>
                      <a:r>
                        <a:t>ฟอร์มอาการครบ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ฟอร์มอาการครบ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ข้อมูลนี้ส่งให้แพทย์และ Pool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docs/screenshots/group-D/D04-symptoms-filled.png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22. เลือกแพทย์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ไม่ระบุแพทย์จะเข้า Appointment Pool</a:t>
            </a:r>
          </a:p>
        </p:txBody>
      </p:sp>
      <p:pic>
        <p:nvPicPr>
          <p:cNvPr id="4" name="Picture 3" descr="D05-doctor-sel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74830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ดูการ์ดแพทย์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รายการแพทย์พร้อมเวลาว่าง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รายการแพทย์พร้อมเวลาว่าง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เลือกแพทย์หรือ «ให้ระบบจัดสรร»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รายการแพทย์พร้อมเวลาว่าง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รายการแพทย์พร้อมเวลาว่าง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รายการแพทย์พร้อมเวลาว่าง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รายการแพทย์พร้อมเวลาว่าง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ไม่ระบุแพทย์จะเข้า Appointment Pool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docs/screenshots/group-D/D05-doctor-selection.png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23. ยืนยันแพทย์ที่เลือก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ลดความผิดพลาดก่อนส่งคำขอ</a:t>
            </a:r>
          </a:p>
        </p:txBody>
      </p:sp>
      <p:pic>
        <p:nvPicPr>
          <p:cNvPr id="4" name="Picture 3" descr="D06-doctor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คลิกการ์ดแพทย์ — มีกรอบเน้น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แพทย์ที่เลือกชัดเจน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แพทย์ที่เลือกชัดเจน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กดถัดไป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แพทย์ที่เลือกชัดเจน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แพทย์ที่เลือกชัดเจน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แพทย์ที่เลือกชัดเจน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แพทย์ที่เลือกชัดเจน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ลดความผิดพลาดก่อนส่งคำขอ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docs/screenshots/group-D/D06-doctor-selected.png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24. ส่งคำขอนัดสำเร็จ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สถานะเริ่ม pending หรือ in_pool</a:t>
            </a:r>
          </a:p>
        </p:txBody>
      </p:sp>
      <p:pic>
        <p:nvPicPr>
          <p:cNvPr id="4" name="Picture 3" descr="D06-doctor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ตรวจสอบสรุป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ข้อความสำเร็จและรหัสนัด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กดยืนยันและส่ง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ข้อความสำเร็จและรหัสนัด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ข้อความสำเร็จและรหัสนัด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ข้อความสำเร็จและรหัสนัด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ข้อความสำเร็จและรหัสนัด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สถานะเริ่ม pending หรือ in_pool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docs/screenshots/group-D/D07-submitted.png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25. รายการนัดหลังจอง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ติดตามสถานะแบบเรียลไทม์</a:t>
            </a:r>
          </a:p>
        </p:txBody>
      </p:sp>
      <p:pic>
        <p:nvPicPr>
          <p:cNvPr id="4" name="Picture 3" descr="D08-appointments-after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กลับหน้านัดหมาย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นัดใหม่ปรากฏในรายการ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นัดใหม่ปรากฏในรายการ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นัดใหม่ปรากฏในรายการ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นัดใหม่ปรากฏในรายการ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ติดตามสถานะแบบเรียลไทม์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docs/screenshots/group-D/D08-appointments-after-book.png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26. นัดหมายข้อมูลจริงจากระบบ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ไม่ใช่ข้อมูลจำลอง</a:t>
            </a:r>
          </a:p>
        </p:txBody>
      </p:sp>
      <p:pic>
        <p:nvPicPr>
          <p:cNvPr id="4" name="Picture 3" descr="E13-appointments-real-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รีเฟรชหน้านัดหมาย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ข้อมูลจาก PostgreSQL จริง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ข้อมูลจาก PostgreSQL จริง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ข้อมูลจาก PostgreSQL จริง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ข้อมูลจาก PostgreSQL จริง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ไม่ใช่ข้อมูลจำลอง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docs/screenshots/group-E/E13-appointments-real-data.png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27. รายละเอียดรายการนัด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4. จองและติดตามนัดหมาย | ผู้ป่วย | วัตถุประสงค์: ใช้เมื่อนัด confirmed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48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คลิกนัดที่ต้องการ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รายละเอียดและปุ่มเข้าร่วม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รายละเอียดและปุ่มเข้าร่วม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รายละเอียดและปุ่มเข้าร่วม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รายละเอียดและปุ่มเข้าร่วม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ใช้เมื่อนัด confirmed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Processes/Appointment_Workflows.md — Patient booking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docs/screenshots/group-E/E14-appointment-list.png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อาการส่งถึงแพทย์และ Pool — ห้ามกรอกข้อมูลละเอียดอ่อนเกินจำเป็น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5. วิดีโอคอลและ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Telehealth ผ่าน meet.jit.si + Izara Lobby แบบ Teams — แพทย์เป็น HOST อนุมัติผู้เข้าร่วม</a:t>
            </a:r>
          </a:p>
          <a:p>
            <a:pPr>
              <a:defRPr sz="1800" b="0">
                <a:latin typeface="FC Iconic"/>
              </a:defRPr>
            </a:pPr>
            <a:r>
              <a:t>1. เปิดนัดที่สถานะ `confirmed` → กดเข้าร่วมประชุม</a:t>
            </a:r>
          </a:p>
          <a:p>
            <a:pPr>
              <a:defRPr sz="1800" b="0">
                <a:latin typeface="FC Iconic"/>
              </a:defRPr>
            </a:pPr>
            <a:r>
              <a:t>2. อ่านและยอมรับข้อตกลง telemedicine (`WF15a`)</a:t>
            </a:r>
          </a:p>
          <a:p>
            <a:pPr>
              <a:defRPr sz="1800" b="0">
                <a:latin typeface="FC Iconic"/>
              </a:defRPr>
            </a:pPr>
            <a:r>
              <a:t>3. หน้า pre-join: ตรวจชื่อ กล้อง ไมค์ → เข้า Lobby</a:t>
            </a:r>
          </a:p>
          <a:p>
            <a:pPr>
              <a:defRPr sz="1800" b="0">
                <a:latin typeface="FC Iconic"/>
              </a:defRPr>
            </a:pPr>
            <a:r>
              <a:t>4. รอในห้อง Lobby (`lobby-waiting-screen`) จนแพทย์กด Admit</a:t>
            </a:r>
          </a:p>
          <a:p>
            <a:pPr>
              <a:defRPr sz="1800" b="0">
                <a:latin typeface="FC Iconic"/>
              </a:defRPr>
            </a:pPr>
            <a:r>
              <a:t>5. หลัง Admit — เข้า Jitsi; อนุญาตกล้อง/ไมค์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28. ปุ่มเข้าร่วมวิดีโอคอล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ต้องอนุญาตกล้อง/ไมค์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48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เปิดนัดที่ยืนยันแล้ว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ปุ่ม Join สีเขียว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กดเข้าร่วมประชุม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ปุ่ม Join สีเขียว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ปุ่ม Join สีเขียว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ปุ่ม Join สีเขียว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ต้องอนุญาตกล้อง/ไมค์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docs/screenshots/group-E/E15-patient-meeting-access.png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29. รอแพทย์ในห้อง Lobby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ความปลอดภัยแบบ Teams Lobby</a:t>
            </a:r>
          </a:p>
        </p:txBody>
      </p:sp>
      <p:pic>
        <p:nvPicPr>
          <p:cNvPr id="4" name="Picture 3" descr="E10c0-patient-waiting-before-h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501360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เข้าห้องก่อนแพทย์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waiting to be admitted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waiting to be admitted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waiting to be admitted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waiting to be admitted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ความปลอดภัยแบบ Teams Lobby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docs/screenshots/group-E/E10c0-patient-waiting-before-host.png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30. ห้อง Lobby 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แพทย์ควบคุมการเข้าห้อง</a:t>
            </a:r>
          </a:p>
        </p:txBody>
      </p:sp>
      <p:pic>
        <p:nvPicPr>
          <p:cNvPr id="4" name="Picture 3" descr="E10d-patient-meeting-lobb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รอจนแพทย์กด Admit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หน้าจอรออนุมัติ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หน้าจอรออนุมัติ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หน้าจอรออนุมัติ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หน้าจอรออนุมัติ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แพทย์ควบคุมการเข้าห้อง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docs/screenshots/group-E/E10d-patient-meeting-lobby.png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31. ห้องประชุม Jitsi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ปรึกษาแพทย์แบบเรียลไทม์</a:t>
            </a:r>
          </a:p>
        </p:txBody>
      </p:sp>
      <p:pic>
        <p:nvPicPr>
          <p:cNvPr id="4" name="Picture 3" descr="E10d-patient-jitsi-m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886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หลังได้รับอนุมัติจาก 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 แชท แชร์หน้าจอ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วิดีโอ แชท แชร์หน้าจอ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วิดีโอ แชท แชร์หน้าจอ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วิดีโอ แชท แชร์หน้าจอ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ปรึกษาแพทย์แบบเรียลไทม์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docs/screenshots/group-J-meeting-jitsi/E10d-patient-jitsi-meet.png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32. ข้อตกลงก่อนเข้าห้อง (ผู้ป่วย)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ตามมาตรฐาน telemedicine</a:t>
            </a:r>
          </a:p>
        </p:txBody>
      </p:sp>
      <p:pic>
        <p:nvPicPr>
          <p:cNvPr id="4" name="Picture 3" descr="WF15a-patient-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509955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อ่านข้อตกลง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หน้าตกลงการใช้บริการ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กดยอมรับ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หน้าตกลงการใช้บริการ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หน้าตกลงการใช้บริการ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หน้าตกลงการใช้บริการ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ตามมาตรฐาน telemedicine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docs/screenshots/workflows/video-meeting/WF15a-patient-agreement.png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33. หน้าก่อนเข้าห้อง — ลิงก์เชิญ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รองรับ guest invite</a:t>
            </a:r>
          </a:p>
        </p:txBody>
      </p:sp>
      <p:pic>
        <p:nvPicPr>
          <p:cNvPr id="4" name="Picture 3" descr="WF15a-patient-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509955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ตรวจชื่อแสดงและอุปกรณ์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พรี-จอยน์พร้อมลิงก์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กดเข้าร่วม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พรี-จอยน์พร้อมลิงก์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พรี-จอยน์พร้อมลิงก์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พรี-จอยน์พร้อมลิงก์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พรี-จอยน์พร้อมลิงก์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รองรับ guest invite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docs/screenshots/workflows/video-meeting/WF15b-patient-pre-join-invite.png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34. สรุปหลังจบการประชุม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ช่วยผู้ป่วยทบทวนคำแนะนำ</a:t>
            </a:r>
          </a:p>
        </p:txBody>
      </p:sp>
      <p:pic>
        <p:nvPicPr>
          <p:cNvPr id="4" name="Picture 3" descr="WF16-meeting-ended-ai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683539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จบการประชุม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 AI และบันทึก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สรุป AI และบันทึก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 AI และบันทึก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สรุป AI และบันทึก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ช่วยผู้ป่วยทบทวนคำแนะนำ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docs/screenshots/workflows/video-meeting/WF16-meeting-ended-ai-summary.png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35. ผู้เชิญรอในห้อง (มุมผู้ป่วย)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5. วิดีโอคอลและ Lobby | ผู้ป่วย | วัตถุประสงค์: ญาติเข้าร่วมได้เมื่อแพทย์อนุมัติ</a:t>
            </a:r>
          </a:p>
        </p:txBody>
      </p:sp>
      <p:pic>
        <p:nvPicPr>
          <p:cNvPr id="4" name="Picture 3" descr="E14-appointment-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480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มี guest ใน 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รายชื่อผู้รอ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รายชื่อผู้รอ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รายชื่อผู้รอ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รายชื่อผู้รอ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ญาติเข้าร่วมได้เมื่อแพทย์อนุมัติ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Processes/VIDEO_MEETING_JITSI_GEMINI.md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docs/screenshots/group-E/E29-guests-before-host.png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อย่าแชร์ลิงก์ห้องประชุมสาธารณะ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Guest ต้องผ่านการอนุมัติจากแพทย์และรอแพทย์เริ่มห้อง (host-ready)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6. ประวัติสุขภาพ (PHR)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«6. ประวัติสุขภาพ (PHR)»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36. หน้า PHR 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ศูนย์กลางข้อมูลสุขภาพส่วนตัว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เปิดเมนู PHR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แท็บและสรุปข้อมูล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แท็บและสรุปข้อมูล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แท็บและสรุปข้อมูล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แท็บและสรุปข้อมูล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ศูนย์กลางข้อมูลสุขภาพส่วนตัว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docs/screenshots/group-F/F01-phr-page.png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37. สำรวจทุกแท็บ PHR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ข้อมูลครบในที่เดียว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คลิกแต่ละแท็บ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สัญญาณชีพ ยา แพ้ แล็บ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สัญญาณชีพ ยา แพ้ แล็บ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สัญญาณชีพ ยา แพ้ แล็บ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สัญญาณชีพ ยา แพ้ แล็บ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ข้อมูลครบในที่เดียว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docs/screenshots/group-F/F02-phr-tabs-explored.png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38. แท็บสัญญาณชีพ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ติดตามความดัน ชีพจร ฯลฯ</a:t>
            </a:r>
          </a:p>
        </p:txBody>
      </p:sp>
      <p:pic>
        <p:nvPicPr>
          <p:cNvPr id="4" name="Picture 3" descr="F03-vital-signs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เลือกแท็บสัญญาณชีพ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ตารางค่าสุขภาพ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ตารางค่าสุขภาพ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ตารางค่าสุขภาพ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ตารางค่าสุขภาพ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ติดตามความดัน ชีพจร ฯลฯ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docs/screenshots/group-F/F03-vital-signs-tab.png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39. เปิดฟอร์มบันทึกสัญญาณชีพ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บันทึกด้วยตนเอง</a:t>
            </a:r>
          </a:p>
        </p:txBody>
      </p:sp>
      <p:pic>
        <p:nvPicPr>
          <p:cNvPr id="4" name="Picture 3" descr="F04-vital-form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กดเพิ่ม/บันทึกค่าใหม่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ฟอร์มกรอกค่า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ฟอร์มกรอกค่า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ฟอร์มกรอกค่า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ฟอร์มกรอกค่า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บันทึกด้วยตนเอง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docs/screenshots/group-F/F04-vital-form-open.png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40. กรอกค่าสัญญาณชีพ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ตรวจสอบความถูกต้อง</a:t>
            </a:r>
          </a:p>
        </p:txBody>
      </p:sp>
      <p:pic>
        <p:nvPicPr>
          <p:cNvPr id="4" name="Picture 3" descr="F05-vitals-fi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กรอกตัวเลขครบ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ฟอร์มก่อนบันทึก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2: ฟอร์มก่อนบันทึก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ฟอร์มก่อนบันทึก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ฟอร์มก่อนบันทึก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ตรวจสอบความถูกต้อง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docs/screenshots/group-F/F05-vitals-filled.png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41. บันทึกสัญญาณชีพสำเร็จ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แพทย์เห็นเมื่อเปิดเวชระเบียน</a:t>
            </a:r>
          </a:p>
        </p:txBody>
      </p:sp>
      <p:pic>
        <p:nvPicPr>
          <p:cNvPr id="4" name="Picture 3" descr="F06-vitals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ยืนยันการบันทึก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ค่าใหม่ในรายการ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ค่าใหม่ในรายการ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ค่าใหม่ในรายการ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ค่าใหม่ในรายการ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แพทย์เห็นเมื่อเปิดเวชระเบียน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docs/screenshots/group-F/F06-vitals-saved.png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42. แท็บยา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แจ้งแพทย์ก่อนจ่ายยาใหม่</a:t>
            </a:r>
          </a:p>
        </p:txBody>
      </p:sp>
      <p:pic>
        <p:nvPicPr>
          <p:cNvPr id="4" name="Picture 3" descr="F07-medications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1624513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เปิดแท็บยา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รายการยาประจำ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รายการยาประจำ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รายการยาประจำ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รายการยาประจำ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แจ้งแพทย์ก่อนจ่ายยาใหม่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docs/screenshots/group-F/F07-medications-tab.png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43. แท็บแพ้ยา/สาร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สำคัญต่อความปลอดภัย</a:t>
            </a:r>
          </a:p>
        </p:txBody>
      </p:sp>
      <p:pic>
        <p:nvPicPr>
          <p:cNvPr id="4" name="Picture 3" descr="F08-allergies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เปิดแท็บแพ้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รายการสิ่งที่แพ้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รายการสิ่งที่แพ้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รายการสิ่งที่แพ้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รายการสิ่งที่แพ้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สำคัญต่อความปลอดภัย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docs/screenshots/group-F/F08-allergies-tab.png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44. แท็บผลแล็บ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อ้างอิงก่อนพบแพทย์</a:t>
            </a:r>
          </a:p>
        </p:txBody>
      </p:sp>
      <p:pic>
        <p:nvPicPr>
          <p:cNvPr id="4" name="Picture 3" descr="F09-lab-results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เปิดแท็บผลแล็บ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ผลตรวจย้อนหลัง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ผลตรวจย้อนหลัง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ผลตรวจย้อนหลัง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ผลตรวจย้อนหลัง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อ้างอิงก่อนพบแพทย์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docs/screenshots/group-F/F09-lab-results-tab.png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45. ภาพรวม PHR พร้อมข้อมูล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6. ประวัติสุขภาพ (PHR) | ผู้ป่วย | วัตถุประสงค์: ข้อมูล sync กับแพทย์</a:t>
            </a:r>
          </a:p>
        </p:txBody>
      </p:sp>
      <p:pic>
        <p:nvPicPr>
          <p:cNvPr id="4" name="Picture 3" descr="F01-phr-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70380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กลับแท็บภาพรวม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สรุปรวมทุกหมวด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สรุปรวมทุกหมวด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สรุปรวมทุกหมวด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สรุปรวมทุกหมวด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ข้อมูล sync กับแพทย์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docs/screenshots/group-F/F14-phr-overview-data.png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7. PDPA และหนังสือแสดงเจตนา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«7. PDPA และหนังสือแสดงเจตนา»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46. หน้า PDPA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ตาม พ.ร.บ. คุ้มครองข้อมูล</a:t>
            </a:r>
          </a:p>
        </p:txBody>
      </p:sp>
      <p:pic>
        <p:nvPicPr>
          <p:cNvPr id="4" name="Picture 3" descr="B09-pd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เปิดเมนู PDPA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นโยบายและสิทธิ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นโยบายและสิทธิ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นโยบายและสิทธิ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นโยบายและสิทธิ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ตาม พ.ร.บ. คุ้มครองข้อมูล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docs/screenshots/group-G/G01-pdpa-page.png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47. แท็บความยินยอม PDPA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ควบคุมการแชร์ข้อมูล</a:t>
            </a:r>
          </a:p>
        </p:txBody>
      </p:sp>
      <p:pic>
        <p:nvPicPr>
          <p:cNvPr id="4" name="Picture 3" descr="G02-pdpa-ta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743127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สลับแท็บยินยอม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consent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 consent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 consent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ควบคุมการแชร์ข้อมูล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docs/screenshots/group-G/G02-pdpa-tabs.png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48. สวิตช์ความเป็นส่วนตัว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เปลี่ยนได้ตลอด</a:t>
            </a:r>
          </a:p>
        </p:txBody>
      </p:sp>
      <p:pic>
        <p:nvPicPr>
          <p:cNvPr id="4" name="Picture 3" descr="G03-privacy-tog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756945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เปิด/ปิดการแชร์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toggle ต่อหัวข้อ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toggle ต่อหัวข้อ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toggle ต่อหัวข้อ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toggle ต่อหัวข้อ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เปลี่ยนได้ตลอด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docs/screenshots/group-G/G03-privacy-toggles.png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49. หนังสือแสดงเจตนา — เริ่มต้น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บันทึกเจตจำนงการรักษา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เลือกทำ Living Will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 3 ขั้น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ตัวช่วย 3 ขั้น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 3 ขั้น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ตัวช่วย 3 ขั้น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บันทึกเจตจำนงการรักษา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docs/screenshots/group-G/G04-living-will.png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50. ขั้น 1 — ผู้แทน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ใช้เมื่อไม่สามารถตัดสินใจเอง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กรอกผู้แทนโดยชอบธรรม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รายชื่อผู้ติดต่อ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รายชื่อผู้ติดต่อ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รายชื่อผู้ติดต่อ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รายชื่อผู้ติดต่อ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ใช้เมื่อไม่สามารถตัดสินใจเอง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docs/screenshots/group-G/G05-step1-representatives.png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51. ขั้น 2 — การรักษา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ชัดเจนตามความต้องการ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เลือกแนวทางการรักษา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ตัวเลือกการรักษา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ตัวเลือกการรักษา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ตัวเลือกการรักษา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ตัวเลือกการรักษา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ชัดเจนตามความต้องการ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docs/screenshots/group-G/G06-step2-treatments.png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52. ความชอบการรักษา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ลดความคลุมเครือ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ระบุรายละเอียด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ค่าที่เลือกแล้ว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ค่าที่เลือกแล้ว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ค่าที่เลือกแล้ว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ค่าที่เลือกแล้ว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ลดความคลุมเครือ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docs/screenshots/group-G/G07-treatment-prefs.png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53. ขั้น 3 — ลายเซ็น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ยืนยันความถูกต้อง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ลงลายเซ็นดิจิทัล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พื้นที่เซ็น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พื้นที่เซ็น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พื้นที่เซ็น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พื้นที่เซ็น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ยืนยันความถูกต้อง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docs/screenshots/group-G/G08-step3-signature.png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54. บันทึก Living Will สำเร็จ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เก็บในฐานข้อมูลปลอดภัย</a:t>
            </a:r>
          </a:p>
        </p:txBody>
      </p:sp>
      <p:pic>
        <p:nvPicPr>
          <p:cNvPr id="4" name="Picture 3" descr="G04-living-w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3500170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กดบันทึก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ข้อความยืนยัน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ข้อความยืนยัน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ข้อความยืนยัน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ข้อความยืนยัน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เก็บในฐานข้อมูลปลอดภัย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docs/screenshots/group-G/G09-living-will-saved.png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55. นัดหมายจากมุม PDPA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7. PDPA และหนังสือแสดงเจตนา | ผู้ป่วย | วัตถุประสงค์: workflow ต่อเนื่อง</a:t>
            </a:r>
          </a:p>
        </p:txBody>
      </p:sp>
      <p:pic>
        <p:nvPicPr>
          <p:cNvPr id="4" name="Picture 3" descr="B02-appoint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กลับตรวจนัด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เชื่อมโยงกับเมนูนัด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เชื่อมโยงกับเมนูนัด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เชื่อมโยงกับเมนูนัด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เชื่อมโยงกับเมนูนัด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workflow ต่อเนื่อง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docs/screenshots/group-G/G13-patient-appointments.png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8. AI, Timeline, แผนที่, ค้นหาแพทย์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«8. AI, Timeline, แผนที่, ค้นหาแพทย์»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56. AI Doctor — หน้าแรก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ไม่ใช่การวินิจฉัย — คำแนะนำเบื้องต้น</a:t>
            </a:r>
          </a:p>
        </p:txBody>
      </p:sp>
      <p:pic>
        <p:nvPicPr>
          <p:cNvPr id="4" name="Picture 3" descr="B03-ai-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เปิดปรึกษา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ช่องแชท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ช่องแชท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ช่องแชท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ช่องแชท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ไม่ใช่การวินิจฉัย — คำแนะนำเบื้องต้น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docs/screenshots/group-J/J01-ai-doctor.png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57. กรอกอาการใน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Gemini วิเคราะห์อาการ</a:t>
            </a:r>
          </a:p>
        </p:txBody>
      </p:sp>
      <p:pic>
        <p:nvPicPr>
          <p:cNvPr id="4" name="Picture 3" descr="J02-symptom-ty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พิมพ์อาการ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ข้อความในช่อง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ข้อความในช่อง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ข้อความในช่อง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ข้อความในช่อง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Gemini วิเคราะห์อาการ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docs/screenshots/group-J/J02-symptom-typed.png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58. คำตอบจาก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ควรพบแพทย์หากรุนแรง</a:t>
            </a:r>
          </a:p>
        </p:txBody>
      </p:sp>
      <p:pic>
        <p:nvPicPr>
          <p:cNvPr id="4" name="Picture 3" descr="J03-ai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รอคำตอบ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คำแนะนำและคำเตือน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คำแนะนำและคำเตือน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คำแนะนำและคำเตือน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คำแนะนำและคำเตือน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ควรพบแพทย์หากรุนแรง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docs/screenshots/group-J/J03-ai-response.png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59. ตรวจสอบคำตอบ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บันทึกหรือจองนัดต่อ</a:t>
            </a:r>
          </a:p>
        </p:txBody>
      </p:sp>
      <p:pic>
        <p:nvPicPr>
          <p:cNvPr id="4" name="Picture 3" descr="J03-ai-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อ่านคำเตือน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ข้อความครบ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ข้อความครบ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ข้อความครบ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บันทึกหรือจองนัดต่อ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docs/screenshots/group-J/J04-response-check.png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60. เส้นทางสุขภาพ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นัด ยา แล็บ รวมกัน</a:t>
            </a:r>
          </a:p>
        </p:txBody>
      </p:sp>
      <p:pic>
        <p:nvPicPr>
          <p:cNvPr id="4" name="Picture 3" descr="B06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 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เหตุการณ์เรียงเวลา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เหตุการณ์เรียงเวลา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เหตุการณ์เรียงเวลา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เหตุการณ์เรียงเวลา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นัด ยา แล็บ รวมกัน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docs/screenshots/group-J/J05-timeline.png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61. กรอง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ค้นหาเร็ว</a:t>
            </a:r>
          </a:p>
        </p:txBody>
      </p:sp>
      <p:pic>
        <p:nvPicPr>
          <p:cNvPr id="4" name="Picture 3" descr="B06-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เลือกประเภทกรอง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เฉพาะประเภทที่เลือก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เฉพาะประเภทที่เลือก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เฉพาะประเภทที่เลือก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เฉพาะประเภทที่เลือก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ค้นหาเร็ว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docs/screenshots/group-J/J06-timeline-filtered.png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62. เลื่อนดู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ประวัติยาว</a:t>
            </a:r>
          </a:p>
        </p:txBody>
      </p:sp>
      <p:pic>
        <p:nvPicPr>
          <p:cNvPr id="4" name="Picture 3" descr="J07-timeline-sc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เลื่อนลง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เหตุการณ์เก่า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เหตุการณ์เก่า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เหตุการณ์เก่า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เหตุการณ์เก่า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ประวัติยาว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docs/screenshots/group-J/J07-timeline-scrolled.png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63. แผนที่สถานพยาบาล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หาโรงพยาบาลใกล้</a:t>
            </a:r>
          </a:p>
        </p:txBody>
      </p:sp>
      <p:pic>
        <p:nvPicPr>
          <p:cNvPr id="4" name="Picture 3" descr="J08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เปิดแผนที่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แผนที่และรายการ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แผนที่และรายการ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แผนที่และรายการ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หาโรงพยาบาลใกล้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docs/screenshots/group-J/J08-map.png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64. ค้นหาบนแผนที่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เช่น โรงพยาบาล + เขต</a:t>
            </a:r>
          </a:p>
        </p:txBody>
      </p:sp>
      <p:pic>
        <p:nvPicPr>
          <p:cNvPr id="4" name="Picture 3" descr="J09-map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พิมพ์คำค้น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ผลค้นหา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ผลค้นหา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ผลค้นหา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เช่น โรงพยาบาล + เขต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docs/screenshots/group-J/J09-map-search.png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65. ผลค้นหาแผนที่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นำทางหรือโทร</a:t>
            </a:r>
          </a:p>
        </p:txBody>
      </p:sp>
      <p:pic>
        <p:nvPicPr>
          <p:cNvPr id="4" name="Picture 3" descr="J10-map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เลือกสถานที่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หมุดบนแผนที่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หมุดบนแผนที่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หมุดบนแผนที่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หมุดบนแผนที่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นำทางหรือโทร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docs/screenshots/group-J/J10-map-results.png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66. ค้นหาแพทย์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ดูความเชี่ยวชาญ</a:t>
            </a:r>
          </a:p>
        </p:txBody>
      </p:sp>
      <p:pic>
        <p:nvPicPr>
          <p:cNvPr id="4" name="Picture 3" descr="B08-find-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เปิดค้นหาแพทย์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การ์ดแพทย์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การ์ดแพทย์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การ์ดแพทย์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การ์ดแพทย์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ดูความเชี่ยวชาญ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docs/screenshots/group-J/J11-find-doctors.png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67. กรองความเชี่ยวชาญ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จำกัดผลลัพธ์</a:t>
            </a:r>
          </a:p>
        </p:txBody>
      </p:sp>
      <p:pic>
        <p:nvPicPr>
          <p:cNvPr id="4" name="Picture 3" descr="J12-specialty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เลือกสาขา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รายการกรองแล้ว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รายการกรองแล้ว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รายการกรองแล้ว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รายการกรองแล้ว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จำกัดผลลัพธ์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docs/screenshots/group-J/J12-specialty-filter.png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68. รายละเอียดแพทย์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8. AI, Timeline, แผนที่, ค้นหาแพทย์ | ผู้ป่วย | วัตถุประสงค์: ก่อนจองนัด</a:t>
            </a:r>
          </a:p>
        </p:txBody>
      </p:sp>
      <p:pic>
        <p:nvPicPr>
          <p:cNvPr id="4" name="Picture 3" descr="J12-specialty-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คลิกการ์ดแพทย์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โปรไฟล์แพทย์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โปรไฟล์แพทย์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โปรไฟล์แพทย์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โปรไฟล์แพทย์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ก่อนจองนัด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docs/screenshots/group-J/J13-doctor-detail.png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9. คลังความรู้และการแจ้งเตือน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หมวด «9. คลังความรู้และการแจ้งเตือน» ครอบคลุมฟังก์ชันผู้ป่วยตามเมนูและ UI test ที่ผ่าน</a:t>
            </a:r>
          </a:p>
          <a:p>
            <a:pPr>
              <a:defRPr sz="1800" b="0">
                <a:latin typeface="FC Iconic"/>
              </a:defRPr>
            </a:pPr>
            <a:r>
              <a:t>1. เข้าสู่ระบบด้วยบัญชีผู้ป่วยที่ลงทะเบียนแล้ว</a:t>
            </a:r>
          </a:p>
          <a:p>
            <a:pPr>
              <a:defRPr sz="1800" b="0">
                <a:latin typeface="FC Iconic"/>
              </a:defRPr>
            </a:pPr>
            <a:r>
              <a:t>2. เปิดเมนูที่เกี่ยวข้องกับหมวดนี้จาก Sidebar</a:t>
            </a:r>
          </a:p>
          <a:p>
            <a:pPr>
              <a:defRPr sz="1800" b="0">
                <a:latin typeface="FC Iconic"/>
              </a:defRPr>
            </a:pPr>
            <a:r>
              <a:t>3. ดำเนินการตามขั้นตอนในแต่ละภาพหน้าจอทีละขั้น</a:t>
            </a:r>
          </a:p>
          <a:p>
            <a:pPr>
              <a:defRPr sz="1800" b="0">
                <a:latin typeface="FC Iconic"/>
              </a:defRPr>
            </a:pPr>
            <a:r>
              <a:t>4. ตรวจสอบข้อความแจ้งเตือน สถานะ API และ `data-testid`</a:t>
            </a:r>
          </a:p>
          <a:p>
            <a:pPr>
              <a:defRPr sz="1800" b="0">
                <a:latin typeface="FC Iconic"/>
              </a:defRPr>
            </a:pPr>
            <a:r>
              <a:t>5. ยืนยันผลลัพธ์กับ Processes/Pages ที่อ้างอิง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69. คลังความรู้ — รายการ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เนื้อหาอนุมัติแล้ว</a:t>
            </a:r>
          </a:p>
        </p:txBody>
      </p:sp>
      <p:pic>
        <p:nvPicPr>
          <p:cNvPr id="4" name="Picture 3" descr="B04-health-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663676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เปิดคลังความรู้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บทความ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บทความ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เนื้อหาอนุมัติแล้ว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docs/screenshots/group-H/H10-health-library.png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70. อ่านบทความ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อ่านก่อนพบแพทย์</a:t>
            </a:r>
          </a:p>
        </p:txBody>
      </p:sp>
      <p:pic>
        <p:nvPicPr>
          <p:cNvPr id="4" name="Picture 3" descr="H11-articl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663676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คลิกบทความ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เนื้อหาเต็ม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เนื้อหาเต็ม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เนื้อหาเต็ม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เนื้อหาเต็ม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อ่านก่อนพบแพทย์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docs/screenshots/group-H/H11-article-detail.png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71. AI จาก Group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ยืนยัน cross-page</a:t>
            </a:r>
          </a:p>
        </p:txBody>
      </p:sp>
      <p:pic>
        <p:nvPicPr>
          <p:cNvPr id="4" name="Picture 3" descr="H11-articl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663676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ทดสอบ AI อีกครั้ง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AI สมบูรณ์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หน้า AI สมบูรณ์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หน้า AI สมบูรณ์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หน้า AI สมบูรณ์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ยืนยัน cross-page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docs/screenshots/group-H/H12-ai-doctor.png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72. การแจ้งเตือนผู้ป่วย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9. คลังความรู้และการแจ้งเตือน | ผู้ป่วย | วัตถุประสงค์: นัดใหม่ แพทย์รับเรื่อง</a:t>
            </a:r>
          </a:p>
        </p:txBody>
      </p:sp>
      <p:pic>
        <p:nvPicPr>
          <p:cNvPr id="4" name="Picture 3" descr="I11-patient-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คลิกกระดิ่ง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รายการแจ้งเตือน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รายการแจ้งเตือน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รายการแจ้งเตือน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รายการแจ้งเตือน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นัดใหม่ แพทย์รับเรื่อง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Processes/Pages/Patient-Portal/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docs/screenshots/group-I/I11-patient-notifications.png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ข้อมูลสุขภาพเป็นความลับ — อย่าแชร์รหัสผ่าน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AI ให้คำแนะนำเบื้องต้น ไม่ใช่การวินิจฉัย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หมวด: 10. เวิร์กโฟลว์ครบวงจร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ทดสอบเส้นทาง GATE0 ตั้งแต่จองจนจบการประชุม</a:t>
            </a:r>
          </a:p>
          <a:p>
            <a:pPr>
              <a:defRPr sz="1800" b="0">
                <a:latin typeface="FC Iconic"/>
              </a:defRPr>
            </a:pPr>
            <a:r>
              <a:t>1. จองนัด → in_pool หรือระบุแพทย์</a:t>
            </a:r>
          </a:p>
          <a:p>
            <a:pPr>
              <a:defRPr sz="1800" b="0">
                <a:latin typeface="FC Iconic"/>
              </a:defRPr>
            </a:pPr>
            <a:r>
              <a:t>2. แอดมินจัดสรร (ถ้า in_pool) → แพทย์ confirm</a:t>
            </a:r>
          </a:p>
          <a:p>
            <a:pPr>
              <a:defRPr sz="1800" b="0">
                <a:latin typeface="FC Iconic"/>
              </a:defRPr>
            </a:pPr>
            <a:r>
              <a:t>3. เข้าวิดีโอคอล → Lobby → Jitsi → จบ</a:t>
            </a:r>
          </a:p>
          <a:p>
            <a:pPr>
              <a:defRPr sz="1800" b="0">
                <a:latin typeface="FC Iconic"/>
              </a:defRPr>
            </a:pPr>
            <a:r>
              <a:t>4. ตรวจสถานะ `completed` และสรุป AI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73. นัดหมายว่าง (เริ่มต้น)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จุดเริ่ม lifecycle</a:t>
            </a:r>
          </a:p>
        </p:txBody>
      </p:sp>
      <p:pic>
        <p:nvPicPr>
          <p:cNvPr id="4" name="Picture 3" descr="WF04-patient-appointments-emp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65912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ผู้ใช้ใหม่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ยังไม่มีนัด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ยังไม่มีนัด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ยังไม่มีนัด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ยังไม่มีนัด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จุดเริ่ม lifecycle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docs/screenshots/workflows/appointment-lifecycle/WF04-patient-appointments-empty.png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74. จองนัด —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ทดสอบ end-to-end</a:t>
            </a:r>
          </a:p>
        </p:txBody>
      </p:sp>
      <p:pic>
        <p:nvPicPr>
          <p:cNvPr id="4" name="Picture 3" descr="WF05-book-appointment-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883031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WF05 จองขั้น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ตัวช่วยจอง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ตัวช่วยจอง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ตัวช่วยจอง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ทดสอบ end-to-end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docs/screenshots/workflows/appointment-lifecycle/WF05-book-appointment-step1.png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75. นัดยืนยันแล้ว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พร้อมวิดีโอคอล</a:t>
            </a:r>
          </a:p>
        </p:txBody>
      </p:sp>
      <p:pic>
        <p:nvPicPr>
          <p:cNvPr id="4" name="Picture 3" descr="WF13-patient-appointment-confir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569544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หลังแพทย์/แอดมินยืนยัน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สถานะ 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สถานะ confirmed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สถานะ confirmed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พร้อมวิดีโอคอล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docs/screenshots/workflows/appointment-lifecycle/WF13-patient-appointment-confirmed.png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latin typeface="FC Iconic"/>
              </a:defRPr>
            </a:pPr>
            <a:r>
              <a:t>76. ความปลอดภัย — แยกบทบาท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77240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กลุ่ม 10. เวิร์กโฟลว์ครบวงจร | ผู้ป่วย | วัตถุประสงค์: OWASP / JWT role</a:t>
            </a:r>
          </a:p>
        </p:txBody>
      </p:sp>
      <p:pic>
        <p:nvPicPr>
          <p:cNvPr id="4" name="Picture 3" descr="A01-patient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6217920" cy="498729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188720"/>
          <a:ext cx="5349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ลำดับ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ขั้นตอน (ละเอียด)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FC Iconic"/>
                        </a:defRPr>
                      </a:pPr>
                      <a:r>
                        <a:t>ตรวจสอบ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ผู้ป่วยไม่เห็นเมนูแพทย์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ข้อความปฏิเสธสิทธิ์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ตรวจหน้าจอขั้นที่ 1: ข้อความปฏิเสธสิทธิ์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Network: HTTP 2xx, ไม่มี toast แดง, session/JWT ยังใช้ได้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ตรวจ API/UI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บันทึก appointmentId / meetingId จาก URL หรือ DevTools หากต้องส่งต่อ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latin typeface="FC Iconic"/>
                        </a:defRPr>
                      </a:pPr>
                      <a:r>
                        <a:t>ข้อความปฏิเสธสิทธิ์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4297680"/>
            <a:ext cx="11521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FC Iconic"/>
              </a:defRPr>
            </a:pPr>
            <a:r>
              <a:t>ผลลัพธ์: ข้อความปฏิเสธสิทธิ์</a:t>
            </a:r>
          </a:p>
          <a:p>
            <a:pPr>
              <a:defRPr sz="1600" b="0">
                <a:latin typeface="FC Iconic"/>
              </a:defRPr>
            </a:pPr>
            <a:r>
              <a:t>วัตถุประสงค์: OWASP / JWT role</a:t>
            </a:r>
          </a:p>
          <a:p>
            <a:pPr>
              <a:defRPr sz="1600" b="0">
                <a:latin typeface="FC Iconic"/>
              </a:defRPr>
            </a:pPr>
            <a:r>
              <a:t>ตรวจ: HTTP 2xx, JWT/session, ไม่มี toast error</a:t>
            </a:r>
          </a:p>
          <a:p>
            <a:pPr>
              <a:defRPr sz="1600" b="0">
                <a:latin typeface="FC Iconic"/>
              </a:defRPr>
            </a:pPr>
            <a:r>
              <a:t>อ้างอิง: Processes/FULL_WORKFLOW_CONTRACT.md</a:t>
            </a:r>
          </a:p>
          <a:p>
            <a:pPr>
              <a:defRPr sz="1600" b="0">
                <a:latin typeface="FC Iconic"/>
              </a:defRPr>
            </a:pPr>
            <a:r>
              <a:t>ภาพ UI test: docs/screenshots/group-A/A07-role-isolation.png</a:t>
            </a:r>
          </a:p>
          <a:p>
            <a:pPr>
              <a:defRPr sz="1600" b="0">
                <a:latin typeface="FC Iconic"/>
              </a:defRPr>
            </a:pPr>
            <a:r>
              <a:t>ข้อควรระวัง: ใช้บัญชีทดสอบที่ผ่าน cleanup แล้วเท่านั้น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สรุปและ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ครบ 76 ขั้นตอนพร้อมภาพ UI tests</a:t>
            </a:r>
          </a:p>
          <a:p>
            <a:pPr>
              <a:defRPr sz="1800" b="0">
                <a:latin typeface="FC Iconic"/>
              </a:defRPr>
            </a:pPr>
            <a:r>
              <a:t>TH Sarabun New 16 pt (Word) / FC Iconic (สไลด์)</a:t>
            </a:r>
          </a:p>
          <a:p>
            <a:pPr>
              <a:defRPr sz="1800" b="0">
                <a:latin typeface="FC Iconic"/>
              </a:defRPr>
            </a:pPr>
            <a:r>
              <a:t>อ้างอิง Processes/Pages และ GATE0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23503</Words>
  <Application>Microsoft Office PowerPoint</Application>
  <PresentationFormat>Widescreen</PresentationFormat>
  <Paragraphs>2829</Paragraphs>
  <Slides>89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Chirapath Saelim (Leo)</cp:lastModifiedBy>
  <cp:revision>2</cp:revision>
  <dcterms:created xsi:type="dcterms:W3CDTF">2013-01-27T09:14:16Z</dcterms:created>
  <dcterms:modified xsi:type="dcterms:W3CDTF">2026-05-24T03:59:12Z</dcterms:modified>
  <cp:category/>
</cp:coreProperties>
</file>