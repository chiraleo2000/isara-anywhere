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6585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นำเสนอคู่มือ คู่มือแพทย์และผู้ดูแล Isara Anywhere เวอร์ชัน 1.7.33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แพทย์ที่ยัง pending จะไม่เห็นเมนูคลินิกเต็มรูปแบบ อ้างอิง Processes/Pages/Doctor-Portal/01_Login_Page.md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1: หน้าเข้าสู่ระบบแพทย์/ผู้ดูแล | กลุ่ม A0. การเข้าสู่ระบบ</a:t>
            </a:r>
          </a:p>
          <a:p>
            <a:pPr>
              <a:defRPr sz="1600" b="0">
                <a:latin typeface="FC Iconic"/>
              </a:defRPr>
            </a:pPr>
            <a:r>
              <a:t>บัญชีแพทย์ต้องได้รับอนุมัติก่อน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URL พอร์ทัลแพทย์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ฟอร์มล็อกอิน Doctor Portal</a:t>
            </a:r>
          </a:p>
          <a:p>
            <a:pPr>
              <a:defRPr sz="1600" b="0">
                <a:latin typeface="FC Iconic"/>
              </a:defRPr>
            </a:pPr>
            <a:r>
              <a:t>  3. กรอกบัญชีที่ผู้ดูแลสร้างให้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ฟอร์มล็อกอิน Doctor Portal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ฟอร์มล็อกอิน Doctor Portal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Processes/Pages/Doctor-Portal/01_Login_Page.md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2: ลงชื่อเข้าใช้ด้วย Google (แพทย์) | กลุ่ม A0. การเข้าสู่ระบบ</a:t>
            </a:r>
          </a:p>
          <a:p>
            <a:pPr>
              <a:defRPr sz="1600" b="0">
                <a:latin typeface="FC Iconic"/>
              </a:defRPr>
            </a:pPr>
            <a:r>
              <a:t>สะดวกสำหรับแพทย์ที่ใช้ Gmail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ใช้ Google หลังมีบัญชีในระบบ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ปุ่ม Google บนหน้าแพทย์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ปุ่ม Google บนหน้าแพทย์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Processes/Pages/Doctor-Portal/01_Login_Page.md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3: แพทย์รออนุมัติจากผู้ดูแล | กลุ่ม A0. การเข้าสู่ระบบ</a:t>
            </a:r>
          </a:p>
          <a:p>
            <a:pPr>
              <a:defRPr sz="1600" b="0">
                <a:latin typeface="FC Iconic"/>
              </a:defRPr>
            </a:pPr>
            <a:r>
              <a:t>แอดมินต้องกดอนุมัติในเมนูจัดการแพทย์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สมัครแพทย์ใหม่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ข้อความรอการอนุมัติ</a:t>
            </a:r>
          </a:p>
          <a:p>
            <a:pPr>
              <a:defRPr sz="1600" b="0">
                <a:latin typeface="FC Iconic"/>
              </a:defRPr>
            </a:pPr>
            <a:r>
              <a:t>  3. ล็อกอินก่อนอนุมัติ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ข้อความรอการอนุมัติ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ข้อความรอการอนุมัติ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Processes/Pages/Doctor-Portal/01_Login_Page.md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Admin เท่านั้นที่จัดสรร Pool ให้แพทย์ แพทย์ยืนยันนัด — ไม่ใช่ Admin อ้างอิง Processes/Pages/Doctor-Portal/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4: แดชบอร์ดแพทย์ | กลุ่ม A1. บทบาทแพทย์ — แดชบอร์ดและเมนู</a:t>
            </a:r>
          </a:p>
          <a:p>
            <a:pPr>
              <a:defRPr sz="1600" b="0">
                <a:latin typeface="FC Iconic"/>
              </a:defRPr>
            </a:pPr>
            <a:r>
              <a:t>ศูนย์กลางงานประจำวันของแพทย์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ล็อกอินบทบาท Doctor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KPI คิว นัดวันนี้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KPI คิว นัดวันนี้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5: สถิติแดชบอร์ดแพทย์ | กลุ่ม A1. บทบาทแพทย์ — แดชบอร์ดและเมนู</a:t>
            </a:r>
          </a:p>
          <a:p>
            <a:pPr>
              <a:defRPr sz="1600" b="0">
                <a:latin typeface="FC Iconic"/>
              </a:defRPr>
            </a:pPr>
            <a:r>
              <a:t>อัปเดตแบบเรียลไทม์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ตรวจการ์ด KPI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ตัวเลขคิวและนัด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ตัวเลขคิวและนัด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6: เมนูแพทย์ (Sidebar) | กลุ่ม A1. บทบาทแพทย์ — แดชบอร์ดและเมนู</a:t>
            </a:r>
          </a:p>
          <a:p>
            <a:pPr>
              <a:defRPr sz="1600" b="0">
                <a:latin typeface="FC Iconic"/>
              </a:defRPr>
            </a:pPr>
            <a:r>
              <a:t>เมนูตามสิทธิ์ Doctor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ดูเมนูซ้าย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Health Meeting, Pool, Patients ฯลฯ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Health Meeting, Pool, Patients ฯลฯ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แพทย์ pending ไม่เห็นเมนูคลินิกเต็มรูปแบบ อ้างอิง Processes/Pages/Doctor-Portal/03_Dashboard_Page.md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7: แดชบอร์ด (Group C) | กลุ่ม A2. บทบาทแพทย์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Group C continuous flow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นำทาง Dashboard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ภาพรวมวันนี้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ภาพรวมวันนี้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8: ตารางเวลาแพทย์ | กลุ่ม A2. บทบาทแพทย์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จัดการเวลารับผู้ป่วย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Schedule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ช่วงเวลาว่าง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ช่วงเวลาว่าง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9: รายชื่อผู้ป่วย | กลุ่ม A2. บทบาทแพทย์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เข้าเวชระเบียน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Patients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ค้นหาและรายการ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ค้นหาและรายการ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10: Health Meeting | กลุ่ม A2. บทบาทแพทย์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เริ่มวิดีโอคอลจากที่นี่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Health Meeting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คิวและนัดวันนี้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คิวและนัดวันนี้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11: Appointment Pool (แพทย์) | กลุ่ม A2. บทบาทแพทย์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รับผู้ป่วยจาก Pool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Pool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นัดรอรับ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นัดรอรับ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12: เนื้อหาทางการแพทย์ | กลุ่ม A2. บทบาทแพทย์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เผยแพร่ให้ผู้ป่วย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Medical Content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บทความของแพทย์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บทความของแพทย์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13: ทรัพยากรคลินิก | กลุ่ม A2. บทบาทแพทย์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อ้างอิงระหว่างรักษา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Clinical Resources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ไฟล์และแนวทาง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ไฟล์และแนวทาง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Admin เท่านั้นที่จัดสรร Pool ให้แพทย์ แพทย์ยืนยันนัด — ไม่ใช่ Admin อ้างอิง Processes/Pages/Doctor-Portal/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14: Health Meeting — มุมจองนัด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ติดตามนัดที่จอง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หลังมีนัดใหม่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แท็บคิว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แท็บคิว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15: Pool หลังจองผู้ป่วย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รับหรือรอแอดมินจัดสรร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 Pool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นัด in_pool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นัด in_pool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16: ตารางเวลา — ช่วงรับ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กำหนดเวลาว่าง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Schedule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Time slots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Time slots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17: แก้ไขช่วงเวลา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ผู้ป่วยเห็นเวลาว่าง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เพิ่ม/ลบ slot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ปฏิทินรายสัปดาห์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ปฏิทินรายสัปดาห์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18: แจ้งเตือนได้รับมอบหมายนัด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แพทย์รับผู้ป่วยทันที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หลังแอดมินจัดสรร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19: คิวหลังรับนัด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พร้อมเริ่มประชุม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เปิดคิว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ผู้ป่วยในคิว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ผู้ป่วยในคิว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20: ซิงค์จำนวนคิว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real-time sync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ตรวจตัวเลข KPI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ตรงกับแอดมิน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ตรงกับแอดมิน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21: รายการนัดของแพทย์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จัดการรายวัน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ดูนัดทั้งหมด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รายการนัด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รายการนัด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22: แดชบอร์ดโหลดครบ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ยืนยัน performance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รีเฟรช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KPI โหลดแล้ว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KPI โหลดแล้ว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23: การ์ด KPI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ตัดสินใจรับผู้ป่วย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 KPI 4 ใบ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Queue Pending Today Completed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Queue Pending Today Completed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24: KPI ส่วนบน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รายละเอียด KPI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เลื่อนดู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ตัวเลขบน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ตัวเลขบน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25: KPI ส่วนกลาง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รายละเอียด KPI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เลื่อนดู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ตัวเลขกลาง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ตัวเลขกลาง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26: KPI ส่วนล่าง | กลุ่ม A3. นัดหมายและคิว</a:t>
            </a:r>
          </a:p>
          <a:p>
            <a:pPr>
              <a:defRPr sz="1600" b="0">
                <a:latin typeface="FC Iconic"/>
              </a:defRPr>
            </a:pPr>
            <a:r>
              <a:t>รายละเอียด KPI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เลื่อนดู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ตัวเลขล่าง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ตัวเลขล่าง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ตรวจ allergy ก่อนสั่งยา อ้างอิง Processes/Pages/Doctor-Portal/05_Patient_Management_Page.md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27: รายชื่อผู้ป่วย (คลินิก) | กลุ่ม A4. ผู้ป่วยและการรักษา</a:t>
            </a:r>
          </a:p>
          <a:p>
            <a:pPr>
              <a:defRPr sz="1600" b="0">
                <a:latin typeface="FC Iconic"/>
              </a:defRPr>
            </a:pPr>
            <a:r>
              <a:t>ค้นหาผู้ป่วย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Patients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 EMR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 EMR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28: ค้นหาผู้ป่วย | กลุ่ม A4. ผู้ป่วยและการรักษา</a:t>
            </a:r>
          </a:p>
          <a:p>
            <a:pPr>
              <a:defRPr sz="1600" b="0">
                <a:latin typeface="FC Iconic"/>
              </a:defRPr>
            </a:pPr>
            <a:r>
              <a:t>หาเร็วในคลินิก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พิมพ์ชื่อ/รหัส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ผลค้นหา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29: รายละเอียดผู้ป่วย | กลุ่ม A4. ผู้ป่วยและการรักษา</a:t>
            </a:r>
          </a:p>
          <a:p>
            <a:pPr>
              <a:defRPr sz="1600" b="0">
                <a:latin typeface="FC Iconic"/>
              </a:defRPr>
            </a:pPr>
            <a:r>
              <a:t>ก่อน clinical action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คลิกผู้ป่วย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ข้อมูลประวัติ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ข้อมูลประวัติ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30: การดำเนินการทางคลินิก | กลุ่ม A4. ผู้ป่วยและการรักษา</a:t>
            </a:r>
          </a:p>
          <a:p>
            <a:pPr>
              <a:defRPr sz="1600" b="0">
                <a:latin typeface="FC Iconic"/>
              </a:defRPr>
            </a:pPr>
            <a:r>
              <a:t>จุดตัดสินใจรักษา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 action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Rx, Lab, Meeting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Rx, Lab, Meeting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31: Health Meeting — สร้างนัด | กลุ่ม A4. ผู้ป่วยและการรักษา</a:t>
            </a:r>
          </a:p>
          <a:p>
            <a:pPr>
              <a:defRPr sz="1600" b="0">
                <a:latin typeface="FC Iconic"/>
              </a:defRPr>
            </a:pPr>
            <a:r>
              <a:t>เชื่อมวิดีโอคอล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สร้างห้องประชุม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ฟอร์มนัด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ฟอร์มนัด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Guest link จาก API เท่านั้น — ไม่ hardcode doctor-origin รอ save-recording ก่อน navigate ไปหน้าผล อ้างอิง Processes/Pages/Doctor-Portal/07_Virtual_Meeting.md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32: สร้างห้องประชุมสำเร็จ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แชร์ให้ผู้ป่วย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ยืนยันสร้างห้อง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ลิงก์ประชุม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ลิงก์ประชุม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33: เส้นทางห้องประชุมแพทย์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เตรียมเข้าห้องประชุม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เข้าห้อง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 pre-join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 pre-join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34: ข้อตกลงก่อนเข้าห้อง (แพทย์)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มาตรฐาน telemedicine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ยอมรับข้อตกลง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 agreement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 agreement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35: พรี-จอยน์แพทย์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ก่อนเปิด lobby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ตรวจอุปกรณ์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กล้อง/ไมค์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กล้อง/ไมค์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36: Lobby — Admit ผู้ป่วย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ควบคุมการเข้าห้อง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กด Admit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รายชื่อรอ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รายชื่อรอ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37: ห้อง Jitsi (แพทย์)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ปรึกษาผู้ป่วย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หลัง admit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วิดีโอคอลจริง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วิดีโอคอลจริง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38: คิวแพทย์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ลำดับการรับ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ดูคิววันนี้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รายการรอ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รายการรอ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39: สร้างลิงก์เชิญ Guest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ญาติเข้าร่วมได้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สร้าง invite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ลิงก์ basic/token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ลิงก์ basic/token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40: Guest — Lobby Basic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ลิงก์ทั่วไป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ทดสอบลิงก์ basic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 join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 join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41: Guest — Lobby Token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token ป้องกันคนแปลก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ทดสอบลิงก์ token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 join ปลอดภัย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 join ปลอดภัย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42: Guest ได้รับอนุมัติ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หลายผู้เข้าร่วม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Admit guest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ในห้องแล้ว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ในห้องแล้ว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43: Admit ทุกคนในห้อง | กลุ่ม A5.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จบขั้นตอน lobby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Admit all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ทุกคนในประชุม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ทุกคนในประชุม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Admin เท่านั้นที่จัดสรร Pool ให้แพทย์ แพทย์ยืนยันนัด — ไม่ใช่ Admin อ้างอิง Processes/Pages/Doctor-Portal/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44: ผู้ป่วย — มุม PHR | กลุ่ม A6. PHR และเวชระเบียน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เข้า PHR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Patients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45: ค้นหาเพื่อเปิด PHR | กลุ่ม A6. PHR และเวชระเบียน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เลือกผู้ป่วย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ค้นหา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ผลค้นหา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46: รายละเอียด + PHR | กลุ่ม A6. PHR และเวชระเบียน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อ่านก่อนรักษา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detail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แท็บข้อมูล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แท็บข้อมูล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47: ข้อมูลสุขภาพผู้ป่วย | กลุ่ม A6. PHR และเวชระเบียน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sync จากผู้ป่วย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 vitals/ยา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ข้อมูลครบ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ข้อมูลครบ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48: PHR มุมแพทย์ | กลุ่ม A6. PHR และเวชระเบียน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บันทึกเพิ่มได้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PHR tab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มุมมองแพทย์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มุมมองแพทย์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49: ผู้ป่วย (Group G) | กลุ่ม A6. PHR และเวชระเบียน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cross-test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ตรวจรายชื่อ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50: เวชระเบียนผู้ป่วย | กลุ่ม A6. PHR และเวชระเบียน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ข้อมูลรักษา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record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EMR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EMR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51: รายการประชุมแพทย์ | กลุ่ม A6. PHR และเวชระเบียน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ย้อนกลับประชุม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 meetings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นัดออนไลน์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นัดออนไลน์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Admin เท่านั้นที่จัดสรร Pool ให้แพทย์ แพทย์ยืนยันนัด — ไม่ใช่ Admin อ้างอิง Processes/Pages/Doctor-Portal/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52: สร้างเนื้อหา — รายการ | กลุ่ม A7. เนื้อหาและทรัพยากร</a:t>
            </a:r>
          </a:p>
          <a:p>
            <a:pPr>
              <a:defRPr sz="1600" b="0">
                <a:latin typeface="FC Iconic"/>
              </a:defRPr>
            </a:pPr>
            <a:r>
              <a:t>แพทย์เขียน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Medical Content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รายการบทความ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รายการบทความ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53: ฟอร์มสร้างบทความ | กลุ่ม A7. เนื้อหาและทรัพยากร</a:t>
            </a:r>
          </a:p>
          <a:p>
            <a:pPr>
              <a:defRPr sz="1600" b="0">
                <a:latin typeface="FC Iconic"/>
              </a:defRPr>
            </a:pPr>
            <a:r>
              <a:t>กรอกหัวข้อ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กดสร้างใหม่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ฟอร์มว่าง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ฟอร์มว่าง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54: กรอกบทความครบ | กลุ่ม A7. เนื้อหาและทรัพยากร</a:t>
            </a:r>
          </a:p>
          <a:p>
            <a:pPr>
              <a:defRPr sz="1600" b="0">
                <a:latin typeface="FC Iconic"/>
              </a:defRPr>
            </a:pPr>
            <a:r>
              <a:t>ส่งให้แอดมินอนุมัติ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กรอกเนื้อหา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พร้อมเผยแพร่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พร้อมเผยแพร่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55: กลับรายการบทความ | กลุ่ม A7. เนื้อหาและทรัพยากร</a:t>
            </a:r>
          </a:p>
          <a:p>
            <a:pPr>
              <a:defRPr sz="1600" b="0">
                <a:latin typeface="FC Iconic"/>
              </a:defRPr>
            </a:pPr>
            <a:r>
              <a:t>จัดการเนื้อหา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บันทึก/ยกเลิก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รายการอัปเดต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รายการอัปเดต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56: อ่านบทความ (แพทย์) | กลุ่ม A7. เนื้อหาและทรัพยากร</a:t>
            </a:r>
          </a:p>
          <a:p>
            <a:pPr>
              <a:defRPr sz="1600" b="0">
                <a:latin typeface="FC Iconic"/>
              </a:defRPr>
            </a:pPr>
            <a:r>
              <a:t>ตรวจก่อนเผยแพร่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เปิดบทความ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ตัวอย่าง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ตัวอย่าง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57: ทรัพยากรคลินิก | กลุ่ม A7. เนื้อหาและทรัพยากร</a:t>
            </a:r>
          </a:p>
          <a:p>
            <a:pPr>
              <a:defRPr sz="1600" b="0">
                <a:latin typeface="FC Iconic"/>
              </a:defRPr>
            </a:pPr>
            <a:r>
              <a:t>แนวทางรักษา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Clinical Resources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รายการไฟล์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รายการไฟล์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58: รายละเอียดทรัพยากร | กลุ่ม A7. เนื้อหาและทรัพยากร</a:t>
            </a:r>
          </a:p>
          <a:p>
            <a:pPr>
              <a:defRPr sz="1600" b="0">
                <a:latin typeface="FC Iconic"/>
              </a:defRPr>
            </a:pPr>
            <a:r>
              <a:t>อ้างอิงระหว่างรักษา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คลิกไฟล์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เนื้อหา/ลิงก์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เนื้อหา/ลิงก์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59: Pool จาก Group H | กลุ่ม A7. เนื้อหาและทรัพยากร</a:t>
            </a:r>
          </a:p>
          <a:p>
            <a:pPr>
              <a:defRPr sz="1600" b="0">
                <a:latin typeface="FC Iconic"/>
              </a:defRPr>
            </a:pPr>
            <a:r>
              <a:t>รับผู้ป่วย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 Pool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นัดรอ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นัดรอ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Admin เท่านั้นที่จัดสรร Pool ให้แพทย์ แพทย์ยืนยันนัด — ไม่ใช่ Admin อ้างอิง Processes/Pages/Doctor-Portal/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60: โปรไฟล์แพทย์ | กลุ่ม A8. โปรไฟล์และแจ้งเตือน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แก้ไขตามสิทธิ์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เปิดโปรไฟล์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ข้อมูลแพทย์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ข้อมูลแพทย์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61: แจ้งเตือนแพทย์ | กลุ่ม A8. โปรไฟล์และแจ้งเตือน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ตอบสนองเร็ว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กระดิ่งแจ้งเตือน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นัดใหม่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นัดใหม่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Admin เท่านั้นที่จัดสรร Pool ให้แพทย์ แพทย์ยืนยันนัด — ไม่ใช่ Admin อ้างอิง Processes/Pages/Doctor-Portal/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62: แดชบอร์ดผู้ดูแลระบบ | กลุ่ม B1. บทบาทผู้ดูแล — ภาพรวม</a:t>
            </a:r>
          </a:p>
          <a:p>
            <a:pPr>
              <a:defRPr sz="1600" b="0">
                <a:latin typeface="FC Iconic"/>
              </a:defRPr>
            </a:pPr>
            <a:r>
              <a:t>มองภาพรวมระบบ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ล็อกอิน Admin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KPI ทั้งองค์กร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KPI ทั้งองค์กร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63: เมนูผู้ดูแลระบบ | กลุ่ม B1. บทบาทผู้ดูแล — ภาพรวม</a:t>
            </a:r>
          </a:p>
          <a:p>
            <a:pPr>
              <a:defRPr sz="1600" b="0">
                <a:latin typeface="FC Iconic"/>
              </a:defRPr>
            </a:pPr>
            <a:r>
              <a:t>สิทธิ์สูงกว่าแพทย์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ดูเมนู Admin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จัดการแพทย์ Pool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จัดการแพทย์ Pool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Admin ไม่ทำหน้าที่วินิจฉัยแทนแพทย์ อ้างอิง Processes/Pages/Doctor-Portal/18_Admin_Doctor_Management.md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64: แดชบอร์ด Admin (C) | กลุ่ม B2. บทบาทผู้ดูแล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Group C flow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Dashboard admin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สถิติรวม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สถิติรวม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Processes/Pages/Doctor-Portal/18_Admin_Doctor_Management.md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65: ผู้ป่วยทั้งหมด (Admin) | กลุ่ม B2. บทบาทผู้ดูแล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ไม่จำกัดเฉพาะแพทย์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Admin Patients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ทุกผู้ป่วย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ทุกผู้ป่วย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Processes/Pages/Doctor-Portal/18_Admin_Doctor_Management.md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66: ตารางองค์กร | กลุ่ม B2. บทบาทผู้ดูแล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จัดการภาพรวม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Admin Schedule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ตารางรวม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ตารางรวม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Processes/Pages/Doctor-Portal/18_Admin_Doctor_Management.md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67: Health Meeting (Admin) | กลุ่ม B2. บทบาทผู้ดูแล — หน้าหลัก</a:t>
            </a:r>
          </a:p>
          <a:p>
            <a:pPr>
              <a:defRPr sz="1600" b="0">
                <a:latin typeface="FC Iconic"/>
              </a:defRPr>
            </a:pPr>
            <a:r>
              <a:t>ดูทุกแพทย์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Admin Meeting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คิวทั้งระบบ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คิวทั้งระบบ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Processes/Pages/Doctor-Portal/18_Admin_Doctor_Management.md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Admin เท่านั้นที่จัดสรร Pool ให้แพทย์ แพทย์ยืนยันนัด — ไม่ใช่ Admin อ้างอิง Processes/Pages/Doctor-Portal/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68: จัดการแพทย์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เพิ่ม/แก้ไข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Manage Doctors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รายชื่อแพทย์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รายชื่อแพทย์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69: อนุมัติแพทย์ใหม่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เปิดใช้บัญชี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อนุมัติ/ปฏิเสธ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สถานะ pending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สถานะ pending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70: อนุมัติเนื้อหา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เผยแพร่สู่ผู้ป่วย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Admin Content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บทความรออนุมัติ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บทความรออนุมัติ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71: ทรัพยากร (Admin)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มาตรฐานคลินิก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Admin Resources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ไฟล์องค์กร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ไฟล์องค์กร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72: แดชบอร์ด (Group I)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Group I tests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I01 dashboard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ภาพรวม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ภาพรวม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73: จัดการแพทย์ (I)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บำรุงรักษาบัญชี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74: ค้นหาแพทย์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หาเร็ว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พิมพ์ชื่อ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ผลค้นหา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75: ปุ่มอนุมัติ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ควบคุมคุณภาพ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Approve/Reject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Approve/Reject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76: หน้าอนุมัติแพทย์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แพทย์ล็อกอินได้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ยืนยันอนุมัติ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สถานะ active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สถานะ active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77: รายการรออนุมัติ | กลุ่ม B3. จัดการบุคลากร</a:t>
            </a:r>
          </a:p>
          <a:p>
            <a:pPr>
              <a:defRPr sz="1600" b="0">
                <a:latin typeface="FC Iconic"/>
              </a:defRPr>
            </a:pPr>
            <a:r>
              <a:t>ดำเนินการทีละราย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 pending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คิวรอ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คิวรอ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ตัวเลขคิวต้องซิงค์ระหว่าง Admin และ Doctor (Socket.IO) อ้างอิง Processes/Pages/Doctor-Portal/20_Appointment_Pool_Management.md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78: แจ้งเตือน Pool (Admin)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แอดมินรู้ทันที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นัดใหม่เข้า Pool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79: Health Meeting Admin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จัดสรรแพทย์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Admin meeting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ภาพรวมคิว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ภาพรวมคิว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80: Appointment Pool (Admin)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เลือกแพทย์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Pool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นัดรอจัดสรร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นัดรอจัดสรร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81: จัดสรรแพทย์แล้ว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แพทย์ได้แจ้งเตือน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แพทย์ที่มอบหมาย</a:t>
            </a:r>
          </a:p>
          <a:p>
            <a:pPr>
              <a:defRPr sz="1600" b="0">
                <a:latin typeface="FC Iconic"/>
              </a:defRPr>
            </a:pPr>
            <a:r>
              <a:t>  3. กด Assign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แพทย์ที่มอบหมาย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แพทย์ที่มอบหมาย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82: Pool หลังจัดสรร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ติดตาม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รีเฟรช Pool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สถานะอัปเดต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สถานะอัปเดต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83: ซิงค์คิว Admin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data sync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ตรวจตัวเลข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ตรงกับแพทย์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ตรงกับแพทย์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84: คิวหลังจัดสรร (Admin)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พร้อมประชุม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ดูคิว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ผู้ป่วยในคิวแพทย์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ผู้ป่วยในคิวแพทย์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85: คิวองค์กร (E)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มุมมองรวม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Admin queue E23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ทุกแพทย์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ทุกแพทย์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86: ตาราง Admin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วางแผน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Schedule admin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ตารางรวม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ตารางรวม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87: Pool Admin (I) | กลุ่ม B4. Appointment Pool และคิว</a:t>
            </a:r>
          </a:p>
          <a:p>
            <a:pPr>
              <a:defRPr sz="1600" b="0">
                <a:latin typeface="FC Iconic"/>
              </a:defRPr>
            </a:pPr>
            <a:r>
              <a:t>จัดสรร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I09 pool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นัดรอ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นัดรอ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Admin เท่านั้นที่จัดสรร Pool ให้แพทย์ แพทย์ยืนยันนัด — ไม่ใช่ Admin อ้างอิง Processes/Pages/Doctor-Portal/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88: เนื้อหา Admin | กลุ่ม B5. เนื้อหาและทรัพยากร (Admin)</a:t>
            </a:r>
          </a:p>
          <a:p>
            <a:pPr>
              <a:defRPr sz="1600" b="0">
                <a:latin typeface="FC Iconic"/>
              </a:defRPr>
            </a:pPr>
            <a:r>
              <a:t>เผยแพร่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อนุมัติบทความ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รายการรอ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รายการรอ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89: ทรัพยากร Admin | กลุ่ม B5. เนื้อหาและทรัพยากร (Admin)</a:t>
            </a:r>
          </a:p>
          <a:p>
            <a:pPr>
              <a:defRPr sz="1600" b="0">
                <a:latin typeface="FC Iconic"/>
              </a:defRPr>
            </a:pPr>
            <a:r>
              <a:t>มาตรฐาน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จัดการไฟล์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ทรัพยากรองค์กร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ทรัพยากรองค์กร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ใช้ข้อมูลหลัง cleanup E2E อ้างอิง Processes/FULL_WORKFLOW_CONTRACT.md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90: จัดการ Pool — workflow | กลุ่ม B6.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lifecycle นัด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WF10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หน้าจัดการ Pool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หน้าจัดการ Pool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91: นัดยืนยัน — workflow | กลุ่ม B6.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พร้อมประชุม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WF11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confirmed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confirmed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92: คิว Health Meeting | กลุ่ม B6.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เริ่มวิดีโอ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WF12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คิวประชุม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คิวประชุม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93: แดชบอร์ดหลังล็อกอิน (WF) | กลุ่ม B6.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เริ่มงาน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WF09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เข้าสู่ระบบสำเร็จ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เข้าสู่ระบบสำเร็จ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ขอบคุณ — เปิด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คู่มือแพทย์และผู้ดูแล Isara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latin typeface="FC Iconic"/>
              </a:defRPr>
            </a:pPr>
            <a:r>
              <a:rPr sz="4000" b="1" dirty="0"/>
              <a:t>Isara Anywhere — Doctor &amp; Admin Portal</a:t>
            </a:r>
          </a:p>
          <a:p>
            <a:pPr algn="ctr">
              <a:defRPr sz="1800" b="0">
                <a:latin typeface="FC Iconic"/>
              </a:defRPr>
            </a:pPr>
            <a:endParaRPr lang="en-US" sz="4000" b="1" dirty="0"/>
          </a:p>
          <a:p>
            <a:pPr algn="ctr">
              <a:defRPr sz="1800" b="0">
                <a:latin typeface="FC Iconic"/>
              </a:defRPr>
            </a:pPr>
            <a:endParaRPr lang="en-US" sz="4000" b="1" dirty="0"/>
          </a:p>
          <a:p>
            <a:pPr algn="ctr">
              <a:defRPr sz="1800" b="0">
                <a:latin typeface="FC Iconic"/>
              </a:defRPr>
            </a:pPr>
            <a:r>
              <a:rPr lang="en-US" sz="4000" b="1" dirty="0"/>
              <a:t>URLS - </a:t>
            </a:r>
            <a:r>
              <a:rPr sz="4000" b="1" dirty="0"/>
              <a:t>https://izara-doctor-portal-dev-testing-724889190329.asia-southeast1.run.app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ภาพรวมระบบและมาตรฐานเอกสาร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รายละเอียด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https://izara-doctor-portal-dev-testing-724889190329.asia-southeast1.run.app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กลุ่มทดสอบ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A, C, D, E, F, G, H, I, SSO, Workflows (Doctor/Admin)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จำนวนสไลด์เนื้อหา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TH Sarabun New 16 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PowerPoint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FC Iconic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A0. การเข้าสู่ระบบ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แพทย์และผู้ดูแลใช้พอร์ทัลเดียวกัน แยกสิทธิ์ด้วย JWT role</a:t>
            </a:r>
          </a:p>
          <a:p>
            <a:pPr>
              <a:defRPr sz="1800" b="0">
                <a:latin typeface="FC Iconic"/>
              </a:defRPr>
            </a:pPr>
            <a:r>
              <a:t>1. เปิด URL พอร์ทัลแพทย์ (Cloud dev-testing หรือ localhost:8080)</a:t>
            </a:r>
          </a:p>
          <a:p>
            <a:pPr>
              <a:defRPr sz="1800" b="0">
                <a:latin typeface="FC Iconic"/>
              </a:defRPr>
            </a:pPr>
            <a:r>
              <a:t>2. แพทย์ใหม่: สมัคร → รอ Admin อนุมัติ → ล็อกอินได้</a:t>
            </a:r>
          </a:p>
          <a:p>
            <a:pPr>
              <a:defRPr sz="1800" b="0">
                <a:latin typeface="FC Iconic"/>
              </a:defRPr>
            </a:pPr>
            <a:r>
              <a:t>3. Admin: ล็อกอินด้วยบัญชี admin — เห็นเมนู Pool และอนุมัติ</a:t>
            </a:r>
          </a:p>
          <a:p>
            <a:pPr>
              <a:defRPr sz="1800" b="0">
                <a:latin typeface="FC Iconic"/>
              </a:defRPr>
            </a:pPr>
            <a:r>
              <a:t>4. Google SSO: ใช้อีเมลที่ลงทะเบียนแล้ว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5. ตรวจ redirect ไป `/doctor/:id/dashboard`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1. หน้าเข้าสู่ระบบแพทย์/ผู้ดูแล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A0. การเข้าสู่ระบบ | แพทย์/ผู้ดูแล | วัตถุประสงค์: บัญชีแพทย์ต้องได้รับอนุมัติก่อน</a:t>
            </a:r>
          </a:p>
        </p:txBody>
      </p:sp>
      <p:pic>
        <p:nvPicPr>
          <p:cNvPr id="4" name="Picture 3" descr="WF08-doctor-login-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59779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URL พอร์ทัลแพทย์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ฟอร์มล็อกอิน Doctor Portal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ฟอร์มล็อกอิน Doctor 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กรอกบัญชีที่ผู้ดูแลสร้างให้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ฟอร์มล็อกอิน Doctor Portal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ฟอร์มล็อกอิน Doctor 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ฟอร์มล็อกอิน Doctor Portal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ฟอร์มล็อกอิน Doctor Portal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บัญชีแพทย์ต้องได้รับอนุมัติก่อน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Processes/Pages/Doctor-Portal/01_Login_Page.md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docs/screenshots/workflows/auth-login/WF08-doctor-login-page.png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แพทย์ที่ยัง pending จะไม่เห็นเมนูคลินิกเต็มรูปแบบ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2. ลงชื่อเข้าใช้ด้วย Google (แพทย์)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A0. การเข้าสู่ระบบ | แพทย์/ผู้ดูแล | วัตถุประสงค์: สะดวกสำหรับแพทย์ที่ใช้ Gmail</a:t>
            </a:r>
          </a:p>
        </p:txBody>
      </p:sp>
      <p:pic>
        <p:nvPicPr>
          <p:cNvPr id="4" name="Picture 3" descr="doctor-login-with-goo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ใช้ Google หลังมีบัญชีในระบบ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ปุ่ม Google บนหน้าแพทย์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ปุ่ม Google บนหน้าแพทย์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ปุ่ม Google บนหน้าแพทย์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ปุ่ม Google บนหน้าแพทย์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สะดวกสำหรับแพทย์ที่ใช้ Gmail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Processes/Pages/Doctor-Portal/01_Login_Page.md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docs/screenshots/sso/doctor-login-with-google.png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แพทย์ที่ยัง pending จะไม่เห็นเมนูคลินิกเต็มรูปแบบ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3. แพทย์รออนุมัติจากผู้ดูแล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A0. การเข้าสู่ระบบ | แพทย์/ผู้ดูแล | วัตถุประสงค์: แอดมินต้องกดอนุมัติในเมนูจัดการแพทย์</a:t>
            </a:r>
          </a:p>
        </p:txBody>
      </p:sp>
      <p:pic>
        <p:nvPicPr>
          <p:cNvPr id="4" name="Picture 3" descr="sso-doctor-pending-appro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สมัครแพทย์ใหม่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ข้อความรอการอนุมัติ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ข้อความรอการอนุมัติ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ล็อกอินก่อนอนุมัติ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ข้อความรอการอนุมัติ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ข้อความรอการอนุมัติ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ข้อความรอการอนุมัติ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ข้อความรอการอนุมัติ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แอดมินต้องกดอนุมัติในเมนูจัดการแพทย์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Processes/Pages/Doctor-Portal/01_Login_Page.md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docs/screenshots/sso/sso-doctor-pending-approval.png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แพทย์ที่ยัง pending จะไม่เห็นเมนูคลินิกเต็มรูปแบบ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A1. บทบาทแพทย์ — แดชบอร์ดและเมนู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«A1. บทบาทแพทย์ — แดชบอร์ดและเมนู» สำหรับแพทย์หรือผู้ดูแล ตามสิทธิ์ JWT</a:t>
            </a:r>
          </a:p>
          <a:p>
            <a:pPr>
              <a:defRPr sz="1800" b="0">
                <a:latin typeface="FC Iconic"/>
              </a:defRPr>
            </a:pPr>
            <a:r>
              <a:t>1. ล็อกอินด้วยบทบาทที่ถูกต้อง (Doctor / Admin)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เปิดเมนูตามหมวดและตรวจ KPI/คิว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ดำเนินการคลินิกหรือการจัดการตามภาพ</a:t>
            </a:r>
          </a:p>
          <a:p>
            <a:pPr>
              <a:defRPr sz="1800" b="0">
                <a:latin typeface="FC Iconic"/>
              </a:defRPr>
            </a:pPr>
            <a:r>
              <a:t>4. ตรวจสอบ realtime sync และสถานะนัด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4. แดชบอร์ดแพทย์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A1. บทบาทแพทย์ — แดชบอร์ดและเมนู | แพทย์/ผู้ดูแล | วัตถุประสงค์: ศูนย์กลางงานประจำวันของแพทย์</a:t>
            </a:r>
          </a:p>
        </p:txBody>
      </p:sp>
      <p:pic>
        <p:nvPicPr>
          <p:cNvPr id="4" name="Picture 3" descr="A01-docto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509955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ล็อกอินบทบาท Doctor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KPI คิว นัดวันนี้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KPI คิว นัดวันนี้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KPI คิว นัดวันนี้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KPI คิว นัดวันนี้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ศูนย์กลางงานประจำวันของแพทย์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docs/screenshots/group-A/A01-doctor-dashboard.png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5. สถิติแดชบอร์ดแพทย์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A1. บทบาทแพทย์ — แดชบอร์ดและเมนู | แพทย์/ผู้ดูแล | วัตถุประสงค์: อัปเดตแบบเรียลไทม์</a:t>
            </a:r>
          </a:p>
        </p:txBody>
      </p:sp>
      <p:pic>
        <p:nvPicPr>
          <p:cNvPr id="4" name="Picture 3" descr="A01-docto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509955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ตรวจการ์ด 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ตัวเลขคิวและนัด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ตัวเลขคิวและนัด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ตัวเลขคิวและนัด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อัปเดตแบบเรียลไทม์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docs/screenshots/group-A/A09-doctor-stats.png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6. เมนูแพทย์ (Sidebar)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A1. บทบาทแพทย์ — แดชบอร์ดและเมนู | แพทย์/ผู้ดูแล | วัตถุประสงค์: เมนูตามสิทธิ์ Doctor</a:t>
            </a:r>
          </a:p>
        </p:txBody>
      </p:sp>
      <p:pic>
        <p:nvPicPr>
          <p:cNvPr id="4" name="Picture 3" descr="A01-docto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509955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ดูเมนูซ้าย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Health Meeting, Pool, Patients ฯลฯ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Health Meeting, Pool, Patients ฯลฯ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Health Meeting, Pool, Patients ฯลฯ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Health Meeting, Pool, Patients ฯลฯ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เมนูตามสิทธิ์ Doctor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docs/screenshots/group-A/A03-doctor-sidebar.png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A2. บทบาทแพทย์ — หน้าหลัก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เมนูและแดชบอร์ดสำหรับแพทย์ที่ได้รับอนุมัติแล้ว</a:t>
            </a:r>
          </a:p>
          <a:p>
            <a:pPr>
              <a:defRPr sz="1800" b="0">
                <a:latin typeface="FC Iconic"/>
              </a:defRPr>
            </a:pPr>
            <a:r>
              <a:t>1. ล็อกอินด้วย Doctor ที่ approved</a:t>
            </a:r>
          </a:p>
          <a:p>
            <a:pPr>
              <a:defRPr sz="1800" b="0">
                <a:latin typeface="FC Iconic"/>
              </a:defRPr>
            </a:pPr>
            <a:r>
              <a:t>2. เปิด Dashboard — KPI คิว นัดวันนี้</a:t>
            </a:r>
          </a:p>
          <a:p>
            <a:pPr>
              <a:defRPr sz="1800" b="0">
                <a:latin typeface="FC Iconic"/>
              </a:defRPr>
            </a:pPr>
            <a:r>
              <a:t>3. เปิด Health Meeting — รายการรอรับ</a:t>
            </a:r>
          </a:p>
          <a:p>
            <a:pPr>
              <a:defRPr sz="1800" b="0">
                <a:latin typeface="FC Iconic"/>
              </a:defRPr>
            </a:pPr>
            <a:r>
              <a:t>4. เปิด Schedule / Patient Management ตามลำดับงาน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7. แดชบอร์ด (Group 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A2. บทบาทแพทย์ — หน้าหลัก | แพทย์/ผู้ดูแล | วัตถุประสงค์: Group C continuous flow</a:t>
            </a:r>
          </a:p>
        </p:txBody>
      </p:sp>
      <p:pic>
        <p:nvPicPr>
          <p:cNvPr id="4" name="Picture 3" descr="C01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68353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นำทาง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ภาพรวมวันนี้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ภาพรวมวันนี้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ภาพรวมวันนี้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ภาพรวมวันนี้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Group C continuous flow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docs/screenshots/group-C/C01-dashboard.png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 pending 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8. ตารางเวลาแพทย์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A2. บทบาทแพทย์ — หน้าหลัก | แพทย์/ผู้ดูแล | วัตถุประสงค์: จัดการเวลารับผู้ป่วย</a:t>
            </a:r>
          </a:p>
        </p:txBody>
      </p:sp>
      <p:pic>
        <p:nvPicPr>
          <p:cNvPr id="4" name="Picture 3" descr="C02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ช่วงเวลาว่าง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ช่วงเวลาว่าง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ช่วงเวลาว่าง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ช่วงเวลาว่าง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จัดการเวลารับผู้ป่วย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docs/screenshots/group-C/C02-schedule.png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 pending 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9. รายชื่อผู้ป่วย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A2. บทบาทแพทย์ — หน้าหลัก | แพทย์/ผู้ดูแล | วัตถุประสงค์: เข้าเวชระเบียน</a:t>
            </a:r>
          </a:p>
        </p:txBody>
      </p:sp>
      <p:pic>
        <p:nvPicPr>
          <p:cNvPr id="4" name="Picture 3" descr="C03-pat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ค้นหาและรายการ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ค้นหาและรายการ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ค้นหาและรายการ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ค้นหาและรายการ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เข้าเวชระเบียน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docs/screenshots/group-C/C03-patients.png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 pending 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10. Health Meeting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A2. บทบาทแพทย์ — หน้าหลัก | แพทย์/ผู้ดูแล | วัตถุประสงค์: เริ่มวิดีโอคอลจากที่นี่</a:t>
            </a:r>
          </a:p>
        </p:txBody>
      </p:sp>
      <p:pic>
        <p:nvPicPr>
          <p:cNvPr id="4" name="Picture 3" descr="C04-health-mee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Health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คิวและนัดวันนี้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คิวและนัดวันนี้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คิวและนัดวันนี้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คิวและนัดวันนี้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เริ่มวิดีโอคอลจากที่นี่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docs/screenshots/group-C/C04-health-meeting.png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 pending 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11. Appointment Pool (แพทย์)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A2. บทบาทแพทย์ — หน้าหลัก | แพทย์/ผู้ดูแล | วัตถุประสงค์: รับผู้ป่วยจาก Pool</a:t>
            </a:r>
          </a:p>
        </p:txBody>
      </p:sp>
      <p:pic>
        <p:nvPicPr>
          <p:cNvPr id="4" name="Picture 3" descr="C05-appointment-p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นัดรอรับ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นัดรอรับ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นัดรอรับ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นัดรอรับ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รับผู้ป่วยจาก Pool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docs/screenshots/group-C/C05-appointment-pool.png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 pending 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12. เนื้อหาทางการแพทย์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A2. บทบาทแพทย์ — หน้าหลัก | แพทย์/ผู้ดูแล | วัตถุประสงค์: เผยแพร่ให้ผู้ป่วย</a:t>
            </a:r>
          </a:p>
        </p:txBody>
      </p:sp>
      <p:pic>
        <p:nvPicPr>
          <p:cNvPr id="4" name="Picture 3" descr="C07-medical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77249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Medical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บทความของแพทย์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บทความของแพทย์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บทความของแพทย์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บทความของแพทย์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เผยแพร่ให้ผู้ป่วย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docs/screenshots/group-C/C07-medical-content.png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 pending 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13. ทรัพยากรคลินิก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A2. บทบาทแพทย์ — หน้าหลัก | แพทย์/ผู้ดูแล | วัตถุประสงค์: อ้างอิงระหว่างรักษา</a:t>
            </a:r>
          </a:p>
        </p:txBody>
      </p:sp>
      <p:pic>
        <p:nvPicPr>
          <p:cNvPr id="4" name="Picture 3" descr="C08-clinical-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24891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Clinical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ไฟล์และแนวทาง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ไฟล์และแนวทาง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ไฟล์และแนวทาง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ไฟล์และแนวทาง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อ้างอิงระหว่างรักษา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Processes/Pages/Doctor-Portal/03_Dashboard_Page.md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docs/screenshots/group-C/C08-clinical-resources.png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 pending ไม่เห็นเมนูคลินิกเต็มรูปแบบ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A3. นัดหมายและคิว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«A3. นัดหมายและคิว» สำหรับแพทย์หรือผู้ดูแล ตามสิทธิ์ JWT</a:t>
            </a:r>
          </a:p>
          <a:p>
            <a:pPr>
              <a:defRPr sz="1800" b="0">
                <a:latin typeface="FC Iconic"/>
              </a:defRPr>
            </a:pPr>
            <a:r>
              <a:t>1. ล็อกอินด้วยบทบาทที่ถูกต้อง (Doctor / Admin)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เปิดเมนูตามหมวดและตรวจ KPI/คิว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ดำเนินการคลินิกหรือการจัดการตามภาพ</a:t>
            </a:r>
          </a:p>
          <a:p>
            <a:pPr>
              <a:defRPr sz="1800" b="0">
                <a:latin typeface="FC Iconic"/>
              </a:defRPr>
            </a:pPr>
            <a:r>
              <a:t>4. ตรวจสอบ realtime sync และสถานะนัด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14. Health Meeting — มุมจองนัด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ติดตามนัดที่จอง</a:t>
            </a:r>
          </a:p>
        </p:txBody>
      </p:sp>
      <p:pic>
        <p:nvPicPr>
          <p:cNvPr id="4" name="Picture 3" descr="D09-health-mee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50799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หลังมีนัดใหม่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แท็บคิว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แท็บคิว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แท็บคิว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แท็บคิว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ติดตามนัดที่จอง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docs/screenshots/group-D/D09-health-meeting.png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15. Pool หลังจองผู้ป่วย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รับหรือรอแอดมินจัดสรร</a:t>
            </a:r>
          </a:p>
        </p:txBody>
      </p:sp>
      <p:pic>
        <p:nvPicPr>
          <p:cNvPr id="4" name="Picture 3" descr="D11-appointment-p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นัด in_pool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 in_pool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นัด in_pool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รับหรือรอแอดมินจัดสรร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docs/screenshots/group-D/D11-appointment-pool.png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16. ตารางเวลา — ช่วงรับ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กำหนดเวลาว่าง</a:t>
            </a:r>
          </a:p>
        </p:txBody>
      </p:sp>
      <p:pic>
        <p:nvPicPr>
          <p:cNvPr id="4" name="Picture 3" descr="D12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Time slots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Time slots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Time slots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Time slots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กำหนดเวลาว่าง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docs/screenshots/group-D/D12-schedule.png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17. แก้ไขช่วงเวลา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ผู้ป่วยเห็นเวลาว่าง</a:t>
            </a:r>
          </a:p>
        </p:txBody>
      </p:sp>
      <p:pic>
        <p:nvPicPr>
          <p:cNvPr id="4" name="Picture 3" descr="D12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เพิ่ม/ลบ 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ปฏิทินรายสัปดาห์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ปฏิทินรายสัปดาห์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ปฏิทินรายสัปดาห์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ปฏิทินรายสัปดาห์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ผู้ป่วยเห็นเวลาว่าง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docs/screenshots/group-D/D13-time-slots.png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18. แจ้งเตือนได้รับมอบหมายนัด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แพทย์รับผู้ป่วยทันที</a:t>
            </a:r>
          </a:p>
        </p:txBody>
      </p:sp>
      <p:pic>
        <p:nvPicPr>
          <p:cNvPr id="4" name="Picture 3" descr="D12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หลังแอดมินจัดสรร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การแจ้งเตือน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การแจ้งเตือน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การแจ้งเตือน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แพทย์รับผู้ป่วยทันที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docs/screenshots/group-D/D15c-doctor-assigned-notification.png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19. คิวหลังรับนัด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พร้อมเริ่มประชุม</a:t>
            </a:r>
          </a:p>
        </p:txBody>
      </p:sp>
      <p:pic>
        <p:nvPicPr>
          <p:cNvPr id="4" name="Picture 3" descr="D16b-doctor-queue-assig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50799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เปิดคิว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ผู้ป่วยในคิว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ผู้ป่วยในคิว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ผู้ป่วยในคิว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ผู้ป่วยในคิว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พร้อมเริ่มประชุม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docs/screenshots/group-D/D16b-doctor-queue-assigned.png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20. ซิงค์จำนวนคิว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real-time sync</a:t>
            </a:r>
          </a:p>
        </p:txBody>
      </p:sp>
      <p:pic>
        <p:nvPicPr>
          <p:cNvPr id="4" name="Picture 3" descr="D16b-doctor-queue-assig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50799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ตรวจตัวเลข 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ตรงกับแอดมิน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ตรงกับแอดมิน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ตรงกับแอดมิน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real-time sync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docs/screenshots/group-D/D16d-doctor-queue-count-sync.png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21. รายการนัดของแพทย์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จัดการรายวัน</a:t>
            </a:r>
          </a:p>
        </p:txBody>
      </p:sp>
      <p:pic>
        <p:nvPicPr>
          <p:cNvPr id="4" name="Picture 3" descr="D19-doctor-appoint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ดูนัดทั้งหมด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รายการนัด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จัดการรายวัน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docs/screenshots/group-D/D19-doctor-appointments.png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22. แดชบอร์ดโหลดครบ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ยืนยัน performance</a:t>
            </a:r>
          </a:p>
        </p:txBody>
      </p:sp>
      <p:pic>
        <p:nvPicPr>
          <p:cNvPr id="4" name="Picture 3" descr="D20-dashboard-lo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66454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รีเฟรช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KPI โหลดแล้ว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KPI โหลดแล้ว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KPI โหลดแล้ว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KPI โหลดแล้ว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ยืนยัน performance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docs/screenshots/group-D/D20-dashboard-loaded.png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23. การ์ด 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ตัดสินใจรับผู้ป่วย</a:t>
            </a:r>
          </a:p>
        </p:txBody>
      </p:sp>
      <p:pic>
        <p:nvPicPr>
          <p:cNvPr id="4" name="Picture 3" descr="D20-dashboard-lo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66454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 KPI 4 ใบ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Queue Pending Today 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Queue Pending Today 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Queue Pending Today 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Queue Pending Today Completed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ตัดสินใจรับผู้ป่วย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docs/screenshots/group-D/D21-kpi-cards.png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24. KPI ส่วนบน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รายละเอียด KPI</a:t>
            </a:r>
          </a:p>
        </p:txBody>
      </p:sp>
      <p:pic>
        <p:nvPicPr>
          <p:cNvPr id="4" name="Picture 3" descr="D20-dashboard-lo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66454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เลื่อนดู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ตัวเลขบน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ตัวเลขบน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ตัวเลขบน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ตัวเลขบน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รายละเอียด KPI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docs/screenshots/group-D/D22-kpi-top.png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25. KPI ส่วนกลาง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รายละเอียด KPI</a:t>
            </a:r>
          </a:p>
        </p:txBody>
      </p:sp>
      <p:pic>
        <p:nvPicPr>
          <p:cNvPr id="4" name="Picture 3" descr="D22-kpi-m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66454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เลื่อนดู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ตัวเลขกลาง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ตัวเลขกลาง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ตัวเลขกลาง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ตัวเลขกลาง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รายละเอียด KPI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docs/screenshots/group-D/D22-kpi-middle.png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26. KPI ส่วนล่าง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A3. นัดหมายและคิว | แพทย์/ผู้ดูแล | วัตถุประสงค์: รายละเอียด KPI</a:t>
            </a:r>
          </a:p>
        </p:txBody>
      </p:sp>
      <p:pic>
        <p:nvPicPr>
          <p:cNvPr id="4" name="Picture 3" descr="D22-kpi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66454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เลื่อนดู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ตัวเลขล่าง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ตัวเลขล่าง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ตัวเลขล่าง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ตัวเลขล่าง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รายละเอียด KPI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docs/screenshots/group-D/D22-kpi-bottom.png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A4. ผู้ป่วยและการรักษา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Patient Record, สั่งยา, แล็บ, สร้างนัดประชุม</a:t>
            </a:r>
          </a:p>
          <a:p>
            <a:pPr>
              <a:defRPr sz="1800" b="0">
                <a:latin typeface="FC Iconic"/>
              </a:defRPr>
            </a:pPr>
            <a:r>
              <a:t>1. เลือกผู้ป่วยจากคิวหรือ Patient Management</a:t>
            </a:r>
          </a:p>
          <a:p>
            <a:pPr>
              <a:defRPr sz="1800" b="0">
                <a:latin typeface="FC Iconic"/>
              </a:defRPr>
            </a:pPr>
            <a:r>
              <a:t>2. เปิด Patient Record Viewer — PHR, EMR, แล็บ</a:t>
            </a:r>
          </a:p>
          <a:p>
            <a:pPr>
              <a:defRPr sz="1800" b="0">
                <a:latin typeface="FC Iconic"/>
              </a:defRPr>
            </a:pPr>
            <a:r>
              <a:t>3. สร้างนัด/ห้องประชุมจาก Health Meeting</a:t>
            </a:r>
          </a:p>
          <a:p>
            <a:pPr>
              <a:defRPr sz="1800" b="0">
                <a:latin typeface="FC Iconic"/>
              </a:defRPr>
            </a:pPr>
            <a:r>
              <a:t>4. เลือก Clinical actions: Rx, Lab, Meeting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27. รายชื่อผู้ป่วย (คลินิก)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A4. ผู้ป่วยและการรักษา | แพทย์/ผู้ดูแล | วัตถุประสงค์: ค้นหาผู้ป่วย</a:t>
            </a:r>
          </a:p>
        </p:txBody>
      </p:sp>
      <p:pic>
        <p:nvPicPr>
          <p:cNvPr id="4" name="Picture 3" descr="E04-patients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 EMR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 EMR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 EMR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 EMR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ค้นหาผู้ป่วย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docs/screenshots/group-E/E04-patients-list.png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ตรวจ allergy ก่อนสั่งยา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28. ค้นหาผู้ป่วย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A4. ผู้ป่วยและการรักษา | แพทย์/ผู้ดูแล | วัตถุประสงค์: หาเร็วในคลินิก</a:t>
            </a:r>
          </a:p>
        </p:txBody>
      </p:sp>
      <p:pic>
        <p:nvPicPr>
          <p:cNvPr id="4" name="Picture 3" descr="E05-search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พิมพ์ชื่อ/รหัส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ผลค้นหา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หาเร็วในคลินิก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docs/screenshots/group-E/E05-search-demo.png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ตรวจ allergy ก่อนสั่งยา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29. รายละเอียดผู้ป่วย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A4. ผู้ป่วยและการรักษา | แพทย์/ผู้ดูแล | วัตถุประสงค์: ก่อน clinical action</a:t>
            </a:r>
          </a:p>
        </p:txBody>
      </p:sp>
      <p:pic>
        <p:nvPicPr>
          <p:cNvPr id="4" name="Picture 3" descr="E06-patient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ข้อมูลประวัติ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ข้อมูลประวัติ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ข้อมูลประวัติ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ข้อมูลประวัติ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ก่อน clinical action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docs/screenshots/group-E/E06-patient-detail.png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ตรวจ allergy ก่อนสั่งยา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30. การดำเนินการทางคลินิก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A4. ผู้ป่วยและการรักษา | แพทย์/ผู้ดูแล | วัตถุประสงค์: จุดตัดสินใจรักษา</a:t>
            </a:r>
          </a:p>
        </p:txBody>
      </p:sp>
      <p:pic>
        <p:nvPicPr>
          <p:cNvPr id="4" name="Picture 3" descr="E07-clinical-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Rx, Lab, Meeting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Rx, Lab,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Rx, Lab, Meeting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Rx, Lab, Meeting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จุดตัดสินใจรักษา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docs/screenshots/group-E/E07-clinical-actions.png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ตรวจ allergy ก่อนสั่งยา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31. Health Meeting — สร้างนัด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A4. ผู้ป่วยและการรักษา | แพทย์/ผู้ดูแล | วัตถุประสงค์: เชื่อมวิดีโอคอล</a:t>
            </a:r>
          </a:p>
        </p:txBody>
      </p:sp>
      <p:pic>
        <p:nvPicPr>
          <p:cNvPr id="4" name="Picture 3" descr="E08-health-mee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53317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สร้างห้องประชุม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ฟอร์มนัด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ฟอร์มนัด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ฟอร์มนัด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ฟอร์มนัด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เชื่อมวิดีโอคอล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Processes/Pages/Doctor-Portal/05_Patient_Management_Page.md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docs/screenshots/group-E/E08-health-meeting.png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ตรวจ allergy ก่อนสั่งยา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A5. วิดีโอคอลและ Lobby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แพทย์เป็น HOST: สร้างห้อง → notifyHostPresent → Admit → บันทึก → สรุป AI</a:t>
            </a:r>
          </a:p>
          <a:p>
            <a:pPr>
              <a:defRPr sz="1800" b="0">
                <a:latin typeface="FC Iconic"/>
              </a:defRPr>
            </a:pPr>
            <a:r>
              <a:t>1. สร้าง meeting จาก Health Meeting หรือนัด confirmed</a:t>
            </a:r>
          </a:p>
          <a:p>
            <a:pPr>
              <a:defRPr sz="1800" b="0">
                <a:latin typeface="FC Iconic"/>
              </a:defRPr>
            </a:pPr>
            <a:r>
              <a:t>2. ยอมรับข้อตกลง telemedicine → pre-join</a:t>
            </a:r>
          </a:p>
          <a:p>
            <a:pPr>
              <a:defRPr sz="1800" b="0">
                <a:latin typeface="FC Iconic"/>
              </a:defRPr>
            </a:pPr>
            <a:r>
              <a:t>3. เข้า Jitsi ก่อน — ระบบตั้ง host-ready</a:t>
            </a:r>
          </a:p>
          <a:p>
            <a:pPr>
              <a:defRPr sz="1800" b="0">
                <a:latin typeface="FC Iconic"/>
              </a:defRPr>
            </a:pPr>
            <a:r>
              <a:t>4. Lobby panel: รายชื่อรอ — แยก badge Guest/Patient</a:t>
            </a:r>
          </a:p>
          <a:p>
            <a:pPr>
              <a:defRPr sz="1800" b="0">
                <a:latin typeface="FC Iconic"/>
              </a:defRPr>
            </a:pPr>
            <a:r>
              <a:t>5. กด Admit รายคน หรือ `admit-all-btn`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32. สร้างห้องประชุมสำเร็จ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แชร์ให้ผู้ป่วย</a:t>
            </a:r>
          </a:p>
        </p:txBody>
      </p:sp>
      <p:pic>
        <p:nvPicPr>
          <p:cNvPr id="4" name="Picture 3" descr="E08-health-mee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53317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ยืนยันสร้างห้อง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ลิงก์ประชุม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ลิงก์ประชุม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ลิงก์ประชุม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ลิงก์ประชุม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แชร์ให้ผู้ป่วย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docs/screenshots/group-E/E10-meeting-created.png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33. เส้นทางห้องประชุมแพทย์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เตรียมเข้าห้องประชุม</a:t>
            </a:r>
          </a:p>
        </p:txBody>
      </p:sp>
      <p:pic>
        <p:nvPicPr>
          <p:cNvPr id="4" name="Picture 3" descr="E10b-doctor-meeting-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เข้าห้อง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pre-join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 pre-join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pre-join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 pre-join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เตรียมเข้าห้องประชุม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docs/screenshots/group-E/E10b-doctor-meeting-route.png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34. ข้อตกลงก่อนเข้าห้อง (แพทย์)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มาตรฐาน telemedicine</a:t>
            </a:r>
          </a:p>
        </p:txBody>
      </p:sp>
      <p:pic>
        <p:nvPicPr>
          <p:cNvPr id="4" name="Picture 3" descr="WF14a-doctor-agre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ยอมรับข้อตกลง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agreement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agreement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 agreement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มาตรฐาน telemedicine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docs/screenshots/workflows/video-meeting/WF14a-doctor-agreement.png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35. พรี-จอยน์แพทย์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ก่อนเปิด lobby</a:t>
            </a:r>
          </a:p>
        </p:txBody>
      </p:sp>
      <p:pic>
        <p:nvPicPr>
          <p:cNvPr id="4" name="Picture 3" descr="WF14b-doctor-pre-jo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ตรวจอุปกรณ์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กล้อง/ไมค์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กล้อง/ไมค์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กล้อง/ไมค์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ก่อนเปิด lobby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docs/screenshots/workflows/video-meeting/WF14b-doctor-pre-join.png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36. Lobby — Admit 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ควบคุมการเข้าห้อง</a:t>
            </a:r>
          </a:p>
        </p:txBody>
      </p:sp>
      <p:pic>
        <p:nvPicPr>
          <p:cNvPr id="4" name="Picture 3" descr="E10c3-doctor-lobby-adm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 Admit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รายชื่อรอ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รายชื่อรอ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ควบคุมการเข้าห้อง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docs/screenshots/group-E/E10c3-doctor-lobby-admit.png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37. ห้อง Jitsi (แพทย์)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ปรึกษาผู้ป่วย</a:t>
            </a:r>
          </a:p>
        </p:txBody>
      </p:sp>
      <p:pic>
        <p:nvPicPr>
          <p:cNvPr id="4" name="Picture 3" descr="E10c-jitsi-doctor-m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หลัง admit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วิดีโอคอลจริง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วิดีโอคอลจริง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วิดีโอคอลจริง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วิดีโอคอลจริง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ปรึกษาผู้ป่วย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docs/screenshots/group-J-meeting-jitsi/E10c-jitsi-doctor-meet.png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38. คิวแพทย์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ลำดับการรับ</a:t>
            </a:r>
          </a:p>
        </p:txBody>
      </p:sp>
      <p:pic>
        <p:nvPicPr>
          <p:cNvPr id="4" name="Picture 3" descr="E18-doctor-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ดูคิววันนี้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รายการรอ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รายการรอ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ลำดับการรับ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docs/screenshots/group-E/E18-doctor-queue.png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39. สร้างลิงก์เชิญ Guest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ญาติเข้าร่วมได้</a:t>
            </a:r>
          </a:p>
        </p:txBody>
      </p:sp>
      <p:pic>
        <p:nvPicPr>
          <p:cNvPr id="4" name="Picture 3" descr="E19-guest-invite-cre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สร้าง invite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ลิงก์ basic/token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ลิงก์ basic/token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ลิงก์ basic/token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ลิงก์ basic/token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ญาติเข้าร่วมได้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docs/screenshots/group-E/E19-guest-invite-created.png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40. Guest — Lobby Basic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ลิงก์ทั่วไป</a:t>
            </a:r>
          </a:p>
        </p:txBody>
      </p:sp>
      <p:pic>
        <p:nvPicPr>
          <p:cNvPr id="4" name="Picture 3" descr="E21-lobby-join-ba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ทดสอบลิงก์ 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join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 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join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 join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ลิงก์ทั่วไป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docs/screenshots/group-E/E21-lobby-join-basic.png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41. Guest — Lobby 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token ป้องกันคนแปลก</a:t>
            </a:r>
          </a:p>
        </p:txBody>
      </p:sp>
      <p:pic>
        <p:nvPicPr>
          <p:cNvPr id="4" name="Picture 3" descr="E22-lobby-join-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ทดสอบลิงก์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join ปลอดภัย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 join ปลอดภัย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join ปลอดภัย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 join ปลอดภัย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token ป้องกันคนแปลก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docs/screenshots/group-E/E22-lobby-join-token.png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42. Guest ได้รับอนุมัติ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หลายผู้เข้าร่วม</a:t>
            </a:r>
          </a:p>
        </p:txBody>
      </p:sp>
      <p:pic>
        <p:nvPicPr>
          <p:cNvPr id="4" name="Picture 3" descr="E22b-guest-admit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Admit guest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ในห้องแล้ว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ในห้องแล้ว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ในห้องแล้ว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ในห้องแล้ว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หลายผู้เข้าร่วม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docs/screenshots/group-E/E22b-guest-admitted.png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43. Admit ทุกคนในห้อง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A5. วิดีโอคอลและ Lobby | แพทย์/ผู้ดูแล | วัตถุประสงค์: จบขั้นตอน lobby</a:t>
            </a:r>
          </a:p>
        </p:txBody>
      </p:sp>
      <p:pic>
        <p:nvPicPr>
          <p:cNvPr id="4" name="Picture 3" descr="E31-lobby-all-admit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Admit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ทุกคนในประชุม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ทุกคนในประชุม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ทุกคนในประชุม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ทุกคนในประชุม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จบขั้นตอน lobby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Processes/Pages/Doctor-Portal/07_Virtual_Meeting.md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docs/screenshots/group-E/E31-lobby-all-admitted.png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link จาก API เท่านั้น — ไม่ hardcode doctor-origin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รอ save-recording ก่อน navigate ไปหน้าผล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A6. PHR และเวชระเบียน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«A6. PHR และเวชระเบียน» สำหรับแพทย์หรือผู้ดูแล ตามสิทธิ์ JWT</a:t>
            </a:r>
          </a:p>
          <a:p>
            <a:pPr>
              <a:defRPr sz="1800" b="0">
                <a:latin typeface="FC Iconic"/>
              </a:defRPr>
            </a:pPr>
            <a:r>
              <a:t>1. ล็อกอินด้วยบทบาทที่ถูกต้อง (Doctor / Admin)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เปิดเมนูตามหมวดและตรวจ KPI/คิว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ดำเนินการคลินิกหรือการจัดการตามภาพ</a:t>
            </a:r>
          </a:p>
          <a:p>
            <a:pPr>
              <a:defRPr sz="1800" b="0">
                <a:latin typeface="FC Iconic"/>
              </a:defRPr>
            </a:pPr>
            <a:r>
              <a:t>4. ตรวจสอบ realtime sync และสถานะนัด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44. ผู้ป่วย — มุม PHR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A6. PHR และเวชระเบียน | แพทย์/ผู้ดูแล | วัตถุประสงค์: เข้า PHR</a:t>
            </a:r>
          </a:p>
        </p:txBody>
      </p:sp>
      <p:pic>
        <p:nvPicPr>
          <p:cNvPr id="4" name="Picture 3" descr="F10-pat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เข้า PHR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docs/screenshots/group-F/F10-patients.png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45. ค้นหาเพื่อเปิด PHR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A6. PHR และเวชระเบียน | แพทย์/ผู้ดูแล | วัตถุประสงค์: เลือกผู้ป่วย</a:t>
            </a:r>
          </a:p>
        </p:txBody>
      </p:sp>
      <p:pic>
        <p:nvPicPr>
          <p:cNvPr id="4" name="Picture 3" descr="F11-search-pat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ค้นหา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ผลค้นหา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เลือกผู้ป่วย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docs/screenshots/group-F/F11-search-patient.png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46. รายละเอียด + PHR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A6. PHR และเวชระเบียน | แพทย์/ผู้ดูแล | วัตถุประสงค์: อ่านก่อนรักษา</a:t>
            </a:r>
          </a:p>
        </p:txBody>
      </p:sp>
      <p:pic>
        <p:nvPicPr>
          <p:cNvPr id="4" name="Picture 3" descr="F12-patient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detail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แท็บข้อมูล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แท็บข้อมูล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แท็บข้อมูล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แท็บข้อมูล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อ่านก่อนรักษา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docs/screenshots/group-F/F12-patient-detail.png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47. ข้อมูลสุขภาพผู้ป่วย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A6. PHR และเวชระเบียน | แพทย์/ผู้ดูแล | วัตถุประสงค์: sync จากผู้ป่วย</a:t>
            </a:r>
          </a:p>
        </p:txBody>
      </p:sp>
      <p:pic>
        <p:nvPicPr>
          <p:cNvPr id="4" name="Picture 3" descr="F12-patient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 vitals/ยา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ข้อมูลครบ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ข้อมูลครบ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ข้อมูลครบ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ข้อมูลครบ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sync จากผู้ป่วย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docs/screenshots/group-F/F13-patient-health-data.png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48. PHR มุมแพทย์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A6. PHR และเวชระเบียน | แพทย์/ผู้ดูแล | วัตถุประสงค์: บันทึกเพิ่มได้</a:t>
            </a:r>
          </a:p>
        </p:txBody>
      </p:sp>
      <p:pic>
        <p:nvPicPr>
          <p:cNvPr id="4" name="Picture 3" descr="F15-doctor-patient-ph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PHR 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มุมมองแพทย์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มุมมองแพทย์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มุมมองแพทย์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มุมมองแพทย์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บันทึกเพิ่มได้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docs/screenshots/group-F/F15-doctor-patient-phr.png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49. ผู้ป่วย (Group 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A6. PHR และเวชระเบียน | แพทย์/ผู้ดูแล | วัตถุประสงค์: cross-test</a:t>
            </a:r>
          </a:p>
        </p:txBody>
      </p:sp>
      <p:pic>
        <p:nvPicPr>
          <p:cNvPr id="4" name="Picture 3" descr="C03-pat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ตรวจรายชื่อ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cross-test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docs/screenshots/group-G/G10-doctor-patients.png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50. เวชระเบียนผู้ป่วย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A6. PHR และเวชระเบียน | แพทย์/ผู้ดูแล | วัตถุประสงค์: ข้อมูลรักษา</a:t>
            </a:r>
          </a:p>
        </p:txBody>
      </p:sp>
      <p:pic>
        <p:nvPicPr>
          <p:cNvPr id="4" name="Picture 3" descr="G11-patient-rec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EMR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EMR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EMR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EMR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ข้อมูลรักษา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docs/screenshots/group-G/G11-patient-record.png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51. รายการประชุมแพทย์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A6. PHR และเวชระเบียน | แพทย์/ผู้ดูแล | วัตถุประสงค์: ย้อนกลับประชุม</a:t>
            </a:r>
          </a:p>
        </p:txBody>
      </p:sp>
      <p:pic>
        <p:nvPicPr>
          <p:cNvPr id="4" name="Picture 3" descr="C04-health-mee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 meetings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นัดออนไลน์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นัดออนไลน์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นัดออนไลน์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นัดออนไลน์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ย้อนกลับประชุม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docs/screenshots/group-G/G12-meetings.png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A7. เนื้อหาและทรัพยากร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«A7. เนื้อหาและทรัพยากร» สำหรับแพทย์หรือผู้ดูแล ตามสิทธิ์ JWT</a:t>
            </a:r>
          </a:p>
          <a:p>
            <a:pPr>
              <a:defRPr sz="1800" b="0">
                <a:latin typeface="FC Iconic"/>
              </a:defRPr>
            </a:pPr>
            <a:r>
              <a:t>1. ล็อกอินด้วยบทบาทที่ถูกต้อง (Doctor / Admin)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เปิดเมนูตามหมวดและตรวจ KPI/คิว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ดำเนินการคลินิกหรือการจัดการตามภาพ</a:t>
            </a:r>
          </a:p>
          <a:p>
            <a:pPr>
              <a:defRPr sz="1800" b="0">
                <a:latin typeface="FC Iconic"/>
              </a:defRPr>
            </a:pPr>
            <a:r>
              <a:t>4. ตรวจสอบ realtime sync และสถานะนัด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52. สร้างเนื้อหา —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A7. เนื้อหาและทรัพยากร | แพทย์/ผู้ดูแล | วัตถุประสงค์: แพทย์เขียน</a:t>
            </a:r>
          </a:p>
        </p:txBody>
      </p:sp>
      <p:pic>
        <p:nvPicPr>
          <p:cNvPr id="4" name="Picture 3" descr="C07-medical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77249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Medical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รายการบทความ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รายการบทความ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รายการบทความ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รายการบทความ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แพทย์เขียน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docs/screenshots/group-H/H01-medical-content.png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53. ฟอร์มสร้างบทความ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A7. เนื้อหาและทรัพยากร | แพทย์/ผู้ดูแล | วัตถุประสงค์: กรอกหัวข้อ</a:t>
            </a:r>
          </a:p>
        </p:txBody>
      </p:sp>
      <p:pic>
        <p:nvPicPr>
          <p:cNvPr id="4" name="Picture 3" descr="H02-create-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77249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กดสร้างใหม่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ฟอร์มว่าง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ฟอร์มว่าง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ฟอร์มว่าง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ฟอร์มว่าง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กรอกหัวข้อ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docs/screenshots/group-H/H02-create-form.png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54. กรอกบทความครบ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A7. เนื้อหาและทรัพยากร | แพทย์/ผู้ดูแล | วัตถุประสงค์: ส่งให้แอดมินอนุมัติ</a:t>
            </a:r>
          </a:p>
        </p:txBody>
      </p:sp>
      <p:pic>
        <p:nvPicPr>
          <p:cNvPr id="4" name="Picture 3" descr="H03-form-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กรอกเนื้อหา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พร้อมเผยแพร่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พร้อมเผยแพร่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พร้อมเผยแพร่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พร้อมเผยแพร่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ส่งให้แอดมินอนุมัติ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docs/screenshots/group-H/H03-form-filled.png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55. กลับรายการบทความ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A7. เนื้อหาและทรัพยากร | แพทย์/ผู้ดูแล | วัตถุประสงค์: จัดการเนื้อหา</a:t>
            </a:r>
          </a:p>
        </p:txBody>
      </p:sp>
      <p:pic>
        <p:nvPicPr>
          <p:cNvPr id="4" name="Picture 3" descr="H04-back-to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บันทึก/ยกเลิก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รายการอัปเดต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รายการอัปเดต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รายการอัปเดต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รายการอัปเดต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จัดการเนื้อหา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docs/screenshots/group-H/H04-back-to-list.png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56. อ่านบทความ (แพทย์)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A7. เนื้อหาและทรัพยากร | แพทย์/ผู้ดูแล | วัตถุประสงค์: ตรวจก่อนเผยแพร่</a:t>
            </a:r>
          </a:p>
        </p:txBody>
      </p:sp>
      <p:pic>
        <p:nvPicPr>
          <p:cNvPr id="4" name="Picture 3" descr="H05-articl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95097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เปิดบทความ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ตัวอย่าง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ตัวอย่าง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ตัวอย่าง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ตัวอย่าง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ตรวจก่อนเผยแพร่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docs/screenshots/group-H/H05-article-detail.png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57. ทรัพยากรคลินิก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A7. เนื้อหาและทรัพยากร | แพทย์/ผู้ดูแล | วัตถุประสงค์: แนวทางรักษา</a:t>
            </a:r>
          </a:p>
        </p:txBody>
      </p:sp>
      <p:pic>
        <p:nvPicPr>
          <p:cNvPr id="4" name="Picture 3" descr="C08-clinical-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24891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Clinical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รายการไฟล์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รายการไฟล์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รายการไฟล์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รายการไฟล์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แนวทางรักษา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docs/screenshots/group-H/H06-clinical-resources.png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58. รายละเอียดทรัพยากร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A7. เนื้อหาและทรัพยากร | แพทย์/ผู้ดูแล | วัตถุประสงค์: อ้างอิงระหว่างรักษา</a:t>
            </a:r>
          </a:p>
        </p:txBody>
      </p:sp>
      <p:pic>
        <p:nvPicPr>
          <p:cNvPr id="4" name="Picture 3" descr="H07-resourc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68353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คลิกไฟล์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เนื้อหา/ลิงก์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เนื้อหา/ลิงก์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เนื้อหา/ลิงก์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เนื้อหา/ลิงก์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อ้างอิงระหว่างรักษา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docs/screenshots/group-H/H07-resource-detail.png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59. Pool จาก Group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A7. เนื้อหาและทรัพยากร | แพทย์/ผู้ดูแล | วัตถุประสงค์: รับผู้ป่วย</a:t>
            </a:r>
          </a:p>
        </p:txBody>
      </p:sp>
      <p:pic>
        <p:nvPicPr>
          <p:cNvPr id="4" name="Picture 3" descr="C05-appointment-p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นัดรอ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นัดรอ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รับผู้ป่วย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docs/screenshots/group-H/H09-pool.png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A8. โปรไฟล์และแจ้งเตือน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«A8. โปรไฟล์และแจ้งเตือน» สำหรับแพทย์หรือผู้ดูแล ตามสิทธิ์ JWT</a:t>
            </a:r>
          </a:p>
          <a:p>
            <a:pPr>
              <a:defRPr sz="1800" b="0">
                <a:latin typeface="FC Iconic"/>
              </a:defRPr>
            </a:pPr>
            <a:r>
              <a:t>1. ล็อกอินด้วยบทบาทที่ถูกต้อง (Doctor / Admin)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เปิดเมนูตามหมวดและตรวจ KPI/คิว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ดำเนินการคลินิกหรือการจัดการตามภาพ</a:t>
            </a:r>
          </a:p>
          <a:p>
            <a:pPr>
              <a:defRPr sz="1800" b="0">
                <a:latin typeface="FC Iconic"/>
              </a:defRPr>
            </a:pPr>
            <a:r>
              <a:t>4. ตรวจสอบ realtime sync และสถานะนัด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60. โปรไฟล์แพทย์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A8. โปรไฟล์และแจ้งเตือน | แพทย์/ผู้ดูแล | วัตถุประสงค์: แก้ไขตามสิทธิ์</a:t>
            </a:r>
          </a:p>
        </p:txBody>
      </p:sp>
      <p:pic>
        <p:nvPicPr>
          <p:cNvPr id="4" name="Picture 3" descr="I12-doctor-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เปิดโปรไฟล์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ข้อมูลแพทย์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ข้อมูลแพทย์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แก้ไขตามสิทธิ์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docs/screenshots/group-I/I12-doctor-profile.png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61. แจ้งเตือนแพทย์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A8. โปรไฟล์และแจ้งเตือน | แพทย์/ผู้ดูแล | วัตถุประสงค์: ตอบสนองเร็ว</a:t>
            </a:r>
          </a:p>
        </p:txBody>
      </p:sp>
      <p:pic>
        <p:nvPicPr>
          <p:cNvPr id="4" name="Picture 3" descr="WF12b-doctor-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68353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กระดิ่งแจ้งเตือน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นัดใหม่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นัดใหม่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นัดใหม่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นัดใหม่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ตอบสนองเร็ว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docs/screenshots/workflows/appointment-lifecycle/WF12b-doctor-notifications.png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B1. บทบาทผู้ดูแล — ภาพรวม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«B1. บทบาทผู้ดูแล — ภาพรวม» สำหรับแพทย์หรือผู้ดูแล ตามสิทธิ์ JWT</a:t>
            </a:r>
          </a:p>
          <a:p>
            <a:pPr>
              <a:defRPr sz="1800" b="0">
                <a:latin typeface="FC Iconic"/>
              </a:defRPr>
            </a:pPr>
            <a:r>
              <a:t>1. ล็อกอินด้วยบทบาทที่ถูกต้อง (Doctor / Admin)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เปิดเมนูตามหมวดและตรวจ KPI/คิว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ดำเนินการคลินิกหรือการจัดการตามภาพ</a:t>
            </a:r>
          </a:p>
          <a:p>
            <a:pPr>
              <a:defRPr sz="1800" b="0">
                <a:latin typeface="FC Iconic"/>
              </a:defRPr>
            </a:pPr>
            <a:r>
              <a:t>4. ตรวจสอบ realtime sync และสถานะนัด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62. แดชบอร์ดผู้ดูแลระบบ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B1. บทบาทผู้ดูแล — ภาพรวม | แพทย์/ผู้ดูแล | วัตถุประสงค์: มองภาพรวมระบบ</a:t>
            </a:r>
          </a:p>
        </p:txBody>
      </p:sp>
      <p:pic>
        <p:nvPicPr>
          <p:cNvPr id="4" name="Picture 3" descr="A01-admi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509955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ล็อกอิน 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KPI ทั้งองค์กร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KPI ทั้งองค์กร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KPI ทั้งองค์กร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KPI ทั้งองค์กร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มองภาพรวมระบบ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docs/screenshots/group-A/A01-admin-dashboard.png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63. เมนูผู้ดูแลระบบ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B1. บทบาทผู้ดูแล — ภาพรวม | แพทย์/ผู้ดูแล | วัตถุประสงค์: สิทธิ์สูงกว่าแพทย์</a:t>
            </a:r>
          </a:p>
        </p:txBody>
      </p:sp>
      <p:pic>
        <p:nvPicPr>
          <p:cNvPr id="4" name="Picture 3" descr="A01-admi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509955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ดูเมนู 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จัดการแพทย์ Pool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จัดการแพทย์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จัดการแพทย์ Pool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จัดการแพทย์ Pool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สิทธิ์สูงกว่าแพทย์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docs/screenshots/group-A/A04-admin-sidebar.png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B2. บทบาทผู้ดูแล — หน้าหลัก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ผู้ดูแลระบบ — อนุมัติแพทย์ จัดการ Pool และเนื้อหา</a:t>
            </a:r>
          </a:p>
          <a:p>
            <a:pPr>
              <a:defRPr sz="1800" b="0">
                <a:latin typeface="FC Iconic"/>
              </a:defRPr>
            </a:pPr>
            <a:r>
              <a:t>1. ล็อกอิน Admin</a:t>
            </a:r>
          </a:p>
          <a:p>
            <a:pPr>
              <a:defRPr sz="1800" b="0">
                <a:latin typeface="FC Iconic"/>
              </a:defRPr>
            </a:pPr>
            <a:r>
              <a:t>2. เปิด Doctors Management — อนุมัติแพทย์ใหม่</a:t>
            </a:r>
          </a:p>
          <a:p>
            <a:pPr>
              <a:defRPr sz="1800" b="0">
                <a:latin typeface="FC Iconic"/>
              </a:defRPr>
            </a:pPr>
            <a:r>
              <a:t>3. เปิด Appointment Pool — จัดสรรนัด</a:t>
            </a:r>
          </a:p>
          <a:p>
            <a:pPr>
              <a:defRPr sz="1800" b="0">
                <a:latin typeface="FC Iconic"/>
              </a:defRPr>
            </a:pPr>
            <a:r>
              <a:t>4. เปิด Medical Content — อนุมัติบทความ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64. แดชบอร์ด Admin (C)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B2. บทบาทผู้ดูแล — หน้าหลัก | แพทย์/ผู้ดูแล | วัตถุประสงค์: Group C flow</a:t>
            </a:r>
          </a:p>
        </p:txBody>
      </p:sp>
      <p:pic>
        <p:nvPicPr>
          <p:cNvPr id="4" name="Picture 3" descr="C09-admi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564362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Dashboard 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สถิติรวม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สถิติรวม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สถิติรวม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สถิติรวม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Group C flow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Processes/Pages/Doctor-Portal/18_Admin_Doctor_Management.md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docs/screenshots/group-C/C09-admin-dashboard.png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ไม่ทำหน้าที่วินิจฉัยแทนแพทย์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65. ผู้ป่วยทั้งหมด (Admin)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B2. บทบาทผู้ดูแล — หน้าหลัก | แพทย์/ผู้ดูแล | วัตถุประสงค์: ไม่จำกัดเฉพาะแพทย์</a:t>
            </a:r>
          </a:p>
        </p:txBody>
      </p:sp>
      <p:pic>
        <p:nvPicPr>
          <p:cNvPr id="4" name="Picture 3" descr="C10-admin-pat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Admin 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ทุกผู้ป่วย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ทุกผู้ป่วย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ทุกผู้ป่วย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ทุกผู้ป่วย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ไม่จำกัดเฉพาะแพทย์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Processes/Pages/Doctor-Portal/18_Admin_Doctor_Management.md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docs/screenshots/group-C/C10-admin-patients.png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ไม่ทำหน้าที่วินิจฉัยแทนแพทย์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66. ตารางองค์กร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B2. บทบาทผู้ดูแล — หน้าหลัก | แพทย์/ผู้ดูแล | วัตถุประสงค์: จัดการภาพรวม</a:t>
            </a:r>
          </a:p>
        </p:txBody>
      </p:sp>
      <p:pic>
        <p:nvPicPr>
          <p:cNvPr id="4" name="Picture 3" descr="C11-admin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Admin 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ตารางรวม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ตารางรวม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ตารางรวม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ตารางรวม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จัดการภาพรวม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Processes/Pages/Doctor-Portal/18_Admin_Doctor_Management.md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docs/screenshots/group-C/C11-admin-schedule.png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ไม่ทำหน้าที่วินิจฉัยแทนแพทย์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67. Health Meeting (Admin)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B2. บทบาทผู้ดูแล — หน้าหลัก | แพทย์/ผู้ดูแล | วัตถุประสงค์: ดูทุกแพทย์</a:t>
            </a:r>
          </a:p>
        </p:txBody>
      </p:sp>
      <p:pic>
        <p:nvPicPr>
          <p:cNvPr id="4" name="Picture 3" descr="C12-admin-mee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Admin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คิวทั้งระบบ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คิวทั้งระบบ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คิวทั้งระบบ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คิวทั้งระบบ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ดูทุกแพทย์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Processes/Pages/Doctor-Portal/18_Admin_Doctor_Management.md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docs/screenshots/group-C/C12-admin-meeting.png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ไม่ทำหน้าที่วินิจฉัยแทนแพทย์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B3. จัดการบุคลากร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«B3. จัดการบุคลากร» สำหรับแพทย์หรือผู้ดูแล ตามสิทธิ์ JWT</a:t>
            </a:r>
          </a:p>
          <a:p>
            <a:pPr>
              <a:defRPr sz="1800" b="0">
                <a:latin typeface="FC Iconic"/>
              </a:defRPr>
            </a:pPr>
            <a:r>
              <a:t>1. ล็อกอินด้วยบทบาทที่ถูกต้อง (Doctor / Admin)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เปิดเมนูตามหมวดและตรวจ KPI/คิว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ดำเนินการคลินิกหรือการจัดการตามภาพ</a:t>
            </a:r>
          </a:p>
          <a:p>
            <a:pPr>
              <a:defRPr sz="1800" b="0">
                <a:latin typeface="FC Iconic"/>
              </a:defRPr>
            </a:pPr>
            <a:r>
              <a:t>4. ตรวจสอบ realtime sync และสถานะนัด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68. จัดการแพทย์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เพิ่ม/แก้ไข</a:t>
            </a:r>
          </a:p>
        </p:txBody>
      </p:sp>
      <p:pic>
        <p:nvPicPr>
          <p:cNvPr id="4" name="Picture 3" descr="C13-manage-doc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63753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Manage Doctors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รายชื่อแพทย์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รายชื่อแพทย์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เพิ่ม/แก้ไข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docs/screenshots/group-C/C13-manage-doctors.png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69. อนุมัติแพทย์ใหม่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เปิดใช้บัญชี</a:t>
            </a:r>
          </a:p>
        </p:txBody>
      </p:sp>
      <p:pic>
        <p:nvPicPr>
          <p:cNvPr id="4" name="Picture 3" descr="C14-doctor-appro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อนุมัติ/ปฏิเสธ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pending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สถานะ 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pending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สถานะ pending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เปิดใช้บัญชี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docs/screenshots/group-C/C14-doctor-approval.png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70. อนุมัติเนื้อหา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เผยแพร่สู่ผู้ป่วย</a:t>
            </a:r>
          </a:p>
        </p:txBody>
      </p:sp>
      <p:pic>
        <p:nvPicPr>
          <p:cNvPr id="4" name="Picture 3" descr="C15-admin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77249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Admin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บทความรออนุมัติ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บทความรออนุมัติ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บทความรออนุมัติ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บทความรออนุมัติ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เผยแพร่สู่ผู้ป่วย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docs/screenshots/group-C/C15-admin-content.png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71. ทรัพยากร (Admin)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มาตรฐานคลินิก</a:t>
            </a:r>
          </a:p>
        </p:txBody>
      </p:sp>
      <p:pic>
        <p:nvPicPr>
          <p:cNvPr id="4" name="Picture 3" descr="C16-admin-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24891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Admin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ไฟล์องค์กร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ไฟล์องค์กร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ไฟล์องค์กร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ไฟล์องค์กร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มาตรฐานคลินิก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docs/screenshots/group-C/C16-admin-resources.png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72. แดชบอร์ด (Group 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Group I tests</a:t>
            </a:r>
          </a:p>
        </p:txBody>
      </p:sp>
      <p:pic>
        <p:nvPicPr>
          <p:cNvPr id="4" name="Picture 3" descr="C09-admi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564362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I01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ภาพรวม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ภาพรวม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ภาพรวม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ภาพรวม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Group I tests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docs/screenshots/group-I/I01-admin-dashboard.png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73. จัดการแพทย์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บำรุงรักษาบัญชี</a:t>
            </a:r>
          </a:p>
        </p:txBody>
      </p:sp>
      <p:pic>
        <p:nvPicPr>
          <p:cNvPr id="4" name="Picture 3" descr="C13-manage-doc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63753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ค้นหาแพทย์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บำรุงรักษาบัญชี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docs/screenshots/group-I/I02-manage-doctors.png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74. ค้นหาแพทย์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หาเร็ว</a:t>
            </a:r>
          </a:p>
        </p:txBody>
      </p:sp>
      <p:pic>
        <p:nvPicPr>
          <p:cNvPr id="4" name="Picture 3" descr="I03-search-do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พิมพ์ชื่อ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ผลค้นหา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หาเร็ว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docs/screenshots/group-I/I03-search-doctor.png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75. ปุ่มอนุมัติ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ควบคุมคุณภาพ</a:t>
            </a:r>
          </a:p>
        </p:txBody>
      </p:sp>
      <p:pic>
        <p:nvPicPr>
          <p:cNvPr id="4" name="Picture 3" descr="I03-search-do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Approve/Reject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Approve/Reject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Approve/Reject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Approve/Reject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ควบคุมคุณภาพ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docs/screenshots/group-I/I05-approval-buttons.png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76. หน้าอนุมัติแพทย์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แพทย์ล็อกอินได้</a:t>
            </a:r>
          </a:p>
        </p:txBody>
      </p:sp>
      <p:pic>
        <p:nvPicPr>
          <p:cNvPr id="4" name="Picture 3" descr="C14-doctor-appro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ยืนยันอนุมัติ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active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สถานะ 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active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สถานะ active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แพทย์ล็อกอินได้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docs/screenshots/group-I/I06-doctor-approval.png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77. รายการรออนุมัติ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B3. จัดการบุคลากร | แพทย์/ผู้ดูแล | วัตถุประสงค์: ดำเนินการทีละราย</a:t>
            </a:r>
          </a:p>
        </p:txBody>
      </p:sp>
      <p:pic>
        <p:nvPicPr>
          <p:cNvPr id="4" name="Picture 3" descr="C14-doctor-appro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 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คิวรอ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คิวรอ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คิวรอ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คิวรอ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ดำเนินการทีละราย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docs/screenshots/group-I/I07-pending-list.png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B4. Appointment Pool และคิว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GATE0: นัด in_pool → Admin assign แพทย์ → แพทย์ confirm → คิว Health Meeting</a:t>
            </a:r>
          </a:p>
          <a:p>
            <a:pPr>
              <a:defRPr sz="1800" b="0">
                <a:latin typeface="FC Iconic"/>
              </a:defRPr>
            </a:pPr>
            <a:r>
              <a:t>1. ผู้ป่วยจองเข้า Pool (หรือระบุแพทย์ตั้งแต่แรก)</a:t>
            </a:r>
          </a:p>
          <a:p>
            <a:pPr>
              <a:defRPr sz="1800" b="0">
                <a:latin typeface="FC Iconic"/>
              </a:defRPr>
            </a:pPr>
            <a:r>
              <a:t>2. Admin เปิด Appointment Pool Management → เลือกนัด → Assign แพทย์</a:t>
            </a:r>
          </a:p>
          <a:p>
            <a:pPr>
              <a:defRPr sz="1800" b="0">
                <a:latin typeface="FC Iconic"/>
              </a:defRPr>
            </a:pPr>
            <a:r>
              <a:t>3. แพทย์ได้แจ้งเตือน realtime → เปิดคิว → Confirm</a:t>
            </a:r>
          </a:p>
          <a:p>
            <a:pPr>
              <a:defRPr sz="1800" b="0">
                <a:latin typeface="FC Iconic"/>
              </a:defRPr>
            </a:pPr>
            <a:r>
              <a:t>4. สถานะ `confirmed` — แสดงใน Health Meeting</a:t>
            </a:r>
          </a:p>
          <a:p>
            <a:pPr>
              <a:defRPr sz="1800" b="0">
                <a:latin typeface="FC Iconic"/>
              </a:defRPr>
            </a:pPr>
            <a:r>
              <a:t>5. เริ่มวิดีโอคอลจากนัดที่ยืนยัน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78. แจ้งเตือน Pool (Admin)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แอดมินรู้ทันที</a:t>
            </a:r>
          </a:p>
        </p:txBody>
      </p:sp>
      <p:pic>
        <p:nvPicPr>
          <p:cNvPr id="4" name="Picture 3" descr="D07b-admin-pool-not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564362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นัดใหม่เข้า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การแจ้งเตือน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การแจ้งเตือน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การแจ้งเตือน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แอดมินรู้ทันที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docs/screenshots/group-D/D07b-admin-pool-notification.png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79. Health Meeting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จัดสรรแพทย์</a:t>
            </a:r>
          </a:p>
        </p:txBody>
      </p:sp>
      <p:pic>
        <p:nvPicPr>
          <p:cNvPr id="4" name="Picture 3" descr="D14-admin-mee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51662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Admin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ภาพรวมคิว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ภาพรวมคิว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ภาพรวมคิว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ภาพรวมคิว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จัดสรรแพทย์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docs/screenshots/group-D/D14-admin-meeting.png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80. Appointment Pool (Admin)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เลือกแพทย์</a:t>
            </a:r>
          </a:p>
        </p:txBody>
      </p:sp>
      <p:pic>
        <p:nvPicPr>
          <p:cNvPr id="4" name="Picture 3" descr="D15-admin-p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04164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นัดรอจัดสรร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นัดรอจัดสรร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นัดรอจัดสรร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นัดรอจัดสรร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เลือกแพทย์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docs/screenshots/group-D/D15-admin-pool.png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81. จัดสรรแพทย์แล้ว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แพทย์ได้แจ้งเตือน</a:t>
            </a:r>
          </a:p>
        </p:txBody>
      </p:sp>
      <p:pic>
        <p:nvPicPr>
          <p:cNvPr id="4" name="Picture 3" descr="D15-admin-p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04164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แพทย์ที่มอบหมาย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แพทย์ที่มอบหมาย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 Assign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แพทย์ที่มอบหมาย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แพทย์ที่มอบหมาย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แพทย์ที่มอบหมาย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แพทย์ที่มอบหมาย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แพทย์ได้แจ้งเตือน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docs/screenshots/group-D/D15b-admin-assigned-doctor.png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82. Pool หลังจัดสรร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ติดตาม</a:t>
            </a:r>
          </a:p>
        </p:txBody>
      </p:sp>
      <p:pic>
        <p:nvPicPr>
          <p:cNvPr id="4" name="Picture 3" descr="D15-admin-p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04164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รีเฟรช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สถานะอัปเดต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สถานะอัปเดต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สถานะอัปเดต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สถานะอัปเดต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ติดตาม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docs/screenshots/group-D/D16-pool-after-assignment.png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83. ซิงค์คิว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data sync</a:t>
            </a:r>
          </a:p>
        </p:txBody>
      </p:sp>
      <p:pic>
        <p:nvPicPr>
          <p:cNvPr id="4" name="Picture 3" descr="D16d-admin-queue-count-sy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51662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ตรวจตัวเลข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ตรงกับแพทย์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ตรงกับแพทย์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ตรงกับแพทย์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data sync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docs/screenshots/group-D/D16d-admin-queue-count-sync.png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84. คิวหลังจัดสรร (Admin)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พร้อมประชุม</a:t>
            </a:r>
          </a:p>
        </p:txBody>
      </p:sp>
      <p:pic>
        <p:nvPicPr>
          <p:cNvPr id="4" name="Picture 3" descr="D17-admin-queue-post-as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ดูคิว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ผู้ป่วยในคิวแพทย์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ผู้ป่วยในคิวแพทย์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ผู้ป่วยในคิวแพทย์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ผู้ป่วยในคิวแพทย์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พร้อมประชุม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docs/screenshots/group-D/D17-admin-queue-post-assign.png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85. คิวองค์กร (E)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มุมมองรวม</a:t>
            </a:r>
          </a:p>
        </p:txBody>
      </p:sp>
      <p:pic>
        <p:nvPicPr>
          <p:cNvPr id="4" name="Picture 3" descr="E23-admin-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Admin queue E23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ทุกแพทย์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ทุกแพทย์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ทุกแพทย์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ทุกแพทย์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มุมมองรวม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docs/screenshots/group-E/E23-admin-queue.png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86. ตาราง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วางแผน</a:t>
            </a:r>
          </a:p>
        </p:txBody>
      </p:sp>
      <p:pic>
        <p:nvPicPr>
          <p:cNvPr id="4" name="Picture 3" descr="C11-admin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Schedule 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ตารางรวม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ตารางรวม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ตารางรวม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ตารางรวม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วางแผน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docs/screenshots/group-I/I08-admin-schedule.png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87. Pool Admin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B4. Appointment Pool และคิว | แพทย์/ผู้ดูแล | วัตถุประสงค์: จัดสรร</a:t>
            </a:r>
          </a:p>
        </p:txBody>
      </p:sp>
      <p:pic>
        <p:nvPicPr>
          <p:cNvPr id="4" name="Picture 3" descr="I09-admin-p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I09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นัดรอ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นัดรอ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จัดสรร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Processes/Pages/Doctor-Portal/20_Appointment_Pool_Management.md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docs/screenshots/group-I/I09-admin-pool.png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ตัวเลขคิวต้องซิงค์ระหว่าง Admin และ Doctor (Socket.IO)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B5. เนื้อหาและทรัพยากร (Admin)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«B5. เนื้อหาและทรัพยากร (Admin)» สำหรับแพทย์หรือผู้ดูแล ตามสิทธิ์ JWT</a:t>
            </a:r>
          </a:p>
          <a:p>
            <a:pPr>
              <a:defRPr sz="1800" b="0">
                <a:latin typeface="FC Iconic"/>
              </a:defRPr>
            </a:pPr>
            <a:r>
              <a:t>1. ล็อกอินด้วยบทบาทที่ถูกต้อง (Doctor / Admin)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เปิดเมนูตามหมวดและตรวจ KPI/คิว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ดำเนินการคลินิกหรือการจัดการตามภาพ</a:t>
            </a:r>
          </a:p>
          <a:p>
            <a:pPr>
              <a:defRPr sz="1800" b="0">
                <a:latin typeface="FC Iconic"/>
              </a:defRPr>
            </a:pPr>
            <a:r>
              <a:t>4. ตรวจสอบ realtime sync และสถานะนัด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88. เนื้อหา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B5. เนื้อหาและทรัพยากร (Admin) | แพทย์/ผู้ดูแล | วัตถุประสงค์: เผยแพร่</a:t>
            </a:r>
          </a:p>
        </p:txBody>
      </p:sp>
      <p:pic>
        <p:nvPicPr>
          <p:cNvPr id="4" name="Picture 3" descr="C15-admin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77249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อนุมัติบทความ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รายการรอ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รายการรอ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รายการรอ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เผยแพร่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docs/screenshots/group-H/H13-admin-content.png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89. ทรัพยากร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B5. เนื้อหาและทรัพยากร (Admin) | แพทย์/ผู้ดูแล | วัตถุประสงค์: มาตรฐาน</a:t>
            </a:r>
          </a:p>
        </p:txBody>
      </p:sp>
      <p:pic>
        <p:nvPicPr>
          <p:cNvPr id="4" name="Picture 3" descr="C16-admin-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424891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จัดการไฟล์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ทรัพยากรองค์กร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ทรัพยากรองค์กร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ทรัพยากรองค์กร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ทรัพยากรองค์กร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มาตรฐาน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Processes/Pages/Doctor-Portal/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docs/screenshots/group-H/H14-admin-resources.png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Admin เท่านั้นที่จัดสรร Pool ให้แพทย์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แพทย์ยืนยันนัด — ไม่ใช่ Admin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B6. เวิร์กโฟลว์ครบวงจร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WF ครบวงจรฝั่งแพทย์/แอดมิน</a:t>
            </a:r>
          </a:p>
          <a:p>
            <a:pPr>
              <a:defRPr sz="1800" b="0">
                <a:latin typeface="FC Iconic"/>
              </a:defRPr>
            </a:pPr>
            <a:r>
              <a:t>1. Pool assign → doctor confirm → meeting</a:t>
            </a:r>
          </a:p>
          <a:p>
            <a:pPr>
              <a:defRPr sz="1800" b="0">
                <a:latin typeface="FC Iconic"/>
              </a:defRPr>
            </a:pPr>
            <a:r>
              <a:t>2. Lobby admit → Jitsi → end → AI summary</a:t>
            </a:r>
          </a:p>
          <a:p>
            <a:pPr>
              <a:defRPr sz="1800" b="0">
                <a:latin typeface="FC Iconic"/>
              </a:defRPr>
            </a:pPr>
            <a:r>
              <a:t>3. Validate summary → EMR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90. จัดการ Pool —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B6. เวิร์กโฟลว์ครบวงจร | แพทย์/ผู้ดูแล | วัตถุประสงค์: lifecycle นัด</a:t>
            </a:r>
          </a:p>
        </p:txBody>
      </p:sp>
      <p:pic>
        <p:nvPicPr>
          <p:cNvPr id="4" name="Picture 3" descr="WF10-appointment-management-p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WF10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หน้าจัดการ Pool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หน้าจัดการ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หน้าจัดการ Pool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หน้าจัดการ Pool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lifecycle นัด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docs/screenshots/workflows/appointment-lifecycle/WF10-appointment-management-pool.png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ใช้ข้อมูลหลัง cleanup E2E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91. นัดยืนยัน —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B6. เวิร์กโฟลว์ครบวงจร | แพทย์/ผู้ดูแล | วัตถุประสงค์: พร้อมประชุม</a:t>
            </a:r>
          </a:p>
        </p:txBody>
      </p:sp>
      <p:pic>
        <p:nvPicPr>
          <p:cNvPr id="4" name="Picture 3" descr="WF11-appointment-confir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WF11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confirmed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confirmed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confirmed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พร้อมประชุม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docs/screenshots/workflows/appointment-lifecycle/WF11-appointment-confirmed.png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ใช้ข้อมูลหลัง cleanup E2E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92. คิว Health Meeting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B6. เวิร์กโฟลว์ครบวงจร | แพทย์/ผู้ดูแล | วัตถุประสงค์: เริ่มวิดีโอ</a:t>
            </a:r>
          </a:p>
        </p:txBody>
      </p:sp>
      <p:pic>
        <p:nvPicPr>
          <p:cNvPr id="4" name="Picture 3" descr="WF11-appointment-confir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WF12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คิวประชุม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คิวประชุม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คิวประชุม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คิวประชุม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เริ่มวิดีโอ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docs/screenshots/workflows/appointment-lifecycle/WF12-health-meeting-queue.png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ใช้ข้อมูลหลัง cleanup E2E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93. แดชบอร์ดหลังล็อกอิน (WF)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B6. เวิร์กโฟลว์ครบวงจร | แพทย์/ผู้ดูแล | วัตถุประสงค์: เริ่มงาน</a:t>
            </a:r>
          </a:p>
        </p:txBody>
      </p:sp>
      <p:pic>
        <p:nvPicPr>
          <p:cNvPr id="4" name="Picture 3" descr="WF09-docto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6217920" cy="68353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WF09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เข้าสู่ระบบสำเร็จ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เข้าสู่ระบบสำเร็จ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เข้าสู่ระบบสำเร็จ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เข้าสู่ระบบสำเร็จ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เริ่มงาน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docs/screenshots/workflows/auth-login/WF09-doctor-dashboard.png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ใช้ข้อมูลหลัง cleanup E2E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สรุปและ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ครบ 93 ขั้นตอนพร้อมภาพ UI tests</a:t>
            </a:r>
          </a:p>
          <a:p>
            <a:pPr>
              <a:defRPr sz="1800" b="0">
                <a:latin typeface="FC Iconic"/>
              </a:defRPr>
            </a:pPr>
            <a:r>
              <a:t>TH Sarabun New 16 pt (Word) / FC Iconic (สไลด์)</a:t>
            </a:r>
          </a:p>
          <a:p>
            <a:pPr>
              <a:defRPr sz="1800" b="0">
                <a:latin typeface="FC Iconic"/>
              </a:defRPr>
            </a:pPr>
            <a:r>
              <a:t>อ้างอิง Processes/Pages และ GATE0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25425</Words>
  <Application>Microsoft Office PowerPoint</Application>
  <PresentationFormat>Widescreen</PresentationFormat>
  <Paragraphs>3292</Paragraphs>
  <Slides>111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Chirapath Saelim (Leo)</cp:lastModifiedBy>
  <cp:revision>2</cp:revision>
  <dcterms:created xsi:type="dcterms:W3CDTF">2013-01-27T09:14:16Z</dcterms:created>
  <dcterms:modified xsi:type="dcterms:W3CDTF">2026-05-24T04:00:02Z</dcterms:modified>
  <cp:category/>
</cp:coreProperties>
</file>