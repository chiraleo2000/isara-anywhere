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6" Type="http://schemas.openxmlformats.org/officeDocument/2006/relationships/viewProps" Target="viewProps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สคริปต์นำเสนอสไลด์ — ระบบ Isara Anywhere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PowerPoint Presentation Script (ภาษาไทย)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คำแนะนำการใช้งาน:</a:t>
            </a:r>
            <a:r>
              <a:rPr sz="2000"/>
              <a:t> แต่ละสไลด์มีกรอบภาพ </a:t>
            </a:r>
            <a:r>
              <a:rPr sz="2000">
                <a:latin typeface="Courier"/>
              </a:rPr>
              <a:t>[ภาพ: ชื่อไฟล์]</a:t>
            </a:r>
            <a:r>
              <a:rPr sz="2000"/>
              <a:t> สำหรับใส่ภาพหน้าจอจากการทดสอบจริง</a:t>
            </a:r>
            <a:br/>
            <a:r>
              <a:rPr sz="2000"/>
              <a:t>และมีส่วน </a:t>
            </a:r>
            <a:r>
              <a:rPr sz="2000" b="1"/>
              <a:t>สคริปต์บรรยาย</a:t>
            </a:r>
            <a:r>
              <a:rPr sz="2000"/>
              <a:t> สำหรับผู้นำเสนอพูดระหว่างแสดงสไลด์นั้น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 — หน้าปก (Title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ระบบ Isara Anywhere — คู่มือการใช้งาน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┌─────────────────────────────────────────────┐
│                                             │
│         [โลโก้ Isara Anywhere]              │
│                                             │
│   ระบบแพทย์ทางไกล (Telemedicine)           │
│   คู่มือการใช้งานสำหรับผู้ใช้งาน           │
│                                             │
│   สำหรับ: ผู้ป่วย | แพทย์ | ผู้ดูแลระบบ    │
│   เวอร์ชัน 1.7.3 | พฤษภาคม 2569            │
│                                             │
└─────────────────────────────────────────────┘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“สวัสดีครับ/ค่ะ วันนี้เราจะมาแนะนำการใช้งานระบบ Isara Anywhere ซึ่งเป็นระบบแพทย์ทางไกลที่ช่วยให้ผู้ป่วยสามารถพบแพทย์ได้จากทุกที่ ผ่านอินเทอร์เน็ต โดยไม่ต้องเดินทางมาโรงพยาบาล คู่มือนี้ครอบคลุมการใช้งานสำหรับผู้ใช้ 3 กลุ่มหลัก ได้แก่ ผู้ป่วย แพทย์ และผู้ดูแลระบบ”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สไลด์ที่ 2 — ภาพรวมระบบ (System Overview)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ภาพรวมพอร์ทัลทั้งหมดในระบบ Isara Anywhere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แผนภาพภาพรวมระบบ — ไม่มีภาพหน้าจอจากการทดสอบ ใช้ตารางแทน]</a:t>
            </a:r>
          </a:p>
          <a:p>
            <a:pPr lvl="0" indent="0" marL="0">
              <a:buNone/>
            </a:pPr>
            <a:r>
              <a:rPr b="1"/>
              <a:t>ตารางภาพรวมพอร์ทัล: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พอร์ทัล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กลุ่มผู้ใช้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หน้าที่หลัก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จำนวนเมนู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Patient Portal</a:t>
                      </a:r>
                      <a:r>
                        <a:rPr/>
                        <a:t> (ผู้ป่วย)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ผู้ป่วย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จองนัด, ดูประวัติ, วิดีโอคอล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เมนู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Doctor Portal</a:t>
                      </a:r>
                      <a:r>
                        <a:rPr/>
                        <a:t> (แพทย์)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แพทย์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จัดการคิว, ดูผู้ป่วย, ประชุม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เมนู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Admin Portal</a:t>
                      </a:r>
                      <a:r>
                        <a:rPr/>
                        <a:t> (ผู้ดูแล)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ผู้ดูแลระบบ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จัดสรรแพทย์, บริหารระบบ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8+ เมนู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“ระบบ Isara Anywhere ประกอบด้วยพอร์ทัลหลัก 3 ส่วน แต่ละส่วนออกแบบมาสำหรับกลุ่มผู้ใช้งานที่แตกต่างกัน พอร์ทัลผู้ป่วยมีเมนูนำทาง 10 รายการ ครอบคลุมการจองนัด การดูประวัติสุขภาพ และการทำวิดีโอคอล พอร์ทัลแพทย์มีเมนู 8 รายการ สำหรับจัดการคิวผู้ป่วยและบันทึกการรักษา ส่วนพอร์ทัลผู้ดูแลระบบมีเมนูเพิ่มเติมสำหรับการบริหารจัดการระบบโดยรวม”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 — การเข้าสู่ระบบ (ผู้ป่วย)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ขั้นตอนที่ 1: ผู้ป่วยเข้าสู่ระบบ Patient Portal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docs/screenshots/group-A/A01-patient-dashboard.png]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URL: http://localhost:3005 - กรอกอีเมล + รหัสผ่าน หรือใช้ Google Sign-In - ระบบนำทางไปแดชบอร์ดอัตโนมัติ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“ผู้ป่วยเริ่มต้นโดยเปิดเบราว์เซอร์และไปที่ URL ของระบบ จากนั้นกรอกอีเมลและรหัสผ่านที่ลงทะเบียนไว้ หรือจะเลือกเข้าสู่ระบบผ่านบัญชี Google ก็ได้ ในภาพหน้าจอที่เห็นนี้ คือหน้าแดชบอร์ดที่ผู้ป่วยจะเห็นทันทีหลังจากล็อกอินสำเร็จ แสดงข้อมูลสรุปสุขภาพและนัดหมายที่กำลังจะมาถึง”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 — เมนูนำทางผู้ป่วย (Patient Sidebar)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เมนูนำทางหลักของ Patient Portal — 10 รายการ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docs/screenshots/group-A/A02-patient-sidebar.png]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1. Home — หน้าหลัก 2. Appointments — จัดการนัดหมาย ★ 3. AI Doctor — ปรึกษา AI 4. Health Library — คลังความรู้สุขภาพ 5. PHR — บันทึกสุขภาพส่วนตัว 6. Timeline — ประวัติการรักษา 7. Map — แผนที่คลินิก 8. Find Doctors — ค้นหาแพทย์ 9. PDPA — ความยินยอมข้อมูล 10. Settings — ตั้งค่า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“ที่ด้านซ้ายมือของหน้าจอ จะมีแถบเมนูนำทางที่มี 10 รายการ เมนูที่ผู้ป่วยจะใช้บ่อยที่สุดคือ ‘Appointments’ หรือเมนูนัดหมาย ซึ่งอยู่เป็นรายการที่สอง คลิกที่เมนูใดก็ได้ตามที่ต้องการ ระบบจะโหลดหน้านั้นทันทีโดยไม่รีโหลดหน้าเว็บ ทำให้การใช้งานรวดเร็วและลื่นไหล”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5 — แดชบอร์ดสถิติผู้ป่วย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แดชบอร์ดผู้ป่วย — ข้อมูลสรุปสุขภาพ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docs/screenshots/group-A/A09-patient-stats.png]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สรุปนัดหมายที่กำลังจะมาถึง - สถิติสุขภาพส่วนตัว - การแจ้งเตือนสำคัญ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“แดชบอร์ดของผู้ป่วยแสดงข้อมูลสรุปที่เกี่ยวข้องกับสุขภาพของตนเอง ได้แก่ นัดหมายที่กำลังจะมาถึง สถิติสุขภาพ และการแจ้งเตือนต่างๆ ข้อมูลเหล่านี้อัปเดตแบบเรียลไทม์ หมายความว่าเมื่อแพทย์ยืนยันนัดหมาย ผู้ป่วยจะเห็นการเปลี่ยนแปลงในทันทีโดยไม่ต้องรีโหลดหน้า”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6 — รายการนัดหมายผู้ป่วย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หน้านัดหมาย — ดูรายการและกรองสถานะ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docs/screenshots/group-D/D01-appointments-list.png]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- 4 แท็บกรอง: Pending | All | Confirmed | Completed - แสดงชื่อแพทย์, วันเวลา, ประเภทนัด - ปุ่มดูรายละเอียดและเข้าร่วมประชุม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“เมื่อคลิกเมนู ‘Appointments’ จะเห็นหน้ารายการนัดหมายที่มีแท็บกรองสถานะ 4 แท็บ ได้แก่ Pending รอดำเนินการ, All ทั้งหมด, Confirmed ยืนยันแล้ว และ Completed เสร็จสิ้น ผู้ป่วยสามารถคลิกแต่ละแท็บเพื่อดูนัดหมายตามสถานะที่ต้องการ แต่ละรายการแสดงชื่อแพทย์ วันเวลา และประเภทการนัด”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7 — นัดหมายทั้งหมด (All Tab)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แท็บ “All” — ดูนัดหมายทุกรายการ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docs/screenshots/group-D/D02-all-appointments.png]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แสดงนัดหมายทุกสถานะรวมกัน - เรียงลำดับตามวันที่ล่าสุด - ช่วยให้ติดตามประวัติการนัดได้ง่าย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“เมื่อเลือกแท็บ ‘All’ ระบบจะแสดงนัดหมายทุกรายการรวมกัน ทั้งที่รอดำเนินการ ยืนยันแล้ว และเสร็จสิ้น ช่วยให้ผู้ป่วยสามารถมองเห็นประวัติการนัดหมายทั้งหมดได้ในที่เดียว โดยเรียงลำดับจากล่าสุดก่อน”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8 — เริ่มต้นจองนัดหมายใหม่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ขั้นตอนที่ 1 จากการจอง: ตัวช่วยการจองนัดหมาย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docs/screenshots/group-D/D03-booking-wizard.png]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คลิกปุ่ม “จองนัดหมายใหม่” เพื่อเริ่ม - Booking Wizard นำทางแบบขั้นตอน - ขั้นตอนที่ 1: กรอกอาการ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“เมื่อผู้ป่วยต้องการจองนัดหมายใหม่ ให้คลิกปุ่ม ‘จองนัดหมายใหม่’ ระบบจะเปิดหน้าตัวช่วยการจอง หรือ Booking Wizard ซึ่งจะนำทางผ่านขั้นตอนการจองแบบทีละขั้น ขั้นตอนแรกคือการกรอกข้อมูลอาการและความต้องการ”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9 — กรอกแบบฟอร์มอาการ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ขั้นตอนที่ 2 จากการจอง: กรอกอาการและข้อมูลเบื้องต้น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docs/screenshots/group-D/D04-symptoms-filled.png]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เลือกประเภท: ออนไลน์ หรือ ที่โรงพยาบาล - กรอกอาการหลักในช่องข้อความ - เลือกระดับความเร่งด่วน</a:t>
            </a:r>
          </a:p>
          <a:p>
            <a:pPr lvl="0" indent="0" marL="0">
              <a:buNone/>
            </a:pPr>
            <a:r>
              <a:rPr b="1"/>
              <a:t>ตัวอย่างการกรอก:</a:t>
            </a:r>
            <a:r>
              <a:rPr/>
              <a:t> - อาการ: “ปวดหัวมาก มีไข้สูง 2 วัน” - ประเภท: ออนไลน์ (Telehealth) - ความเร่งด่วน: ปกติ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“ในขั้นตอนกรอกอาการ ผู้ป่วยต้องเลือกประเภทการพบแพทย์ก่อนว่าต้องการพบแบบออนไลน์ผ่านวิดีโอคอล หรือต้องการมาพบที่โรงพยาบาล จากนั้นกรอกอาการหลักในช่องข้อความ อย่างชัดเจน เช่น ‘ปวดหัวมาก มีไข้สูง 2 วัน’ และเลือกระดับความเร่งด่วนที่เหมาะสม เมื่อกรอกครบแล้วคลิกถัดไป”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10 — เลือกแพทย์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ขั้นตอนที่ 3 จากการจอง: เลือกแพทย์ที่ต้องการ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docs/screenshots/group-D/D05-doctor-selection.png]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แสดงรายชื่อแพทย์ที่มีให้เลือก - แสดงความเชี่ยวชาญและเวลาว่าง - สามารถเลือก “ไม่ระบุแพทย์” ได้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“ขั้นตอนที่สาม ระบบจะแสดงรายชื่อแพทย์ที่สามารถรับนัดได้ แต่ละการ์ดแพทย์แสดงชื่อ ความเชี่ยวชาญ ค่าบริการ และช่วงเวลาที่ว่าง ผู้ป่วยสามารถเลือกแพทย์ที่ต้องการได้โดยตรง หรือหากไม่มีความต้องการเฉพาะเจาะจง สามารถเลือก ‘ไม่ระบุแพทย์’ เพื่อให้ผู้ดูแลระบบจัดสรรแพทย์ที่เหมาะสมให้แทน”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11 — ยืนยันการเลือกแพทย์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แพทย์ถูกเลือกแล้ว — พร้อมยืนยันนัดหมาย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docs/screenshots/group-D/D06-doctor-selected.png]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ชื่อแพทย์ที่เลือกแสดงอย่างชัดเจน - สรุปข้อมูลการนัดหมาย - ปุ่ม “ยืนยัน” พร้อมใช้งาน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“เมื่อเลือกแพทย์แล้ว ระบบจะแสดงชื่อแพทย์ที่เลือกพร้อมสรุปข้อมูลการนัดหมายทั้งหมด ผู้ป่วยสามารถตรวจสอบความถูกต้องก่อน แล้วกด ‘ยืนยัน’ เพื่อดำเนินการต่อ”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12 — ส่งคำขอนัดหมายสำเร็จ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นัดหมายสร้างสำเร็จแล้ว!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docs/screenshots/group-D/D07-submitted.png]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ข้อความยืนยันการส่งคำขอ - รหัสนัดหมาย (Appointment ID) - ขั้นตอนต่อไป: รอการยืนยันจากแพทย์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“เมื่อกด ‘ยืนยัน’ ระบบจะสร้างนัดหมายทันทีและแสดงข้อความยืนยัน พร้อมรหัสนัดหมายที่ไม่ซ้ำกัน ผู้ป่วยจะได้รับการแจ้งเตือนเมื่อแพทย์ยืนยันนัดหมาย หากผู้ป่วยเลือก ‘ไม่ระบุแพทย์’ นัดหมายจะถูกส่งไปยัง Appointment Pool และผู้ดูแลระบบจะจัดสรรแพทย์ให้”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13 — รายการนัดหมายอัปเดตแล้ว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รายการนัดหมายอัปเดตทันทีหลังการจอง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docs/screenshots/group-D/D08-appointments-after-book.png]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นัดหมายใหม่ปรากฏในรายการทันที - สถานะ: รอดำเนินการ (Pending) - ระบบ Real-time Sync ทำงานอัตโนมัติ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“หลังจากจองนัดหมายสำเร็จ ระบบจะอัปเดตรายการนัดหมายทันทีโดยไม่ต้องรีโหลดหน้า ผู้ป่วยจะเห็นนัดหมายใหม่ปรากฏขึ้นในรายการพร้อมสถานะ ‘รอดำเนินการ’ ซึ่งแสดงว่าคำขอถูกส่งไปยังระบบแล้ว และรอการดำเนินการจากฝ่ายแพทย์”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14 — เปลี่ยนมาที่พอร์ทัลแพทย์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พอร์ทัลแพทย์ (Doctor Portal) — ภาพรวม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docs/screenshots/group-A/A01-doctor-dashboard.png]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URL: http://localhost:3010 - เข้าสู่ระบบด้วยบัญชีแพทย์ - แดชบอร์ดแสดงสถิติผู้ป่วยและคิว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“ตอนนี้เรามาดูด้านของแพทย์บ้าง พอร์ทัลแพทย์เข้าถึงได้จาก URL ที่ต่างออกไป เมื่อแพทย์ล็อกอินด้วยบัญชีที่ผู้ดูแลระบบสร้างไว้ให้ จะเห็นแดชบอร์ดที่แสดงสถิติสำคัญ เช่น จำนวนผู้ป่วยในคิววันนี้ นัดหมายที่รอการยืนยัน และข้อมูลอื่นๆ ที่เกี่ยวข้องกับการทำงานของแพทย์”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15 — เมนูนำทางแพทย์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เมนูนำทางของ Doctor Portal — 8 รายการ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docs/screenshots/group-A/A03-doctor-sidebar.png]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1. Dashboard — สถิติและภาพรวม ★ 2. Patients — รายชื่อผู้ป่วย ★ 3. Health Meeting — จัดการนัดหมาย ★ 4. Appointment Pool — คิวรอจัดสรร ★ 5. Schedule — ตารางเวลา 6. Medical Content 7. Consultants 8. Settings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“เมนูนำทางของแพทย์มี 8 รายการ เมนูที่แพทย์จะใช้บ่อยที่สุดคือ Health Meeting สำหรับจัดการคิวนัดหมาย Patients สำหรับดูข้อมูลผู้ป่วย และ Schedule สำหรับบริหารตารางเวลา”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16 — แดชบอร์ด KPI 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แดชบอร์ดแพทย์ — ข้อมูล KPI สำคัญ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docs/screenshots/group-D/D21-kpi-cards.png]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คิวผู้ป่วยวันนี้: </a:t>
            </a:r>
            <a:r>
              <a:rPr b="1"/>
              <a:t>10 ราย</a:t>
            </a:r>
            <a:r>
              <a:rPr/>
              <a:t> - นัดหมายรอยืนยัน: </a:t>
            </a:r>
            <a:r>
              <a:rPr b="1"/>
              <a:t>10 รายการ</a:t>
            </a:r>
            <a:r>
              <a:rPr/>
              <a:t> - ข้อมูลอัปเดตแบบ Real-time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“การ์ด KPI บนแดชบอร์ดแพทย์แสดงข้อมูลสำคัญในแบบที่มองเห็นได้ง่าย ในการทดสอบนี้เราเห็นว่ามีคิวผู้ป่วย 10 ราย และนัดหมายรอยืนยัน 10 รายการ ตัวเลขเหล่านี้อัปเดตแบบเรียลไทม์ ทำให้แพทย์รู้สถานการณ์ล่าสุดได้ตลอดเวลา”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17 — แดชบอร์ดแพทย์ (ส่วนบน)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มุมมองแดชบอร์ดแพทย์ส่วนบน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docs/screenshots/group-D/D22-kpi-top.png]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“เมื่อเลื่อนดูแดชบอร์ดแพทย์ ส่วนบนแสดงการ์ดสถิติหลัก ได้แก่ จำนวนผู้ป่วยทั้งหมดในระบบ นัดหมายวันนี้ และคิวที่รอดำเนินการ”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18 — แดชบอร์ดแพทย์ (ส่วนกลาง)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มุมมองแดชบอร์ดแพทย์ส่วนกลาง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docs/screenshots/group-D/D22-kpi-middle.png]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“ส่วนกลางของแดชบอร์ดแสดงกราฟแนวโน้มนัดหมายและสถิติการรักษา ช่วยให้แพทย์วิเคราะห์ปริมาณงานในแต่ละช่วงเวลาได้”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19 — Health Meeting 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Health Meeting — ศูนย์กลางจัดการนัดหมาย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docs/screenshots/group-D/D09-health-meeting.png]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รายการนัดหมายในคิววันนี้ - สถานะแต่ละนัดที่ชัดเจน - ปุ่มดำเนินการสำหรับแต่ละนัด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“เมนู Health Meeting คือศูนย์กลางที่แพทย์ใช้ติดตามและจัดการนัดหมายทั้งหมด หน้านี้แสดงรายการนัดหมายในคิวพร้อมสถานะปัจจุบัน แพทย์สามารถยืนยันนัดหมาย เลื่อนนัด หรือเริ่มวิดีโอคอลได้จากหน้านี้โดยตรง”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20 — แท็บต่างๆ ใน Health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แท็บในหน้า Health Meeting — กรองนัดหมายตามสถานะ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docs/screenshots/group-D/D10-tab-0.png]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แท็บ Queue/คิว - แท็บ Scheduled/กำหนดแล้ว - แท็บ Pending/รอดำเนินการ - แท็บ All/ทั้งหมด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“หน้า Health Meeting แบ่งออกเป็นหลายแท็บตามสถานะนัดหมาย แท็บ Queue แสดงนัดหมายที่รอให้แพทย์เรียกผู้ป่วยในวันนี้ แท็บ Scheduled แสดงนัดที่ยืนยันและกำหนดเวลาไว้แล้ว แพทย์ใช้แท็บเหล่านี้เพื่อติดตามงานที่ต้องทำในแต่ละวัน”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21 — Appointment 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Appointment Pool — คิวนัดหมายรอจัดสรรแพทย์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docs/screenshots/group-D/D11-appointment-pool.png]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นัดหมายที่ผู้ป่วยไม่ได้เลือกแพทย์ - แสดงอาการและระดับความเร่งด่วน - แพทย์สามารถ “รับผู้ป่วย” ได้โดยตรง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“Appointment Pool คือรายการนัดหมายที่ผู้ป่วยไม่ได้ระบุแพทย์ไว้ รอให้ผู้ดูแลระบบหรือแพทย์รับดูแล ในหน้านี้แสดงข้อมูลอาการและระดับความเร่งด่วนของผู้ป่วยแต่ละราย แพทย์ที่ต้องการรับผู้ป่วยเพิ่มสามารถคลิก ‘รับผู้ป่วย’ เพื่อดึงนัดหมายนั้นมาดูแลได้ทันที”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22 — ตารางเวลาแพทย์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Schedule — ตารางเวลาและการจัดการช่วงว่าง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docs/screenshots/group-D/D12-schedule.png]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ปฏิทินรายสัปดาห์หรือรายเดือน - ช่องว่าง (Available slots) ที่เปิดรับ - ช่วงเวลาที่จองแล้ว (Booked)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“เมนู Schedule แสดงตารางเวลาของแพทย์ในรูปแบบปฏิทิน แพทย์สามารถกำหนดช่วงเวลาที่เปิดรับผู้ป่วย บล็อกเวลาที่ติดประชุมหรือพักร้อน และดูภาพรวมการนัดหมายในแต่ละวัน”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23 — รายชื่อผู้ป่วยและการค้นหา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Patients — รายชื่อและการค้นหาผู้ป่วย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docs/screenshots/group-E/E04-patients-list.png]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รายชื่อผู้ป่วยทั้งหมดในความดูแล - ช่องค้นหาที่ตอบสนองทันที - จำนวนผู้ป่วยในระบบ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“เมนู Patients แสดงรายชื่อผู้ป่วยทั้งหมดที่อยู่ในความดูแลของแพทย์ ในการทดสอบพบว่ามีผู้ป่วย 3 ราย และนัดหมายรวม 13 รายการ แพทย์สามารถค้นหาผู้ป่วยรายเฉพาะได้จากช่องค้นหาที่ตอบสนองทันทีขณะพิมพ์”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24 — ค้นหาผู้ป่วย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การค้นหาผู้ป่วยแบบ Real-time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docs/screenshots/group-E/E05-search-demo.png]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พิมพ์ชื่อหรือ ID เพื่อค้นหา - ผลลัพธ์ปรากฏทันทีขณะพิมพ์ - รองรับการค้นหาภาษาไทยและอังกฤษ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“เมื่อพิมพ์ชื่อผู้ป่วยในช่องค้นหา รายการจะกรองตัวเองทันทีโดยไม่ต้องกด Enter ระบบรองรับการค้นหาด้วยชื่อ นามสกุล หรือรหัสผู้ป่วย ช่วยให้แพทย์ค้นหาผู้ป่วยได้อย่างรวดเร็วแม้มีรายชื่อจำนวนมาก”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25 — รายละเอียดผู้ป่วย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หน้าข้อมูลผู้ป่วยเชิงลึก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docs/screenshots/group-E/E06-patient-detail.png]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ข้อมูลส่วนตัวครบถ้วน - ประวัติการรักษาและยา - สัญญาณชีพและผลแล็บ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“เมื่อคลิกที่รายชื่อผู้ป่วย จะเห็นหน้าข้อมูลรายละเอียดที่รวบรวมข้อมูลสุขภาพทั้งหมดของผู้ป่วยรายนั้น ทั้งประวัติส่วนตัว ประวัติการรักษา ยาที่ได้รับ สัญญาณชีพ และผลการตรวจทางห้องปฏิบัติการ ข้อมูลเหล่านี้ช่วยให้แพทย์ตัดสินใจในการรักษาได้อย่างแม่นยำ”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26 — ปุ่มดำเนินการทางคลินิก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Clinical Actions — ดำเนินการทางการแพทย์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docs/screenshots/group-E/E07-clinical-actions.png]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บันทึก EMR (Electronic Medical Record) - สั่งจ่ายยา - สั่งตรวจแล็บ / ถ่ายภาพ - ดาวน์โหลด PHR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“ในหน้าข้อมูลผู้ป่วย มีปุ่มดำเนินการทางคลินิกที่สำคัญ แพทย์สามารถบันทึกผลการตรวจและการวินิจฉัยลงใน EMR สั่งจ่ายยาดิจิทัล ส่งตรวจทางห้องปฏิบัติการ หรือดาวน์โหลดประวัติสุขภาพทั้งหมดของผู้ป่วยได้จากหน้านี้”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27 — Health Meeting ก่อนเริ่มประชุม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Health Meeting — เตรียมเริ่มวิดีโอคอล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docs/screenshots/group-E/E08-health-meeting.png]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นัดหมายที่พร้อมเริ่มการประชุม - ปุ่ม “เริ่มประชุม” (Start Meeting) - สถานะ: Confirmed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“เมื่อถึงเวลานัดหมาย แพทย์จะเห็นปุ่ม ‘เริ่มประชุม’ ปรากฏสำหรับนัดหมายที่ยืนยันแล้ว การคลิกปุ่มนี้จะสร้างห้องประชุม Jitsi Meet โดยอัตโนมัติ และส่งลิงก์เชิญให้ผู้ป่วยผ่านการแจ้งเตือน”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28 — ห้องประชุมออนไลน์ถูกสร้างแล้ว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ห้องประชุม Jitsi Meet — สร้างสำเร็จ!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docs/screenshots/group-E/E10-meeting-created.png]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Meeting Room ID ที่ไม่ซ้ำกัน - ลิงก์เชิญผู้ป่วย - ระบบวิดีโอ Jitsi Meet (ฟรี)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“ระบบสร้างห้องประชุมออนไลน์ด้วย Jitsi Meet โดยอัตโนมัติ แสดง Meeting Room ID ที่ไม่ซ้ำกันและลิงก์สำหรับเชิญผู้ป่วยเข้าร่วม เทคโนโลยี Jitsi Meet เป็นโอเพนซอร์สและไม่มีค่าใช้จ่าย รองรับวิดีโอคอลคุณภาพสูงได้โดยตรงจากเบราว์เซอร์”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29 — พอร์ทัลผู้ดูแลระบบ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Admin Portal — บริหารจัดการระบบโดยรวม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docs/screenshots/group-A/A01-admin-dashboard.png]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URL เดียวกับพอร์ทัลแพทย์ - บัญชีผู้ดูแลระบบมีสิทธิ์พิเศษ - แดชบอร์ดแสดงสถิติระดับองค์กร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“พอร์ทัลผู้ดูแลระบบใช้ URL เดียวกับแพทย์ แต่บัญชีผู้ดูแลจะเห็นเมนูและตัวเลือกเพิ่มเติม แดชบอร์ดของผู้ดูแลแสดงสถิติระดับองค์กร เช่น จำนวนแพทย์ที่ลงทะเบียน จำนวนผู้ป่วยทั้งหมด และภาพรวมนัดหมายในระบบ”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30 — เมนูพิเศษผู้ดูแลระบบ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Admin Sidebar — เมนูพิเศษสำหรับผู้ดูแลระบบ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docs/screenshots/group-A/A04-admin-sidebar.png]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เมนูทั้งหมดของแพทย์ + เมนูพิเศษ - Doctor Management — จัดการแพทย์ - User Management — จัดการผู้ใช้ - สิทธิ์เข้าถึงสูงกว่าแพทย์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“ผู้ดูแลระบบมีสิทธิ์เข้าถึงเมนูเพิ่มเติมที่แพทย์ไม่สามารถเข้าถึงได้ เช่น การจัดการบัญชีแพทย์ การดูรายงานระบบ และการตั้งค่าการทำงานขององค์กร”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31 — ผู้ดูแลดู Health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Admin: ดูภาพรวม Health Meeting ทั้งองค์กร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docs/screenshots/group-D/D14-admin-meeting.png]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เห็นนัดหมายทุกแพทย์ - ภาพรวมระดับองค์กร - สามารถกรองตามแพทย์แต่ละคน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“ผู้ดูแลระบบเห็นนัดหมายของทุกแพทย์ในองค์กร ต่างจากแพทย์ที่เห็นเฉพาะนัดหมายของตนเอง ช่วยให้ผู้ดูแลสามารถบริหารทรัพยากรบุคลากรได้อย่างมีประสิทธิภาพ”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32 — Appointment Pool (ผู้ดูแล)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Admin: Appointment Pool — จัดการนัดรอจัดสรร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docs/screenshots/group-D/D15-admin-pool.png]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รายการนัดหมายที่ยังไม่มีแพทย์ (in_pool) - ข้อมูลอาการและระดับความเร่งด่วน - ปุ่ม “จัดสรรแพทย์” สำหรับผู้ดูแล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“หน้า Appointment Pool ในมุมมองของผู้ดูแลระบบแสดงนัดหมายทั้งหมดที่ยังไม่มีแพทย์รับผิดชอบ ผู้ดูแลจะต้องพิจารณาจัดสรรแพทย์ที่เหมาะสมตามความเชี่ยวชาญและความพร้อมของแต่ละคน”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33 — การจัดสรรแพทย์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การจัดสรรแพทย์ให้นัดหมาย — ขั้นตอนสำคัญ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docs/screenshots/group-D/D15b-admin-assigned-doctor.png]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เลือกนัดหมายที่ต้องการจัดสรร - เลือกแพทย์จาก Dropdown - คลิก “จัดสรรแพทย์” - ระบบแจ้งเตือนทั้งแพทย์และผู้ป่วยอัตโนมัติ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“นี่คือหัวใจสำคัญของการทำงานของผู้ดูแลระบบ เมื่อมีนัดหมายใน Pool ผู้ดูแลจะเลือกนัดหมายนั้นแล้วเลือกแพทย์ที่ต้องการจาก Dropdown เมนู จากนั้นคลิก ‘จัดสรรแพทย์’ ระบบจะอัปเดตสถานะทันทีและส่งการแจ้งเตือนให้ทั้งแพทย์และผู้ป่วยโดยอัตโนมัติ”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34 — Pool หลังการจัดสรร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Pool หลังจัดสรร — ผลลัพธ์ที่เห็นได้ชัด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docs/screenshots/group-D/D16-pool-after-assignment.png]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นัดหมายแสดงชื่อแพทย์ที่ได้รับมอบหมาย - สถานะเปลี่ยนจาก </a:t>
            </a:r>
            <a:r>
              <a:rPr>
                <a:latin typeface="Courier"/>
              </a:rPr>
              <a:t>in_pool</a:t>
            </a:r>
            <a:r>
              <a:rPr/>
              <a:t> เป็น </a:t>
            </a:r>
            <a:r>
              <a:rPr>
                <a:latin typeface="Courier"/>
              </a:rPr>
              <a:t>awaiting_doctor_response</a:t>
            </a:r>
            <a:r>
              <a:rPr/>
              <a:t> - การแจ้งเตือนถูกส่งอัตโนมัติ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“หลังจากจัดสรรแล้ว หน้า Pool จะแสดงชื่อแพทย์ที่ได้รับมอบหมายในแต่ละนัดหมาย สถานะจะเปลี่ยนจาก ‘รอจัดสรร’ เป็น ‘รอการยืนยันจากแพทย์’ ระบบส่งการแจ้งเตือนอัตโนมัติทั้งทาง Email และ In-app notification”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35 — คิวแพทย์หลังการจัดสรร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Doctor Portal: แพทย์เห็นนัดหมายใหม่ทันที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docs/screenshots/group-D/D16b-doctor-queue-assigned.png]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นัดหมายใหม่ปรากฏในคิวแพทย์ - Real-time Cross-Portal Sync - แพทย์สามารถยืนยันหรือปฏิเสธได้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“นี่คือจุดที่น่าประทับใจ ทันทีที่ผู้ดูแลระบบจัดสรรแพทย์ นัดหมายนั้นจะปรากฏในคิวของแพทย์โดยอัตโนมัติ ระบบ Real-time Cross-Portal Sync ทำให้ข้อมูลซิงโครไนซ์ระหว่างพอร์ทัลทั้งสองได้ภายใน 6 วินาที โดยไม่ต้องรีโหลดหน้า”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36 — การตรวจสอบข้ามพอร์ทัล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Cross-Portal Sync — ข้อมูลซิงค์ระหว่างทุกพอร์ทัล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docs/screenshots/group-D/D19-doctor-appointments.png]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ผู้ป่วยจอง → แพทย์เห็นทันที - แพทย์ยืนยัน → ผู้ป่วยเห็นทันที - Admin จัดสรร → แพทย์ + ผู้ป่วยรับทราบพร้อมกัน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“ระบบ Isara Anywhere ออกแบบให้ข้อมูลซิงโครไนซ์กันระหว่างทุกพอร์ทัลแบบเรียลไทม์ ไม่ว่าจะเป็นการจองนัดจากผู้ป่วย การยืนยันจากแพทย์ หรือการจัดสรรจากผู้ดูแล ทุกฝ่ายจะได้รับข้อมูลล่าสุดพร้อมกันทันที นี่คือหนึ่งในฟีเจอร์ที่ทำให้ระบบนี้แตกต่างจากระบบทั่วไป”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37 — คิวรวมหลังการจัดสรร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Admin: รายงานคิวรวมหลังดำเนินการ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docs/screenshots/group-D/D17-admin-queue-post-assign.png]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“ผู้ดูแลระบบสามารถดูรายงานคิวรวมเพื่อตรวจสอบสถานะการจัดสรรทั้งหมด ช่วยในการติดตามและบริหารงานได้อย่างมีประสิทธิภาพ”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38 — ผู้ป่วยรอใน Lobby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Patient Portal: รอแพทย์ยอมรับในห้อง Lobby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docs/screenshots/group-E/E10c0-patient-waiting-before-host.png]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ผู้ป่วยคลิกเข้าร่วมการประชุมจากนัดที่ยืนยันแล้ว - หน้าจอเต็มจอ ไม่มีแถบเมนูด้านข้าง - แสดงสถานะรอ HOST (แพทย์) ยอมรับ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“เมื่อถึงเวลานัด ผู้ป่วยคลิกเข้าร่วมการประชุมจาก Patient Portal ระบบจะเปิดหน้าห้องประชุมแบบเต็มหน้าจอ หากแพทย์ยังไม่เข้าห้อง ผู้ป่วยจะเห็นหน้าจอรอในห้อง Lobby แบบเดียวกับ Microsoft Teams ตามภาพนี้ จนกว่าแพทย์จะยอมรับให้เข้าร่วม”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39 — ห้องประชุมผู้ป่วยหลัง Admit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Patient Portal: พร้อมเข้าวิดีโอหลังแพทย์ยอมรับ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docs/screenshots/group-E/E10d-patient-meeting-lobby.png]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“หลังจากแพทย์ยอมรับผู้ป่วยจาก Lobby แล้ว หน้าจอผู้ป่วยจะเปลี่ยนเป็นสถานะพร้อมเข้าห้องวิดีโอ ระบบเชื่อมต่อไปยัง Jitsi Meet โดยอัตโนมัติ ผู้ป่วยไม่ต้องคัดลอกลิงก์หรือกรอกรหัสห้องเอง”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40 — ผู้ป่วยใน Jitsi Meet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Patient Portal: วิดีโอคอล Jitsi Meet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docs/screenshots/group-J-meeting-jitsi/E10d-patient-jitsi-meet.png]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ห้องวิดีโอ Jitsi Meet บน meet.jit.si - กล้องและไมโครโฟนตามสิทธิ์เบราว์เซอร์ - แพทย์และผู้ป่วยอยู่ในห้องเดียวกัน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“นี่คือหน้าจอวิดีโอคอลจริงของผู้ป่วย ระบบใช้ Jitsi Meet ซึ่งไม่มีค่าใช้จ่ายเพิ่มเติม ผู้ป่วยสามารถปรึกษาแพทย์ได้ทันทีหลังถูก Admit โดยภาพและเสียงทำงานผ่านเบราว์เซอร์มาตรฐาน Chrome หรือ Edge”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41 — ห้องประชุมแพทย์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Doctor Portal: เข้าห้องประชุมในฐานะ HOST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docs/screenshots/group-E/E10b-doctor-meeting-room.png]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“ฝั่งแพทย์ เริ่มจาก Health Meeting แล้วคลิกเริ่มประชุม ระบบกำหนดให้แพทย์เป็นผู้ดำเนินการห้อง HOST โดยอัตโนมัติ หน้าจอนี้คือห้องประชุมก่อนเปิดแผง Lobby เพื่อดูผู้ป่วยที่รออยู่”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42 — แผง Lobby และ Admit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Doctor Portal: Lobby — ยอมรับผู้ป่วย (Admit)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docs/screenshots/group-E/E10c3-doctor-lobby-admit.png]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รายชื่อผู้รอใน Lobby - ปุ่ม Admit รายบุคคล / Admit All - ควบคุมความปลอดภัย — ไม่ให้เข้าวิดีโอโดยไม่ได้รับอนุญาต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“แพทย์เปิดแผง Lobby จะเห็นรายชื่อผู้ป่วยที่รออยู่ สามารถกด Admit ทีละคน หรือ Admit All เมื่อมีหลายคน ฟีเจอร์นี้ช่วยให้การปรึกษาออนไลน์มีความปลอดภัย เพราะผู้ป่วยจะเข้าวิดีโอได้ก็ต่อเมื่อแพทย์ยอมรับแล้วเท่านั้น”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43 — แพทย์ใน Jitsi Meet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Doctor Portal: วิดีโอคอลกับผู้ป่วย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docs/screenshots/group-J-meeting-jitsi/E10c-jitsi-doctor-meet.png]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“หลัง Admit สำเร็จ แพทย์และผู้ป่วยจะอยู่ในห้อง Jitsi Meet เดียวกัน แพทย์สามารถปรึกษา สั่งการรักษา และบันทึก EMR หลังจบการประชุมได้จาก Doctor Portal ตามขั้นตอนที่ทดสอบแล้วในกลุ่ม E”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44 — สร้างห้องประชุม (อ้างอิง)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Doctor Portal: สร้างห้องประชุมจาก Health Meeting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docs/screenshots/group-E/E10-meeting-created.png]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“ก่อนเข้า Lobby แพทย์สร้างหรือเปิดห้องประชุมจาก Health Meeting ระบบสร้างรหัสห้องและลิงก์เชิญโดยอัตโนมัติ ภาพนี้แสดงจุดที่ห้องถูกสร้างสำเร็จ พร้อมสำหรับเริ่ม Admit ผู้ป่วย”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45 — Health Meeting ก่อนเริ่มประชุม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Doctor Portal: Health Meeting — เลือกนัดเพื่อเริ่มประชุม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docs/screenshots/group-E/E08-health-meeting.png]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“ทุกกระบวนการวิดีโอคอลเริ่มจากหน้า Health Meeting แพทย์เลือกนัดที่สถานะยืนยันแล้ว แล้วกดเริ่มประชุม จากนั้นจึงเข้าสู่ Lobby และ Jitsi ตามลำดับสไลด์ก่อนหน้า”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46 — สรุปสาระสำคัญ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สรุป: กระบวนการทำงานหลักของระบบ Isara Anywhere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แผนภาพกระบวนการ — ใช้ข้อความแทน]</a:t>
            </a:r>
          </a:p>
          <a:p>
            <a:pPr lvl="0" indent="0" marL="0">
              <a:buNone/>
            </a:pPr>
            <a:r>
              <a:rPr b="1"/>
              <a:t>แผนภาพกระบวนการ:</a:t>
            </a:r>
          </a:p>
          <a:p>
            <a:pPr lvl="0" indent="0">
              <a:buNone/>
            </a:pPr>
            <a:r>
              <a:rPr>
                <a:latin typeface="Courier"/>
              </a:rPr>
              <a:t>ผู้ป่วย                    ระบบ                    แพทย์/ผู้ดูแล
   │                         │                          │
   ├── จองนัดหมาย ──────────►│                          │
   │                         │──── แจ้งเตือน ──────────►│
   │                         │                          │
   │                    [Pool หรือ Direct]               │
   │                         │                          │
   │                         │◄──── จัดสรร/ยืนยัน ──────┤
   │◄── แจ้งเตือน ───────────│                          │
   │                         │                          │
   ├── เข้าร่วมวิดีโอ ───────►│◄───── เริ่มประชุม ───────┤
   │                         │                          │
   └── รับใบสั่งยา/ผล ◄──────│◄───── บันทึก EMR ─────────┤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“สรุปกระบวนการทำงานหลักของระบบ: ผู้ป่วยจองนัดหมายผ่าน Patient Portal ระบบส่งการแจ้งเตือนไปยังแพทย์หรือส่งไปใน Pool ผู้ดูแลระบบจัดสรรแพทย์หากจำเป็น เมื่อถึงเวลานัด ทั้งผู้ป่วยและแพทย์เข้าร่วมวิดีโอคอลผ่านระบบ Jitsi Meet แพทย์บันทึกผลการรักษาใน EMR และผู้ป่วยรับผลผ่านพอร์ทัลของตน ทุกขั้นตอนมีการแจ้งเตือนอัตโนมัติ”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47 — ความปลอดภัยของระบบ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ความปลอดภัย — มาตรฐาน OWASP &amp; PDPA</a:t>
            </a:r>
          </a:p>
          <a:p>
            <a:pPr lvl="0" indent="0">
              <a:buNone/>
            </a:pPr>
            <a:r>
              <a:rPr>
                <a:latin typeface="Courier"/>
              </a:rPr>
              <a:t>[ภาพ: docs/screenshots/group-A/A07-role-isolation.png]</a:t>
            </a:r>
          </a:p>
          <a:p>
            <a:pPr lvl="0" indent="0" marL="0">
              <a:buNone/>
            </a:pPr>
            <a:r>
              <a:rPr b="1"/>
              <a:t>จุดสำคัญบนสไลด์:</a:t>
            </a:r>
            <a:r>
              <a:rPr/>
              <a:t> - Role-Based Access Control (RBAC) - ผู้ป่วยเข้าถึงข้อมูลแพทย์ไม่ได้ - ผ่านมาตรฐาน OWASP Top 10:2025 - ปฏิบัติตาม พ.ร.บ. คุ้มครองข้อมูลส่วนบุคคล (PDPA)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“ระบบ Isara Anywhere ออกแบบโดยคำนึงถึงความปลอดภัยของข้อมูลเป็นอันดับแรก ระบบใช้การควบคุมสิทธิ์แบบ Role-Based ซึ่งหมายความว่าผู้ป่วยไม่สามารถเข้าถึงข้อมูลหรือระบบของแพทย์ได้ และแพทย์ไม่สามารถเห็นข้อมูลผู้ป่วยที่ไม่ได้อยู่ในความดูแลได้ ระบบผ่านมาตรฐานความปลอดภัย OWASP Top 10 และปฏิบัติตาม พ.ร.บ. คุ้มครองข้อมูลส่วนบุคคล (PDPA)”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สไลด์ที่ 48 — สไลด์ปิด (Closing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ชื่อสไลด์:</a:t>
            </a:r>
            <a:r>
              <a:rPr/>
              <a:t> Isara Anywhere — เชื่อมต่อผู้ป่วยกับแพทย์ ไม่มีขีดจำกัด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┌─────────────────────────────────────────────┐
│                                             │
│         [โลโก้ Isara Anywhere]              │
│                                             │
│   "สุขภาพของคุณ คือพันธกิจของเรา"          │
│                                             │
│   Patient Portal  │  Doctor Portal          │
│   :3005           │  :3010                  │
│                                             │
│   ขอบคุณสำหรับความสนใจ                      │
│   คำถามเพิ่มเติม: support@izara.com         │
│                                             │
└─────────────────────────────────────────────┘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สคริปต์บรรยาย:</a:t>
            </a:r>
            <a:r>
              <a:rPr/>
              <a:t> &gt; “ขอบคุณทุกท่านที่รับฟัง ระบบ Isara Anywhere ถูกออกแบบมาเพื่อลดอุปสรรคในการเข้าถึงบริการทางการแพทย์ ไม่ว่าจะอยู่ที่ไหน ก็สามารถพบแพทย์ได้ หากมีคำถามเพิ่มเติมหรือต้องการสาธิตการใช้งาน กรุณาติดต่อทีมงานของเราได้เลย”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ตารางสรุปสไลด์ทั้งหมด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สไลด์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หัวข้อ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ภาพหน้าจอที่ใช้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ส่วนของระบบ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หน้าปก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ทั่วไป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ภาพรวมระบบ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 (ตาราง)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ทั่วไป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ผู้ป่วยเข้าสู่ระบบ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A01-patient-dashboard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เมนูนำทางผู้ป่วย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A02-patient-sidebar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แดชบอร์ดสถิติ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A09-patient-stats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รายการนัดหมาย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D01-appointments-list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แท็บ 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D02-all-appointments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เริ่มจองนัด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D03-booking-wizard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กรอกอาการ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D04-symptoms-filled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เลือกแพทย์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D05-doctor-selection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ยืนยันแพทย์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D06-doctor-selected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ส่งคำขอสำเร็จ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D07-submitted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รายการอัปเดต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D08-appointments-after-book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 Portal ภาพรวม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A01-doctor-dashboard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เมนูนำทางแพทย์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A03-doctor-sidebar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KPI Cards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D21-kpi-cards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แดชบอร์ดส่วนบน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D22-kpi-top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แดชบอร์ดส่วนกลาง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D22-kpi-middle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D09-health-meeting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แท็บในหน้า 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D10-tab-0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Appointment Pool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D11-appointment-pool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ตารางเวลา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D12-schedule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รายชื่อผู้ป่วย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E04-patients-list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ค้นหาผู้ป่วย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E05-search-demo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รายละเอียดผู้ป่วย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E06-patient-detail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Clinical 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E07-clinical-actions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Meeting ก่อนประชุม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E08-health-meeting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ห้องประชุมสร้างแล้ว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E10-meeting-created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 Portal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A01-admin-dashboard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 Sidebar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A04-admin-sidebar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 Health 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D14-admin-meeting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 Pool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D15-admin-pool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การจัดสรรแพทย์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D15b-admin-assigned-doctor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Pool หลังจัดสรร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D16-pool-after-assignment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คิวแพทย์หลังจัดสรร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D16b-doctor-queue-assigned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Cross-Portal 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D19-doctor-appointments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ทั่วไป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รายงานคิวรวม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D17-admin-queue-post-assign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ผู้ป่วยรอ Lobby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E10c0-patient-waiting-before-host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ห้องประชุมผู้ป่วย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E10d-patient-meeting-lobby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ผู้ป่วย Jitsi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E10d-patient-jitsi-meet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ห้องประชุมแพทย์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E10b-doctor-meeting-room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Lobby Admit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E10c3-doctor-lobby-admit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แพทย์ Jitsi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E10c-jitsi-doctor-meet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สร้างห้องประชุม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E10-meeting-created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E08-health-meeting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สรุปกระบวนการ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 (แผนภาพ)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ทั่วไป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ความปลอดภัย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A07-role-isolation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ทั่วไป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สไลด์ปิด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ทั่วไป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สคริปต์นี้จัดทำตามผลการทดสอบ UI ที่ผ่านสำเร็จ 100% (Groups A, D, E, F และ dual-portal meeting)</a:t>
            </a:r>
            <a:r>
              <a:rPr/>
              <a:t> </a:t>
            </a:r>
            <a:r>
              <a:rPr i="1"/>
              <a:t>Isara Anywhere v1.7.3 — Playwright Automated UI Tests — พฤษภาคม 2569</a:t>
            </a:r>
          </a:p>
          <a:p>
            <a:pPr lvl="0" indent="0" marL="0">
              <a:buNone/>
            </a:pPr>
            <a:r>
              <a:rPr b="1"/>
              <a:t>ไฟล์นำเสนอที่สร้างจากสคริปต์นี้:</a:t>
            </a:r>
            <a:r>
              <a:rPr/>
              <a:t> </a:t>
            </a:r>
            <a:r>
              <a:rPr>
                <a:latin typeface="Courier"/>
              </a:rPr>
              <a:t>docs/USER_GUIDE_PPT_SCRIPT_TH.pptx</a:t>
            </a:r>
            <a:r>
              <a:rPr/>
              <a:t> (48 สไลด์, หนึ่งภาพต่อสไลด์) — รัน </a:t>
            </a:r>
            <a:r>
              <a:rPr>
                <a:latin typeface="Courier"/>
              </a:rPr>
              <a:t>python scripts/generate-user-guide-th.py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2026-05-22T09:06:12Z</dcterms:created>
  <dcterms:modified xsi:type="dcterms:W3CDTF">2026-05-22T09:06:12Z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