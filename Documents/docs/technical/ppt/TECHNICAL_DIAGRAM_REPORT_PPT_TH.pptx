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04" d="100"/>
          <a:sy n="104" d="100"/>
        </p:scale>
        <p:origin x="284" y="80"/>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4233344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defRPr sz="1600" b="0">
                <a:latin typeface="FC Iconic"/>
              </a:defRPr>
            </a:pPr>
            <a:r>
              <a:t>รายงานทางเทคนิคฉบับนี้จัดทำขึ้นเพื่ออธิบายสถาปัตยกรรม กระบวนการทำงาน และการเชื่อมโยงของระบบ Izara Anywhere (อิสระ เทเลเมดิซิน)</a:t>
            </a:r>
          </a:p>
          <a:p>
            <a:pPr>
              <a:defRPr sz="1600" b="0">
                <a:latin typeface="FC Iconic"/>
              </a:defRPr>
            </a:pPr>
            <a:r>
              <a:t>ให้ผู้อ่านที่ไม่จำเป็นต้องเป็นนักพัฒนาสามารถติดตามได้เป็นฉบับเดียว โดยใช้ภาษาไทยเป็นหลัก และอ้างอิงแผนภาพ</a:t>
            </a:r>
          </a:p>
          <a:p>
            <a:pPr>
              <a:defRPr sz="1600" b="0">
                <a:latin typeface="FC Iconic"/>
              </a:defRPr>
            </a:pPr>
            <a:r>
              <a:t>12 แท็บแรกจากไฟล์ docs/diagrams/diagrams.drawio เท่านั้น</a:t>
            </a:r>
          </a:p>
          <a:p>
            <a:pPr>
              <a:defRPr sz="1600" b="0">
                <a:latin typeface="FC Iconic"/>
              </a:defRPr>
            </a:pPr>
            <a:endParaRPr/>
          </a:p>
          <a:p>
            <a:pPr>
              <a:defRPr sz="1600" b="0">
                <a:latin typeface="FC Iconic"/>
              </a:defRPr>
            </a:pPr>
            <a:r>
              <a:t>หมายเหตุสำคัญ: ไฟล์ diagrams.drawio อาจมีมากกว่า 12 แท็บ (เช่น แท็บที่ 13 เกี่ยวกับการทดสอบ)</a:t>
            </a:r>
          </a:p>
          <a:p>
            <a:pPr>
              <a:defRPr sz="1600" b="0">
                <a:latin typeface="FC Iconic"/>
              </a:defRPr>
            </a:pPr>
            <a:r>
              <a:t>แต่รายงาน Word และ PowerPoint ฉบับนี้ตั้งใจไม่แก้ไขไฟล์แผนภาพ และไม่นำแท็บหลังจากลำดับที่ 12 มาประกอบ</a:t>
            </a:r>
          </a:p>
          <a:p>
            <a:pPr>
              <a:defRPr sz="1600" b="0">
                <a:latin typeface="FC Iconic"/>
              </a:defRPr>
            </a:pPr>
            <a:r>
              <a:t>เพื่อให้เอกสาร</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defRPr sz="1600" b="0">
                <a:latin typeface="FC Iconic"/>
              </a:defRPr>
            </a:pPr>
            <a:r>
              <a:t>อธิบายการจัดวางสามพอร์ทัลบนคลาวด์ ความสัมพันธ์ระหว่างผู้ป่วย แพทย์ ผู้ดูแลระบบ และฐานข้อมูลกลาง เพื่อให้ทุกฝ่ายเห็นภาพเดียวกันก่อนอ่าน workflow ลึก เหมาะสำหรับการอบรมผู้ใช้ใหม่และการนำเสนอต่อผู้บริหาร</a:t>
            </a:r>
          </a:p>
          <a:p>
            <a:pPr>
              <a:defRPr sz="1600" b="0">
                <a:latin typeface="FC Iconic"/>
              </a:defRPr>
            </a:pPr>
            <a:endParaRPr/>
          </a:p>
          <a:p>
            <a:pPr>
              <a:defRPr sz="1600" b="0">
                <a:latin typeface="FC Iconic"/>
              </a:defRPr>
            </a:pPr>
            <a:r>
              <a:t>Patient Portal (พอร์ทัลผู้ป่วย) เป็นจุดเข้าใช้งานหลักของผู้ป่วยและผู้ดูแล ให้บริการจองนัดหมาย ดูประวัติสุขภาพส่วนบุคคล (PHR) ไทม์ไลน์เหตุการณ์สุขภาพ ปรึกษา AI สุขภาพเบื้องต้น ค้นหาแพทย์บนแผนที่ อ่านคลังเนื้อหาทางการแพทย์ จัดการเอกสาร PDPA และพินัยกรรมชีวิต (Living Will) รวมถึงดูการแจ้งเตือนเมื่อมีการมอบหมายนัดหรือผลการรักษา</a:t>
            </a:r>
          </a:p>
          <a:p>
            <a:pPr>
              <a:defRPr sz="1600" b="0">
                <a:latin typeface="FC Iconic"/>
              </a:defRPr>
            </a:pPr>
            <a:r>
              <a:t>Doctor Portal (พอร์ทัลแพทย์) ใช้โดยแพทย์และผู้ดูแลระบบ (Admin) แพทย์ใช้ดูคิวนัด บันทึก EMR/SOAP ออกใบสั่งยา สั่ง lab เข้าร่วมประชุมทางไกล ดูประวัติผู้ป่วยเมื่อมีสิทธิ์ และใช้ Gemini AI Studio สำหรับงานคลินิก ผู้ดูแลระบบใช้พอร์ทัลเดียวกันในบทบาท admin เพื่ออนุมัติบัญชีแพทย์ใหม่ จัดสรรนัดจาก Pool และดูภาพรวมระบบ</a:t>
            </a:r>
          </a:p>
          <a:p>
            <a:pPr>
              <a:defRPr sz="1600" b="0">
                <a:latin typeface="FC Iconic"/>
              </a:defRPr>
            </a:pPr>
            <a:r>
              <a:t>Meeting Server (เซิร์ฟเวอร์ประชุม) เป็นบริการกลางที่เชื่อม Jitsi จัดการ lobby (ห้องรอ) การ admit ผู้เข้าร่วม การบันทึกและถอดความ และ pipeline หลังจบประชุมเพื่อสรุป SOAP ร่างให้แพทย์ตรวจสอบ ผู้ป่วยและแพทย์ไม่ได้ «อยู่ใน» meeting server โดยตรง แต่เรียก API ของบริการนี้จากพอร์ทัลของตน</a:t>
            </a:r>
          </a:p>
          <a:p>
            <a:pPr>
              <a:defRPr sz="1600" b="0">
                <a:latin typeface="FC Iconic"/>
              </a:defRPr>
            </a:pPr>
            <a:endParaRPr/>
          </a:p>
          <a:p>
            <a:pPr>
              <a:defRPr sz="1600" b="0">
                <a:latin typeface="FC Iconic"/>
              </a:defRPr>
            </a:pPr>
            <a:r>
              <a:t>ในแผนภาพ ให้สังเกตลูกศรจากผู้ใช้ (Patient / Doctor / Admin) เข้าสู่แต่ละพอร์ทัล และเส้นที่รวมลงกล่อง PostgreSQL ตรงกลาง — นี่คือหัวใจของสถาปัตยกรรม three-portal single database เส้นไป Jitsi มักแยกจากเส้น REST ไปพอร์ทัล แสดงว่าวิดีโอและข้อมูลธุรกิจเดินคนละทาง</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defRPr sz="1600" b="0">
                <a:latin typeface="FC Iconic"/>
              </a:defRPr>
            </a:pPr>
            <a:r>
              <a:t>เป็นทะเบียนโมดูลสำหรับทีมพัฒนา ผู้ตรวจสอบ และทีม UAT เมื่อต้องทดสอบหรือแก้ defect จะรู้ได้ทันทีว่าหน้าจอใดอยู่พอร์ทัลไหน และต้องตั้งค่า environment ใดให้ตรงกัน</a:t>
            </a:r>
          </a:p>
          <a:p>
            <a:pPr>
              <a:defRPr sz="1600" b="0">
                <a:latin typeface="FC Iconic"/>
              </a:defRPr>
            </a:pPr>
            <a:endParaRPr/>
          </a:p>
          <a:p>
            <a:pPr>
              <a:defRPr sz="1600" b="0">
                <a:latin typeface="FC Iconic"/>
              </a:defRPr>
            </a:pPr>
            <a:r>
              <a:t>ฝั่งผู้ป่วย (Patient Portal) ประกอบด้วย Appointments (จองและดูนัด) PHR (ประวัติสุขภาพ) Timeline (ไทม์ไลน์เหตุการณ์) AI Doctor (ปรึกษา AI เบื้องต้น) Map (ค้นหาแพทย์) Medical Content Library (คลังเนื้อหา) Living Will (พินัยกรรมชีวิต) และ Notifications (การแจ้งเตือน) ทุกหน้ามี route แยกใน React และเรียก REST API ภายใต้ /api/ ของ Patient Portal</a:t>
            </a:r>
          </a:p>
          <a:p>
            <a:pPr>
              <a:defRPr sz="1600" b="0">
                <a:latin typeface="FC Iconic"/>
              </a:defRPr>
            </a:pPr>
            <a:r>
              <a:t>ฝั่งแพทย์ (Doctor Portal) มี Dashboard สรุปงาน Queue คิวนัด Appointment Pool EMR Editor สำหรับ SOAP Prescribing ออกใบสั่งยา Lab Orders สั่งตรวจ Health Meeting เข้าประชุม Patient Record ดูข้อมูลผู้ป่วย Clinical Resources เอกสารอ้างอิง และส่วน Admin สำหรับอนุมัติแพทย์และจัดสรรนัด แอดมินใช้ Doctor Portal ในบทบาท admin ไม่มีพอร์ทัลแยก</a:t>
            </a:r>
          </a:p>
          <a:p>
            <a:pPr>
              <a:defRPr sz="1600" b="0">
                <a:latin typeface="FC Iconic"/>
              </a:defRPr>
            </a:pPr>
            <a:r>
              <a:t>Meeting Server เปิด REST API สำหรับสร้างห้องประชุม จัดการ lobby ออก guest token และ postMeetingPipeline หลังจบประชุม Patient Portal และ Doctor Portal ต้องเรียก MEETING_SERVER_URL ที่ตั้งค่าเหมือนกันทุก environment หาก URL ไม่ตรงกัน ผู้ป่วยและแพทย์จะเข้าห้องคนละห้องหรือ lobby ค้าง</a:t>
            </a:r>
          </a:p>
          <a:p>
            <a:pPr>
              <a:defRPr sz="1600" b="0">
                <a:latin typeface="FC Iconic"/>
              </a:defRPr>
            </a:pPr>
            <a:endParaRPr/>
          </a:p>
          <a:p>
            <a:pPr>
              <a:defRPr sz="1600" b="0">
                <a:latin typeface="FC Iconic"/>
              </a:defRPr>
            </a:pPr>
            <a:r>
              <a:t>ติดตามกล่องสีแต่ละพอร์ทัลและเส้น REST/WebSocket ข้ามกล่อง จุดที่มักผิดพลาดคือ Meeting URL ไม่ตรงกันระหว่าง patient และ doctor env และการลืม proxy WebSocket ใน nginx ทำให้ realtime ไม่ทำงาน</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defRPr sz="1600" b="0">
                <a:latin typeface="FC Iconic"/>
              </a:defRPr>
            </a:pPr>
            <a:r>
              <a:t>เป็นพื้นฐานอ้างอิงเมื่อออกแบบฟีเจอร์ใหม่ ตรวจสอบ PDPA หรืออธิบายให้หน่วยงานกำกับดูแล ทีมสามารถถามว่า «ฟีเจอร์นี้อยู่ชั้นใด ใช้ข้อมูลอะไร ส่งออกไปที่ไหน» ได้ชัดเจน</a:t>
            </a:r>
          </a:p>
          <a:p>
            <a:pPr>
              <a:defRPr sz="1600" b="0">
                <a:latin typeface="FC Iconic"/>
              </a:defRPr>
            </a:pPr>
            <a:endParaRPr/>
          </a:p>
          <a:p>
            <a:pPr>
              <a:defRPr sz="1600" b="0">
                <a:latin typeface="FC Iconic"/>
              </a:defRPr>
            </a:pPr>
            <a:r>
              <a:t>ชั้น Client (ไคลเอนต์): React 18 + TypeScript + Vite แสดง UI ทั้งสองพอร์ทัล ฝัง Jitsi ผ่าน iframe ใช้ Web Speech API สำหรับถอดความฝั่งเบราว์เซอร์เมื่อเปิดใช้ ไม่มี native mobile app ใน Phase 1 — ออกแบบ responsive สำหรับเบราว์เซอร์</a:t>
            </a:r>
          </a:p>
          <a:p>
            <a:pPr>
              <a:defRPr sz="1600" b="0">
                <a:latin typeface="FC Iconic"/>
              </a:defRPr>
            </a:pPr>
            <a:r>
              <a:t>ชั้น Portal (แอปพลิเคชัน): Node.js + Express รับ REST และ WebSocket Patient ใช้ session/cookie หรือ token แพทย์ใช้ JWT middleware ตรวจ role และ rate limit ทุก route ที่เข้าถึงข้อมูลคลินิกต้องผ่าน RBAC</a:t>
            </a:r>
          </a:p>
          <a:p>
            <a:pPr>
              <a:defRPr sz="1600" b="0">
                <a:latin typeface="FC Iconic"/>
              </a:defRPr>
            </a:pPr>
            <a:r>
              <a:t>ชั้น Real-time (เรียลไทม์): เมื่อมีการ UPDATE ตารางสำคัญ (เช่น appointments) PostgreSQL TRIGGER ส่ง NOTIFY ไป listener ใน server listener แปลงเป็น Socket.IO event ไปยัง client ทำให้คิวและแจ้งเตือนอัปเดตโดยไม่ refresh</a:t>
            </a:r>
          </a:p>
          <a:p>
            <a:pPr>
              <a:defRPr sz="1600" b="0">
                <a:latin typeface="FC Iconic"/>
              </a:defRPr>
            </a:pPr>
            <a:endParaRPr/>
          </a:p>
          <a:p>
            <a:pPr>
              <a:defRPr sz="1600" b="0">
                <a:latin typeface="FC Iconic"/>
              </a:defRPr>
            </a:pPr>
            <a:r>
              <a:t>อ่านจากบนลงล่าง: Client → Portal → (Real-time + Data) → External ลูกศรลงแสดงการพึ่งพา ลูกศรขึ้นแสดง response หรือ event กลับ กล่อง MITL/PDPA มักอยู่ข้ามชั้น Portal และ Data</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defRPr sz="1600" b="0">
                <a:latin typeface="FC Iconic"/>
              </a:defRPr>
            </a:pPr>
            <a:r>
              <a:t>อธิบาย flow การเข้าระบบสำหรับทีม support ทีมความปลอดภัย และผู้ทดสอบ UAT ลดความสับสนระหว่างพอร์ทัลผู้ป่วยและแพทย์ และชี้จุดที่ต้องอนุมัติแอดมิน</a:t>
            </a:r>
          </a:p>
          <a:p>
            <a:pPr>
              <a:defRPr sz="1600" b="0">
                <a:latin typeface="FC Iconic"/>
              </a:defRPr>
            </a:pPr>
            <a:endParaRPr/>
          </a:p>
          <a:p>
            <a:pPr>
              <a:defRPr sz="1600" b="0">
                <a:latin typeface="FC Iconic"/>
              </a:defRPr>
            </a:pPr>
            <a:r>
              <a:t>ผู้ป่วยล็อกอินผ่าน Patient Portal: ส่ง POST login ด้วยอีเมล/รหัสผ่าน ระบบสร้าง session หรือ token เก็บใน cookie/header รองรับ Google SSO เมื่อตั้ง VITE_GOOGLE_CLIENT_ID — อีเมลจาก Google ต้องตรงกับ users.email ที่ลงทะเบียนแล้ว มิฉะนั้นจะ login ไม่สำเร็จ</a:t>
            </a:r>
          </a:p>
          <a:p>
            <a:pPr>
              <a:defRPr sz="1600" b="0">
                <a:latin typeface="FC Iconic"/>
              </a:defRPr>
            </a:pPr>
            <a:r>
              <a:t>แพทย์และแอดมินล็อกอินผ่าน Doctor Portal: ตรวจรหัสผ่านด้วย bcrypt ออก JWT อายุตามการตั้งค่า ทุก /api ตรวจ role (doctor หรือ admin) แพทย์ที่สมัครใหม่มี is_approved=false จนแอดมินกดอนุมัติที่ Manage Doctors จึงจะเห็นคิวและ EMR ได้ครบ</a:t>
            </a:r>
          </a:p>
          <a:p>
            <a:pPr>
              <a:defRPr sz="1600" b="0">
                <a:latin typeface="FC Iconic"/>
              </a:defRPr>
            </a:pPr>
            <a:r>
              <a:t>ตาราง users เก็บ role, login_attempts, locked_until, approval_status sessions เก็บ token และ expires_at สำหรับ revoke นโยบายรหัสผ่าน: อย่างน้อย 12 ตัวอักษร — อย่าใช้รหัส demo บน production</a:t>
            </a:r>
          </a:p>
          <a:p>
            <a:pPr>
              <a:defRPr sz="1600" b="0">
                <a:latin typeface="FC Iconic"/>
              </a:defRPr>
            </a:pPr>
            <a:endParaRPr/>
          </a:p>
          <a:p>
            <a:pPr>
              <a:defRPr sz="1600" b="0">
                <a:latin typeface="FC Iconic"/>
              </a:defRPr>
            </a:pPr>
            <a:r>
              <a:t>ติดตามเส้นทางจากหน้า Login แยก Patient vs Doctor ไปยัง Dashboard สังเกตจุด branch «รออนุมัติ» สำหรับแพทย์ใหม่ และเส้นไป sessions/users ในฐานข้อมูล</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defRPr sz="1600" b="0">
                <a:latin typeface="FC Iconic"/>
              </a:defRPr>
            </a:pPr>
            <a:r>
              <a:t>อธิบายสถานะนัดหมายทั้งหมด ใครเปลี่ยนสถานะเมื่อใด การแจ้งเตือนใดเกิดขึ้น และจุดที่มักเกิด defect ในการ sync คิว — เหมาะสำหรับ UAT และ support</a:t>
            </a:r>
          </a:p>
          <a:p>
            <a:pPr>
              <a:defRPr sz="1600" b="0">
                <a:latin typeface="FC Iconic"/>
              </a:defRPr>
            </a:pPr>
            <a:endParaRPr/>
          </a:p>
          <a:p>
            <a:pPr>
              <a:defRPr sz="1600" b="0">
                <a:latin typeface="FC Iconic"/>
              </a:defRPr>
            </a:pPr>
            <a:r>
              <a:t>ผู้ป่วยเริ่มจอง: กรอกอาการ (symptoms เก็บเป็น JSONB) เลือกประเภทและความเร่งด่วน ระบบ INSERT appointments สถานะเริ่ม pending หรือ in_pool ขึ้นกับการเลือกแพทย์โดยตรงหรือเข้า Pool ให้แอดมิน/แพทย์รับ</a:t>
            </a:r>
          </a:p>
          <a:p>
            <a:pPr>
              <a:defRPr sz="1600" b="0">
                <a:latin typeface="FC Iconic"/>
              </a:defRPr>
            </a:pPr>
            <a:r>
              <a:t>แอดมินหรือแพทย์รับจาก Pool: กำหนด doctor_id สถานะเปลี่ยนเป็น assigned ระบบ INSERT notifications แจ้งทั้งผู้ป่วยและแพทย์ แพทย์ยืนยัน → confirmed → เมื่อถึงเวลานัด in_meeting → หลังจบ completed</a:t>
            </a:r>
          </a:p>
          <a:p>
            <a:pPr>
              <a:defRPr sz="1600" b="0">
                <a:latin typeface="FC Iconic"/>
              </a:defRPr>
            </a:pPr>
            <a:r>
              <a:t>ทุก transition สำคัญ trigger PostgreSQL NOTIFY → Socket.IO Dashboard และ Queue ของแพทย์อัปเดตโดยไม่ต้อง refresh หน้า v1.7.48 เพิ่ม PUT read-all สำหรับ notifications แก้ปัญหา isRead ไม่ sync</a:t>
            </a:r>
          </a:p>
          <a:p>
            <a:pPr>
              <a:defRPr sz="1600" b="0">
                <a:latin typeface="FC Iconic"/>
              </a:defRPr>
            </a:pPr>
            <a:endParaRPr/>
          </a:p>
          <a:p>
            <a:pPr>
              <a:defRPr sz="1600" b="0">
                <a:latin typeface="FC Iconic"/>
              </a:defRPr>
            </a:pPr>
            <a:r>
              <a:t>ตามลูกศรสถานะจากซ้ายไปขวา สังเกตจุดแยก Pool vs จองตรงแพทย์ และจุด NOTIFY ไปยัง Notification / Socket.IO</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defRPr sz="1600" b="0">
                <a:latin typeface="FC Iconic"/>
              </a:defRPr>
            </a:pPr>
            <a:r>
              <a:t>ชี้แจงการทำงานร่วมกันระหว่าง Jitsi, Meeting Server และ Gemini สำหรับแพทย์ ทีม QA และผู้ตรวจสอบด้านคลินิก</a:t>
            </a:r>
          </a:p>
          <a:p>
            <a:pPr>
              <a:defRPr sz="1600" b="0">
                <a:latin typeface="FC Iconic"/>
              </a:defRPr>
            </a:pPr>
            <a:endParaRPr/>
          </a:p>
          <a:p>
            <a:pPr>
              <a:defRPr sz="1600" b="0">
                <a:latin typeface="FC Iconic"/>
              </a:defRPr>
            </a:pPr>
            <a:r>
              <a:t>แพทย์เป็น HOST ใน Jitsi — ผู้ป่วยและ guest รอที่ lobby จนได้รับ admit (Izara lobby M2) ป้องกันคนแปลกหน้าเข้าห้องโดยไม่ได้รับอนุญาต</a:t>
            </a:r>
          </a:p>
          <a:p>
            <a:pPr>
              <a:defRPr sz="1600" b="0">
                <a:latin typeface="FC Iconic"/>
              </a:defRPr>
            </a:pPr>
            <a:r>
              <a:t>ระหว่างประชุม: MediaRecorder บันทึกเสียง/วิดีโอ (เข้ารหัส AES-GCM ตามการตั้งค่า) Web Speech หรือ Google STT เติม meeting_transcripts แบบ real-time แพทย์เห็น LiveTranscriptionView บนหน้าประชุม</a:t>
            </a:r>
          </a:p>
          <a:p>
            <a:pPr>
              <a:defRPr sz="1600" b="0">
                <a:latin typeface="FC Iconic"/>
              </a:defRPr>
            </a:pPr>
            <a:r>
              <a:t>หลังประชุม: postMeetingPipeline ส่ง transcript ไป Gemini 3.1 ได้ ai_summary เก็บใน meeting_records (JSONB) — ยังเป็นร่าง</a:t>
            </a:r>
          </a:p>
          <a:p>
            <a:pPr>
              <a:defRPr sz="1600" b="0">
                <a:latin typeface="FC Iconic"/>
              </a:defRPr>
            </a:pPr>
            <a:endParaRPr/>
          </a:p>
          <a:p>
            <a:pPr>
              <a:defRPr sz="1600" b="0">
                <a:latin typeface="FC Iconic"/>
              </a:defRPr>
            </a:pPr>
            <a:r>
              <a:t>ติดตามลำดับ: Join Jitsi → Record/STT → AI Summary → Doctor Edit → Sign → Patient view เส้นที่ข้ามไป Patient ควรอยู่หลัง Sign เท่านั้น</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defRPr sz="1600" b="0">
                <a:latin typeface="FC Iconic"/>
              </a:defRPr>
            </a:pPr>
            <a:r>
              <a:t>เป็นคู่มือสำหรับ debug ปัญหา «คิวไม่อัปเดต» หรือ «อ่านแล้วแต่ยังมี badge» และอธิบาย API อ่าน/อ่านทั้งหมด</a:t>
            </a:r>
          </a:p>
          <a:p>
            <a:pPr>
              <a:defRPr sz="1600" b="0">
                <a:latin typeface="FC Iconic"/>
              </a:defRPr>
            </a:pPr>
            <a:endParaRPr/>
          </a:p>
          <a:p>
            <a:pPr>
              <a:defRPr sz="1600" b="0">
                <a:latin typeface="FC Iconic"/>
              </a:defRPr>
            </a:pPr>
            <a:r>
              <a:t>เมื่อ UPDATE appointments (เช่น doctor_id, status) TRIGGER ใน PostgreSQL ส่ง NOTIFY ไป channel ที่ pgNotifyListener ใน server ฟังอยู่</a:t>
            </a:r>
          </a:p>
          <a:p>
            <a:pPr>
              <a:defRPr sz="1600" b="0">
                <a:latin typeface="FC Iconic"/>
              </a:defRPr>
            </a:pPr>
            <a:r>
              <a:t>Listener แปลงเป็น Socket.IO event ไป client React อัปเดต state ใน Dashboard และ Queue</a:t>
            </a:r>
          </a:p>
          <a:p>
            <a:pPr>
              <a:defRPr sz="1600" b="0">
                <a:latin typeface="FC Iconic"/>
              </a:defRPr>
            </a:pPr>
            <a:r>
              <a:t>notifications INSERT เมื่อจอง มอบหมาย ยืนยัน หรือมีผลคลินิก ผู้ใช้เปิด NotificationsPage หรือ NotificationBell / DoctorNotificationBell</a:t>
            </a:r>
          </a:p>
          <a:p>
            <a:pPr>
              <a:defRPr sz="1600" b="0">
                <a:latin typeface="FC Iconic"/>
              </a:defRPr>
            </a:pPr>
            <a:endParaRPr/>
          </a:p>
          <a:p>
            <a:pPr>
              <a:defRPr sz="1600" b="0">
                <a:latin typeface="FC Iconic"/>
              </a:defRPr>
            </a:pPr>
            <a:r>
              <a:t>ดูเส้นจาก PostgreSQL NOTIFY ไป Socket.IO ไป UI และเส้น REST แยกสำหรับ GET notifications และ PUT read-all</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defRPr sz="1600" b="0">
                <a:latin typeface="FC Iconic"/>
              </a:defRPr>
            </a:pPr>
            <a:r>
              <a:t>ให้ DevOps และนักพัฒนารู้ว่า service ใดอยู่ที่ไหน port ใด secret ใดสำคัญ และคำสั่งตรวจหลัง deploy</a:t>
            </a:r>
          </a:p>
          <a:p>
            <a:pPr>
              <a:defRPr sz="1600" b="0">
                <a:latin typeface="FC Iconic"/>
              </a:defRPr>
            </a:pPr>
            <a:endParaRPr/>
          </a:p>
          <a:p>
            <a:pPr>
              <a:defRPr sz="1600" b="0">
                <a:latin typeface="FC Iconic"/>
              </a:defRPr>
            </a:pPr>
            <a:r>
              <a:t>Local: docker compose up -d — postgres :5433, patient :3005, doctor :3010, meeting :3020, pgAdmin :5050 seed ข้อมูล: node scripts/database/db-tool.cjs --seed</a:t>
            </a:r>
          </a:p>
          <a:p>
            <a:pPr>
              <a:defRPr sz="1600" b="0">
                <a:latin typeface="FC Iconic"/>
              </a:defRPr>
            </a:pPr>
            <a:r>
              <a:t>Production: โปรเจกต์ GCP izara-telemedicine region asia-southeast1 Cloud Run services ชื่อ *-dev-testing (หรือตาม tag release)</a:t>
            </a:r>
          </a:p>
          <a:p>
            <a:pPr>
              <a:defRPr sz="1600" b="0">
                <a:latin typeface="FC Iconic"/>
              </a:defRPr>
            </a:pPr>
            <a:r>
              <a:t>CI/CD: git push → Cloud Build (cloudbuild.yaml) → Artifact Registry → gcloud run deploy</a:t>
            </a:r>
          </a:p>
          <a:p>
            <a:pPr>
              <a:defRPr sz="1600" b="0">
                <a:latin typeface="FC Iconic"/>
              </a:defRPr>
            </a:pPr>
            <a:endParaRPr/>
          </a:p>
          <a:p>
            <a:pPr>
              <a:defRPr sz="1600" b="0">
                <a:latin typeface="FC Iconic"/>
              </a:defRPr>
            </a:pPr>
            <a:r>
              <a:t>ซ้ายมักเป็น Local Docker ขวาเป็น GCP — ติดตามลูกศร build/deploy และเส้น DB รวมศูนย์ที่ GCE</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defRPr sz="1600" b="0">
                <a:latin typeface="FC Iconic"/>
              </a:defRPr>
            </a:pPr>
            <a:r>
              <a:t>ให้แพทย์และผู้ป่วยเข้าใจว่าใครเห็นข้อมูลอะไร และ API filter อะไรก่อนส่งให้ผู้ป่วย</a:t>
            </a:r>
          </a:p>
          <a:p>
            <a:pPr>
              <a:defRPr sz="1600" b="0">
                <a:latin typeface="FC Iconic"/>
              </a:defRPr>
            </a:pPr>
            <a:endParaRPr/>
          </a:p>
          <a:p>
            <a:pPr>
              <a:defRPr sz="1600" b="0">
                <a:latin typeface="FC Iconic"/>
              </a:defRPr>
            </a:pPr>
            <a:r>
              <a:t>PHR: ผู้ป่วนกรอก demographics, vital signs, allergies, medications ลง phr / vital_signs ใช้ JSONB ยืดหยุ่นสำหรับฟิลด์เพิ่มเติม</a:t>
            </a:r>
          </a:p>
          <a:p>
            <a:pPr>
              <a:defRPr sz="1600" b="0">
                <a:latin typeface="FC Iconic"/>
              </a:defRPr>
            </a:pPr>
            <a:r>
              <a:t>แพทย์ดู PHR เมื่อมีสิทธิ์ (active appointment) ทุกครั้งบันทึก audit_logs</a:t>
            </a:r>
          </a:p>
          <a:p>
            <a:pPr>
              <a:defRPr sz="1600" b="0">
                <a:latin typeface="FC Iconic"/>
              </a:defRPr>
            </a:pPr>
            <a:r>
              <a:t>EMR: โครงสร้าง SOAP (Subjective, Objective, Assessment, Plan) AI สร้าง draft จาก meeting แพทย์แก้ใน EmrEditorChrome แล้ว sign</a:t>
            </a:r>
          </a:p>
          <a:p>
            <a:pPr>
              <a:defRPr sz="1600" b="0">
                <a:latin typeface="FC Iconic"/>
              </a:defRPr>
            </a:pPr>
            <a:endParaRPr/>
          </a:p>
          <a:p>
            <a:pPr>
              <a:defRPr sz="1600" b="0">
                <a:latin typeface="FC Iconic"/>
              </a:defRPr>
            </a:pPr>
            <a:r>
              <a:t>แยก swimlane ผู้ป่วย vs แพทย์ และจุด INSERT/UPDATE ลงตาราง phr, emr, prescriptions</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defRPr sz="1600" b="0">
                <a:latin typeface="FC Iconic"/>
              </a:defRPr>
            </a:pPr>
            <a:r>
              <a:t>ให้ผู้ตรวจสอบ PDPA และแพทย์เข้าใจเงื่อนไขการเก็บ แก้ไข และเปิดเผย Living Will</a:t>
            </a:r>
          </a:p>
          <a:p>
            <a:pPr>
              <a:defRPr sz="1600" b="0">
                <a:latin typeface="FC Iconic"/>
              </a:defRPr>
            </a:pPr>
            <a:endParaRPr/>
          </a:p>
          <a:p>
            <a:pPr>
              <a:defRPr sz="1600" b="0">
                <a:latin typeface="FC Iconic"/>
              </a:defRPr>
            </a:pPr>
            <a:r>
              <a:t>Wizard 4 ขั้น: (1) ความยินยอม PDPA (2) คำแถลงส่วนตัวภาษาไทย (3) ค่าการรักษา CPR/ventilator ฯลฯ ใน JSONB (4) ตั้งค่า is_shared_with_doctors</a:t>
            </a:r>
          </a:p>
          <a:p>
            <a:pPr>
              <a:defRPr sz="1600" b="0">
                <a:latin typeface="FC Iconic"/>
              </a:defRPr>
            </a:pPr>
            <a:r>
              <a:t>บันทึก living_wills status=active version เริ่มที่ 1 แก้ไขครั้งถัดไป supersede เวอร์ชันเก่า version++ ไม่ลบทางกายภาพ</a:t>
            </a:r>
          </a:p>
          <a:p>
            <a:pPr>
              <a:defRPr sz="1600" b="0">
                <a:latin typeface="FC Iconic"/>
              </a:defRPr>
            </a:pPr>
            <a:r>
              <a:t>แพทย์เห็นได้เมื่อ is_shared_with_doctors=true และมีสิทธิ์ดู PHR มิฉะนั้นแสดงข้อความว่าไม่ได้รับการแชร์</a:t>
            </a:r>
          </a:p>
          <a:p>
            <a:pPr>
              <a:defRPr sz="1600" b="0">
                <a:latin typeface="FC Iconic"/>
              </a:defRPr>
            </a:pPr>
            <a:endParaRPr/>
          </a:p>
          <a:p>
            <a:pPr>
              <a:defRPr sz="1600" b="0">
                <a:latin typeface="FC Iconic"/>
              </a:defRPr>
            </a:pPr>
            <a:r>
              <a:t>ตามลำดับขั้น wizard และเส้นแชร์ไปแพทย์ / version history</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defRPr sz="1600" b="0">
                <a:latin typeface="FC Iconic"/>
              </a:defRPr>
            </a:pPr>
            <a:r>
              <a:t>อ้างอิงสำหรับนักพัฒนา DBA และผู้ตรวจสอบเมื่อเพิ่มฟีเจอร์หรือ migration</a:t>
            </a:r>
          </a:p>
          <a:p>
            <a:pPr>
              <a:defRPr sz="1600" b="0">
                <a:latin typeface="FC Iconic"/>
              </a:defRPr>
            </a:pPr>
            <a:endParaRPr/>
          </a:p>
          <a:p>
            <a:pPr>
              <a:defRPr sz="1600" b="0">
                <a:latin typeface="FC Iconic"/>
              </a:defRPr>
            </a:pPr>
            <a:r>
              <a:t>users เชื่อม patient_profiles, doctor_profiles, sessions, appointments, phr, notifications, audit_logs</a:t>
            </a:r>
          </a:p>
          <a:p>
            <a:pPr>
              <a:defRPr sz="1600" b="0">
                <a:latin typeface="FC Iconic"/>
              </a:defRPr>
            </a:pPr>
            <a:r>
              <a:t>appointments → meeting_records → meeting_transcripts appointments → emr → prescriptions, lab_orders</a:t>
            </a:r>
          </a:p>
          <a:p>
            <a:pPr>
              <a:defRPr sz="1600" b="0">
                <a:latin typeface="FC Iconic"/>
              </a:defRPr>
            </a:pPr>
            <a:r>
              <a:t>notifications.read_at ควบคุม isRead — ไม่ใช้คอลัมน์แยกโดยไม่ sync</a:t>
            </a:r>
          </a:p>
          <a:p>
            <a:pPr>
              <a:defRPr sz="1600" b="0">
                <a:latin typeface="FC Iconic"/>
              </a:defRPr>
            </a:pPr>
            <a:endParaRPr/>
          </a:p>
          <a:p>
            <a:pPr>
              <a:defRPr sz="1600" b="0">
                <a:latin typeface="FC Iconic"/>
              </a:defRPr>
            </a:pPr>
            <a:r>
              <a:t>มอง users กลางแผนภาพ แล้วตามกลุ่ม appointments/clinical และ notifications/audit</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defRPr sz="1600" b="0">
                <a:latin typeface="FC Iconic"/>
              </a:defRPr>
            </a:pPr>
            <a:r>
              <a:t>ให้ผู้ทดสอบและผู้ใช้ใหม่เห็นภาพตั้งแต่ล็อกอินจนถึงดูผลรักษา สอดคล้อง Playwright groups A–P</a:t>
            </a:r>
          </a:p>
          <a:p>
            <a:pPr>
              <a:defRPr sz="1600" b="0">
                <a:latin typeface="FC Iconic"/>
              </a:defRPr>
            </a:pPr>
            <a:endParaRPr/>
          </a:p>
          <a:p>
            <a:pPr>
              <a:defRPr sz="1600" b="0">
                <a:latin typeface="FC Iconic"/>
              </a:defRPr>
            </a:pPr>
            <a:r>
              <a:t>ขั้น 1–2: ล็อกอิน (patient/doctor) + PDPA consent ตามบทบาท</a:t>
            </a:r>
          </a:p>
          <a:p>
            <a:pPr>
              <a:defRPr sz="1600" b="0">
                <a:latin typeface="FC Iconic"/>
              </a:defRPr>
            </a:pPr>
            <a:r>
              <a:t>ขั้น 3–4: จองนัด กรอกอาการ → เข้า Pool หรือเลือกแพทย์</a:t>
            </a:r>
          </a:p>
          <a:p>
            <a:pPr>
              <a:defRPr sz="1600" b="0">
                <a:latin typeface="FC Iconic"/>
              </a:defRPr>
            </a:pPr>
            <a:r>
              <a:t>ขั้น 5–6: มอบหมาย/ยืนยัน → แจ้งเตือน realtime</a:t>
            </a:r>
          </a:p>
          <a:p>
            <a:pPr>
              <a:defRPr sz="1600" b="0">
                <a:latin typeface="FC Iconic"/>
              </a:defRPr>
            </a:pPr>
            <a:endParaRPr/>
          </a:p>
          <a:p>
            <a:pPr>
              <a:defRPr sz="1600" b="0">
                <a:latin typeface="FC Iconic"/>
              </a:defRPr>
            </a:pPr>
            <a:r>
              <a:t>อ่านจากบนลงล่างหรือซ้ายไปขวาตาม swimlane — ตรวจว่าทุกขั้นมีในบท 1–11 แล้ว</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5/31/2026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5/31/2026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5/31/2026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5/31/2026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5/31/2026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5/31/2026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5/31/2026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5/31/2026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5/31/2026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654880" y="2921168"/>
            <a:ext cx="8882240" cy="1015663"/>
          </a:xfrm>
          <a:prstGeom prst="rect">
            <a:avLst/>
          </a:prstGeom>
          <a:noFill/>
        </p:spPr>
        <p:txBody>
          <a:bodyPr wrap="none">
            <a:spAutoFit/>
          </a:bodyPr>
          <a:lstStyle/>
          <a:p>
            <a:pPr algn="ctr">
              <a:defRPr sz="3200" b="1">
                <a:latin typeface="FC Iconic"/>
              </a:defRPr>
            </a:pPr>
            <a:r>
              <a:rPr sz="6000" dirty="0" err="1"/>
              <a:t>รายงานทางเทคนิค</a:t>
            </a:r>
            <a:r>
              <a:rPr sz="6000" dirty="0"/>
              <a:t> — Izara Anywhere</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182880"/>
            <a:ext cx="1268296" cy="584775"/>
          </a:xfrm>
          <a:prstGeom prst="rect">
            <a:avLst/>
          </a:prstGeom>
          <a:noFill/>
        </p:spPr>
        <p:txBody>
          <a:bodyPr wrap="none">
            <a:spAutoFit/>
          </a:bodyPr>
          <a:lstStyle/>
          <a:p>
            <a:pPr>
              <a:defRPr sz="3200" b="1">
                <a:latin typeface="FC Iconic"/>
              </a:defRPr>
            </a:pPr>
            <a:r>
              <a:rPr lang="en-US" dirty="0"/>
              <a:t>Agenda</a:t>
            </a:r>
            <a:endParaRPr dirty="0"/>
          </a:p>
        </p:txBody>
      </p:sp>
      <p:sp>
        <p:nvSpPr>
          <p:cNvPr id="3" name="Rectangle 1">
            <a:extLst>
              <a:ext uri="{FF2B5EF4-FFF2-40B4-BE49-F238E27FC236}">
                <a16:creationId xmlns:a16="http://schemas.microsoft.com/office/drawing/2014/main" id="{51B9E24C-DC9A-6121-0F7C-072D721C9A2D}"/>
              </a:ext>
            </a:extLst>
          </p:cNvPr>
          <p:cNvSpPr>
            <a:spLocks noChangeArrowheads="1"/>
          </p:cNvSpPr>
          <p:nvPr/>
        </p:nvSpPr>
        <p:spPr bwMode="auto">
          <a:xfrm>
            <a:off x="365760" y="888951"/>
            <a:ext cx="11251933" cy="52629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457200" marR="0" lvl="0" indent="-45720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th-TH" altLang="en-US" sz="2800" b="0" i="0" u="none" strike="noStrike" cap="none" normalizeH="0" baseline="0" dirty="0">
                <a:ln>
                  <a:noFill/>
                </a:ln>
                <a:solidFill>
                  <a:schemeClr val="tx1"/>
                </a:solidFill>
                <a:effectLst/>
                <a:latin typeface="FC Iconic" panose="020B0500040200020003" pitchFamily="34" charset="-34"/>
                <a:cs typeface="FC Iconic" panose="020B0500040200020003" pitchFamily="34" charset="-34"/>
              </a:rPr>
              <a:t>ภาพรวมระบบและแผนที่พอร์ทัล</a:t>
            </a:r>
            <a:endParaRPr kumimoji="0" lang="en-US" altLang="en-US" sz="2800" b="0" i="0" u="none" strike="noStrike" cap="none" normalizeH="0" baseline="0" dirty="0">
              <a:ln>
                <a:noFill/>
              </a:ln>
              <a:solidFill>
                <a:schemeClr val="tx1"/>
              </a:solidFill>
              <a:effectLst/>
              <a:latin typeface="FC Iconic" panose="020B0500040200020003" pitchFamily="34" charset="-34"/>
              <a:cs typeface="FC Iconic" panose="020B0500040200020003" pitchFamily="34" charset="-34"/>
            </a:endParaRPr>
          </a:p>
          <a:p>
            <a:pPr marL="457200" marR="0" lvl="0" indent="-45720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th-TH" altLang="en-US" sz="2800" b="0" i="0" u="none" strike="noStrike" cap="none" normalizeH="0" baseline="0" dirty="0">
                <a:ln>
                  <a:noFill/>
                </a:ln>
                <a:solidFill>
                  <a:schemeClr val="tx1"/>
                </a:solidFill>
                <a:effectLst/>
                <a:latin typeface="FC Iconic" panose="020B0500040200020003" pitchFamily="34" charset="-34"/>
                <a:cs typeface="FC Iconic" panose="020B0500040200020003" pitchFamily="34" charset="-34"/>
              </a:rPr>
              <a:t>แผนภาพแพลตฟอร์มเต็มรูป</a:t>
            </a:r>
            <a:endParaRPr kumimoji="0" lang="en-US" altLang="en-US" sz="2800" b="0" i="0" u="none" strike="noStrike" cap="none" normalizeH="0" baseline="0" dirty="0">
              <a:ln>
                <a:noFill/>
              </a:ln>
              <a:solidFill>
                <a:schemeClr val="tx1"/>
              </a:solidFill>
              <a:effectLst/>
              <a:latin typeface="FC Iconic" panose="020B0500040200020003" pitchFamily="34" charset="-34"/>
              <a:cs typeface="FC Iconic" panose="020B0500040200020003" pitchFamily="34" charset="-34"/>
            </a:endParaRPr>
          </a:p>
          <a:p>
            <a:pPr marL="457200" marR="0" lvl="0" indent="-45720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th-TH" altLang="en-US" sz="2800" b="0" i="0" u="none" strike="noStrike" cap="none" normalizeH="0" baseline="0" dirty="0">
                <a:ln>
                  <a:noFill/>
                </a:ln>
                <a:solidFill>
                  <a:schemeClr val="tx1"/>
                </a:solidFill>
                <a:effectLst/>
                <a:latin typeface="FC Iconic" panose="020B0500040200020003" pitchFamily="34" charset="-34"/>
                <a:cs typeface="FC Iconic" panose="020B0500040200020003" pitchFamily="34" charset="-34"/>
              </a:rPr>
              <a:t>สถาปัตยกรรมระบบ </a:t>
            </a:r>
            <a:r>
              <a:rPr kumimoji="0" lang="en-US" altLang="en-US" sz="2800" b="0" i="0" u="none" strike="noStrike" cap="none" normalizeH="0" baseline="0" dirty="0">
                <a:ln>
                  <a:noFill/>
                </a:ln>
                <a:solidFill>
                  <a:schemeClr val="tx1"/>
                </a:solidFill>
                <a:effectLst/>
                <a:latin typeface="FC Iconic" panose="020B0500040200020003" pitchFamily="34" charset="-34"/>
                <a:cs typeface="FC Iconic" panose="020B0500040200020003" pitchFamily="34" charset="-34"/>
              </a:rPr>
              <a:t>(</a:t>
            </a:r>
            <a:r>
              <a:rPr kumimoji="0" lang="th-TH" altLang="en-US" sz="2800" b="0" i="0" u="none" strike="noStrike" cap="none" normalizeH="0" baseline="0" dirty="0">
                <a:ln>
                  <a:noFill/>
                </a:ln>
                <a:solidFill>
                  <a:schemeClr val="tx1"/>
                </a:solidFill>
                <a:effectLst/>
                <a:latin typeface="FC Iconic" panose="020B0500040200020003" pitchFamily="34" charset="-34"/>
                <a:cs typeface="FC Iconic" panose="020B0500040200020003" pitchFamily="34" charset="-34"/>
              </a:rPr>
              <a:t>ชั้นงาน</a:t>
            </a:r>
            <a:r>
              <a:rPr kumimoji="0" lang="en-US" altLang="en-US" sz="2800" b="0" i="0" u="none" strike="noStrike" cap="none" normalizeH="0" baseline="0" dirty="0">
                <a:ln>
                  <a:noFill/>
                </a:ln>
                <a:solidFill>
                  <a:schemeClr val="tx1"/>
                </a:solidFill>
                <a:effectLst/>
                <a:latin typeface="FC Iconic" panose="020B0500040200020003" pitchFamily="34" charset="-34"/>
                <a:cs typeface="FC Iconic" panose="020B0500040200020003" pitchFamily="34" charset="-34"/>
              </a:rPr>
              <a:t>)</a:t>
            </a:r>
          </a:p>
          <a:p>
            <a:pPr marL="457200" marR="0" lvl="0" indent="-45720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th-TH" altLang="en-US" sz="2800" b="0" i="0" u="none" strike="noStrike" cap="none" normalizeH="0" baseline="0" dirty="0">
                <a:ln>
                  <a:noFill/>
                </a:ln>
                <a:solidFill>
                  <a:schemeClr val="tx1"/>
                </a:solidFill>
                <a:effectLst/>
                <a:latin typeface="FC Iconic" panose="020B0500040200020003" pitchFamily="34" charset="-34"/>
                <a:cs typeface="FC Iconic" panose="020B0500040200020003" pitchFamily="34" charset="-34"/>
              </a:rPr>
              <a:t>การล็อกอินและการพิสูจน์ตัวตน</a:t>
            </a:r>
            <a:endParaRPr kumimoji="0" lang="en-US" altLang="en-US" sz="2800" b="0" i="0" u="none" strike="noStrike" cap="none" normalizeH="0" baseline="0" dirty="0">
              <a:ln>
                <a:noFill/>
              </a:ln>
              <a:solidFill>
                <a:schemeClr val="tx1"/>
              </a:solidFill>
              <a:effectLst/>
              <a:latin typeface="FC Iconic" panose="020B0500040200020003" pitchFamily="34" charset="-34"/>
              <a:cs typeface="FC Iconic" panose="020B0500040200020003" pitchFamily="34" charset="-34"/>
            </a:endParaRPr>
          </a:p>
          <a:p>
            <a:pPr marL="457200" marR="0" lvl="0" indent="-45720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th-TH" altLang="en-US" sz="2800" b="0" i="0" u="none" strike="noStrike" cap="none" normalizeH="0" baseline="0" dirty="0">
                <a:ln>
                  <a:noFill/>
                </a:ln>
                <a:solidFill>
                  <a:schemeClr val="tx1"/>
                </a:solidFill>
                <a:effectLst/>
                <a:latin typeface="FC Iconic" panose="020B0500040200020003" pitchFamily="34" charset="-34"/>
                <a:cs typeface="FC Iconic" panose="020B0500040200020003" pitchFamily="34" charset="-34"/>
              </a:rPr>
              <a:t>กระบวนการนัดหมาย</a:t>
            </a:r>
            <a:endParaRPr kumimoji="0" lang="en-US" altLang="en-US" sz="2800" b="0" i="0" u="none" strike="noStrike" cap="none" normalizeH="0" baseline="0" dirty="0">
              <a:ln>
                <a:noFill/>
              </a:ln>
              <a:solidFill>
                <a:schemeClr val="tx1"/>
              </a:solidFill>
              <a:effectLst/>
              <a:latin typeface="FC Iconic" panose="020B0500040200020003" pitchFamily="34" charset="-34"/>
              <a:cs typeface="FC Iconic" panose="020B0500040200020003" pitchFamily="34" charset="-34"/>
            </a:endParaRPr>
          </a:p>
          <a:p>
            <a:pPr marL="457200" marR="0" lvl="0" indent="-45720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2800" b="0" i="0" u="none" strike="noStrike" cap="none" normalizeH="0" baseline="0" dirty="0">
                <a:ln>
                  <a:noFill/>
                </a:ln>
                <a:solidFill>
                  <a:schemeClr val="tx1"/>
                </a:solidFill>
                <a:effectLst/>
                <a:latin typeface="FC Iconic" panose="020B0500040200020003" pitchFamily="34" charset="-34"/>
                <a:cs typeface="FC Iconic" panose="020B0500040200020003" pitchFamily="34" charset="-34"/>
              </a:rPr>
              <a:t>Pipeline </a:t>
            </a:r>
            <a:r>
              <a:rPr kumimoji="0" lang="th-TH" altLang="en-US" sz="2800" b="0" i="0" u="none" strike="noStrike" cap="none" normalizeH="0" baseline="0" dirty="0">
                <a:ln>
                  <a:noFill/>
                </a:ln>
                <a:solidFill>
                  <a:schemeClr val="tx1"/>
                </a:solidFill>
                <a:effectLst/>
                <a:latin typeface="FC Iconic" panose="020B0500040200020003" pitchFamily="34" charset="-34"/>
                <a:cs typeface="FC Iconic" panose="020B0500040200020003" pitchFamily="34" charset="-34"/>
              </a:rPr>
              <a:t>การประชุมและ </a:t>
            </a:r>
            <a:r>
              <a:rPr kumimoji="0" lang="en-US" altLang="en-US" sz="2800" b="0" i="0" u="none" strike="noStrike" cap="none" normalizeH="0" baseline="0" dirty="0">
                <a:ln>
                  <a:noFill/>
                </a:ln>
                <a:solidFill>
                  <a:schemeClr val="tx1"/>
                </a:solidFill>
                <a:effectLst/>
                <a:latin typeface="FC Iconic" panose="020B0500040200020003" pitchFamily="34" charset="-34"/>
                <a:cs typeface="FC Iconic" panose="020B0500040200020003" pitchFamily="34" charset="-34"/>
              </a:rPr>
              <a:t>AI </a:t>
            </a:r>
            <a:r>
              <a:rPr kumimoji="0" lang="th-TH" altLang="en-US" sz="2800" b="0" i="0" u="none" strike="noStrike" cap="none" normalizeH="0" baseline="0" dirty="0">
                <a:ln>
                  <a:noFill/>
                </a:ln>
                <a:solidFill>
                  <a:schemeClr val="tx1"/>
                </a:solidFill>
                <a:effectLst/>
                <a:latin typeface="FC Iconic" panose="020B0500040200020003" pitchFamily="34" charset="-34"/>
                <a:cs typeface="FC Iconic" panose="020B0500040200020003" pitchFamily="34" charset="-34"/>
              </a:rPr>
              <a:t>คลินิก</a:t>
            </a:r>
            <a:endParaRPr kumimoji="0" lang="en-US" altLang="en-US" sz="2800" b="0" i="0" u="none" strike="noStrike" cap="none" normalizeH="0" baseline="0" dirty="0">
              <a:ln>
                <a:noFill/>
              </a:ln>
              <a:solidFill>
                <a:schemeClr val="tx1"/>
              </a:solidFill>
              <a:effectLst/>
              <a:latin typeface="FC Iconic" panose="020B0500040200020003" pitchFamily="34" charset="-34"/>
              <a:cs typeface="FC Iconic" panose="020B0500040200020003" pitchFamily="34" charset="-34"/>
            </a:endParaRPr>
          </a:p>
          <a:p>
            <a:pPr marL="457200" marR="0" lvl="0" indent="-45720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2800" b="0" i="0" u="none" strike="noStrike" cap="none" normalizeH="0" baseline="0" dirty="0">
                <a:ln>
                  <a:noFill/>
                </a:ln>
                <a:solidFill>
                  <a:schemeClr val="tx1"/>
                </a:solidFill>
                <a:effectLst/>
                <a:latin typeface="FC Iconic" panose="020B0500040200020003" pitchFamily="34" charset="-34"/>
                <a:cs typeface="FC Iconic" panose="020B0500040200020003" pitchFamily="34" charset="-34"/>
              </a:rPr>
              <a:t>Realtime </a:t>
            </a:r>
            <a:r>
              <a:rPr kumimoji="0" lang="th-TH" altLang="en-US" sz="2800" b="0" i="0" u="none" strike="noStrike" cap="none" normalizeH="0" baseline="0" dirty="0">
                <a:ln>
                  <a:noFill/>
                </a:ln>
                <a:solidFill>
                  <a:schemeClr val="tx1"/>
                </a:solidFill>
                <a:effectLst/>
                <a:latin typeface="FC Iconic" panose="020B0500040200020003" pitchFamily="34" charset="-34"/>
                <a:cs typeface="FC Iconic" panose="020B0500040200020003" pitchFamily="34" charset="-34"/>
              </a:rPr>
              <a:t>และการแจ้งเตือน</a:t>
            </a:r>
            <a:endParaRPr kumimoji="0" lang="en-US" altLang="en-US" sz="2800" b="0" i="0" u="none" strike="noStrike" cap="none" normalizeH="0" baseline="0" dirty="0">
              <a:ln>
                <a:noFill/>
              </a:ln>
              <a:solidFill>
                <a:schemeClr val="tx1"/>
              </a:solidFill>
              <a:effectLst/>
              <a:latin typeface="FC Iconic" panose="020B0500040200020003" pitchFamily="34" charset="-34"/>
              <a:cs typeface="FC Iconic" panose="020B0500040200020003" pitchFamily="34" charset="-34"/>
            </a:endParaRPr>
          </a:p>
          <a:p>
            <a:pPr marL="457200" marR="0" lvl="0" indent="-45720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th-TH" altLang="en-US" sz="2800" b="0" i="0" u="none" strike="noStrike" cap="none" normalizeH="0" baseline="0" dirty="0">
                <a:ln>
                  <a:noFill/>
                </a:ln>
                <a:solidFill>
                  <a:schemeClr val="tx1"/>
                </a:solidFill>
                <a:effectLst/>
                <a:latin typeface="FC Iconic" panose="020B0500040200020003" pitchFamily="34" charset="-34"/>
                <a:cs typeface="FC Iconic" panose="020B0500040200020003" pitchFamily="34" charset="-34"/>
              </a:rPr>
              <a:t>สถาปัตยกรรมการ </a:t>
            </a:r>
            <a:r>
              <a:rPr kumimoji="0" lang="en-US" altLang="en-US" sz="2800" b="0" i="0" u="none" strike="noStrike" cap="none" normalizeH="0" baseline="0" dirty="0">
                <a:ln>
                  <a:noFill/>
                </a:ln>
                <a:solidFill>
                  <a:schemeClr val="tx1"/>
                </a:solidFill>
                <a:effectLst/>
                <a:latin typeface="FC Iconic" panose="020B0500040200020003" pitchFamily="34" charset="-34"/>
                <a:cs typeface="FC Iconic" panose="020B0500040200020003" pitchFamily="34" charset="-34"/>
              </a:rPr>
              <a:t>deploy</a:t>
            </a:r>
          </a:p>
          <a:p>
            <a:pPr marL="457200" marR="0" lvl="0" indent="-45720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th-TH" altLang="en-US" sz="2800" b="0" i="0" u="none" strike="noStrike" cap="none" normalizeH="0" baseline="0" dirty="0">
                <a:ln>
                  <a:noFill/>
                </a:ln>
                <a:solidFill>
                  <a:schemeClr val="tx1"/>
                </a:solidFill>
                <a:effectLst/>
                <a:latin typeface="FC Iconic" panose="020B0500040200020003" pitchFamily="34" charset="-34"/>
                <a:cs typeface="FC Iconic" panose="020B0500040200020003" pitchFamily="34" charset="-34"/>
              </a:rPr>
              <a:t>บันทึกสุขภาพ </a:t>
            </a:r>
            <a:r>
              <a:rPr kumimoji="0" lang="en-US" altLang="en-US" sz="2800" b="0" i="0" u="none" strike="noStrike" cap="none" normalizeH="0" baseline="0" dirty="0">
                <a:ln>
                  <a:noFill/>
                </a:ln>
                <a:solidFill>
                  <a:schemeClr val="tx1"/>
                </a:solidFill>
                <a:effectLst/>
                <a:latin typeface="FC Iconic" panose="020B0500040200020003" pitchFamily="34" charset="-34"/>
                <a:cs typeface="FC Iconic" panose="020B0500040200020003" pitchFamily="34" charset="-34"/>
              </a:rPr>
              <a:t>PHR </a:t>
            </a:r>
            <a:r>
              <a:rPr kumimoji="0" lang="th-TH" altLang="en-US" sz="2800" b="0" i="0" u="none" strike="noStrike" cap="none" normalizeH="0" baseline="0" dirty="0">
                <a:ln>
                  <a:noFill/>
                </a:ln>
                <a:solidFill>
                  <a:schemeClr val="tx1"/>
                </a:solidFill>
                <a:effectLst/>
                <a:latin typeface="FC Iconic" panose="020B0500040200020003" pitchFamily="34" charset="-34"/>
                <a:cs typeface="FC Iconic" panose="020B0500040200020003" pitchFamily="34" charset="-34"/>
              </a:rPr>
              <a:t>และ </a:t>
            </a:r>
            <a:r>
              <a:rPr kumimoji="0" lang="en-US" altLang="en-US" sz="2800" b="0" i="0" u="none" strike="noStrike" cap="none" normalizeH="0" baseline="0" dirty="0">
                <a:ln>
                  <a:noFill/>
                </a:ln>
                <a:solidFill>
                  <a:schemeClr val="tx1"/>
                </a:solidFill>
                <a:effectLst/>
                <a:latin typeface="FC Iconic" panose="020B0500040200020003" pitchFamily="34" charset="-34"/>
                <a:cs typeface="FC Iconic" panose="020B0500040200020003" pitchFamily="34" charset="-34"/>
              </a:rPr>
              <a:t>EMR</a:t>
            </a:r>
          </a:p>
          <a:p>
            <a:pPr marL="457200" marR="0" lvl="0" indent="-45720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th-TH" altLang="en-US" sz="2800" b="0" i="0" u="none" strike="noStrike" cap="none" normalizeH="0" baseline="0" dirty="0">
                <a:ln>
                  <a:noFill/>
                </a:ln>
                <a:solidFill>
                  <a:schemeClr val="tx1"/>
                </a:solidFill>
                <a:effectLst/>
                <a:latin typeface="FC Iconic" panose="020B0500040200020003" pitchFamily="34" charset="-34"/>
                <a:cs typeface="FC Iconic" panose="020B0500040200020003" pitchFamily="34" charset="-34"/>
              </a:rPr>
              <a:t>พินัยกรรมชีวิต </a:t>
            </a:r>
            <a:r>
              <a:rPr kumimoji="0" lang="en-US" altLang="en-US" sz="2800" b="0" i="0" u="none" strike="noStrike" cap="none" normalizeH="0" baseline="0" dirty="0">
                <a:ln>
                  <a:noFill/>
                </a:ln>
                <a:solidFill>
                  <a:schemeClr val="tx1"/>
                </a:solidFill>
                <a:effectLst/>
                <a:latin typeface="FC Iconic" panose="020B0500040200020003" pitchFamily="34" charset="-34"/>
                <a:cs typeface="FC Iconic" panose="020B0500040200020003" pitchFamily="34" charset="-34"/>
              </a:rPr>
              <a:t>(Living Will)</a:t>
            </a:r>
          </a:p>
          <a:p>
            <a:pPr marL="457200" marR="0" lvl="0" indent="-45720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2800" b="0" i="0" u="none" strike="noStrike" cap="none" normalizeH="0" baseline="0" dirty="0">
                <a:ln>
                  <a:noFill/>
                </a:ln>
                <a:solidFill>
                  <a:schemeClr val="tx1"/>
                </a:solidFill>
                <a:effectLst/>
                <a:latin typeface="FC Iconic" panose="020B0500040200020003" pitchFamily="34" charset="-34"/>
                <a:cs typeface="FC Iconic" panose="020B0500040200020003" pitchFamily="34" charset="-34"/>
              </a:rPr>
              <a:t>ERD </a:t>
            </a:r>
            <a:r>
              <a:rPr kumimoji="0" lang="th-TH" altLang="en-US" sz="2800" b="0" i="0" u="none" strike="noStrike" cap="none" normalizeH="0" baseline="0" dirty="0">
                <a:ln>
                  <a:noFill/>
                </a:ln>
                <a:solidFill>
                  <a:schemeClr val="tx1"/>
                </a:solidFill>
                <a:effectLst/>
                <a:latin typeface="FC Iconic" panose="020B0500040200020003" pitchFamily="34" charset="-34"/>
                <a:cs typeface="FC Iconic" panose="020B0500040200020003" pitchFamily="34" charset="-34"/>
              </a:rPr>
              <a:t>ฐานข้อมูล </a:t>
            </a:r>
            <a:r>
              <a:rPr kumimoji="0" lang="en-US" altLang="en-US" sz="2800" b="0" i="0" u="none" strike="noStrike" cap="none" normalizeH="0" baseline="0" dirty="0">
                <a:ln>
                  <a:noFill/>
                </a:ln>
                <a:solidFill>
                  <a:schemeClr val="tx1"/>
                </a:solidFill>
                <a:effectLst/>
                <a:latin typeface="FC Iconic" panose="020B0500040200020003" pitchFamily="34" charset="-34"/>
                <a:cs typeface="FC Iconic" panose="020B0500040200020003" pitchFamily="34" charset="-34"/>
              </a:rPr>
              <a:t>(Database Entity-Relationship Diagram)</a:t>
            </a:r>
          </a:p>
          <a:p>
            <a:pPr marL="457200" marR="0" lvl="0" indent="-45720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th-TH" altLang="en-US" sz="2800" b="0" i="0" u="none" strike="noStrike" cap="none" normalizeH="0" baseline="0" dirty="0">
                <a:ln>
                  <a:noFill/>
                </a:ln>
                <a:solidFill>
                  <a:schemeClr val="tx1"/>
                </a:solidFill>
                <a:effectLst/>
                <a:latin typeface="FC Iconic" panose="020B0500040200020003" pitchFamily="34" charset="-34"/>
                <a:cs typeface="FC Iconic" panose="020B0500040200020003" pitchFamily="34" charset="-34"/>
              </a:rPr>
              <a:t>ขั้นตอน </a:t>
            </a:r>
            <a:r>
              <a:rPr kumimoji="0" lang="en-US" altLang="en-US" sz="2800" b="0" i="0" u="none" strike="noStrike" cap="none" normalizeH="0" baseline="0" dirty="0">
                <a:ln>
                  <a:noFill/>
                </a:ln>
                <a:solidFill>
                  <a:schemeClr val="tx1"/>
                </a:solidFill>
                <a:effectLst/>
                <a:latin typeface="FC Iconic" panose="020B0500040200020003" pitchFamily="34" charset="-34"/>
                <a:cs typeface="FC Iconic" panose="020B0500040200020003" pitchFamily="34" charset="-34"/>
              </a:rPr>
              <a:t>E2E </a:t>
            </a:r>
            <a:r>
              <a:rPr kumimoji="0" lang="th-TH" altLang="en-US" sz="2800" b="0" i="0" u="none" strike="noStrike" cap="none" normalizeH="0" baseline="0" dirty="0">
                <a:ln>
                  <a:noFill/>
                </a:ln>
                <a:solidFill>
                  <a:schemeClr val="tx1"/>
                </a:solidFill>
                <a:effectLst/>
                <a:latin typeface="FC Iconic" panose="020B0500040200020003" pitchFamily="34" charset="-34"/>
                <a:cs typeface="FC Iconic" panose="020B0500040200020003" pitchFamily="34" charset="-34"/>
              </a:rPr>
              <a:t>ทั้งเส้นทาง</a:t>
            </a:r>
            <a:endParaRPr kumimoji="0" lang="en-US" altLang="en-US" sz="2800" b="0" i="0" u="none" strike="noStrike" cap="none" normalizeH="0" baseline="0" dirty="0">
              <a:ln>
                <a:noFill/>
              </a:ln>
              <a:solidFill>
                <a:schemeClr val="tx1"/>
              </a:solidFill>
              <a:effectLst/>
              <a:latin typeface="FC Iconic" panose="020B0500040200020003" pitchFamily="34" charset="-34"/>
              <a:cs typeface="FC Iconic" panose="020B0500040200020003" pitchFamily="34" charset="-34"/>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20040" y="109728"/>
            <a:ext cx="5368777" cy="584775"/>
          </a:xfrm>
          <a:prstGeom prst="rect">
            <a:avLst/>
          </a:prstGeom>
          <a:noFill/>
        </p:spPr>
        <p:txBody>
          <a:bodyPr wrap="none">
            <a:spAutoFit/>
          </a:bodyPr>
          <a:lstStyle/>
          <a:p>
            <a:pPr>
              <a:defRPr sz="3200" b="1">
                <a:latin typeface="FC Iconic"/>
              </a:defRPr>
            </a:pPr>
            <a:r>
              <a:rPr dirty="0" err="1">
                <a:latin typeface="FC Iconic" panose="020B0500040200020003" pitchFamily="34" charset="-34"/>
                <a:cs typeface="FC Iconic" panose="020B0500040200020003" pitchFamily="34" charset="-34"/>
              </a:rPr>
              <a:t>บทที่</a:t>
            </a:r>
            <a:r>
              <a:rPr dirty="0">
                <a:latin typeface="FC Iconic" panose="020B0500040200020003" pitchFamily="34" charset="-34"/>
                <a:cs typeface="FC Iconic" panose="020B0500040200020003" pitchFamily="34" charset="-34"/>
              </a:rPr>
              <a:t> 1 — </a:t>
            </a:r>
            <a:r>
              <a:rPr dirty="0" err="1">
                <a:latin typeface="FC Iconic" panose="020B0500040200020003" pitchFamily="34" charset="-34"/>
                <a:cs typeface="FC Iconic" panose="020B0500040200020003" pitchFamily="34" charset="-34"/>
              </a:rPr>
              <a:t>ภาพรวมระบบและแผนที่พอร์ทัล</a:t>
            </a:r>
            <a:endParaRPr dirty="0">
              <a:latin typeface="FC Iconic" panose="020B0500040200020003" pitchFamily="34" charset="-34"/>
              <a:cs typeface="FC Iconic" panose="020B0500040200020003" pitchFamily="34" charset="-34"/>
            </a:endParaRPr>
          </a:p>
        </p:txBody>
      </p:sp>
      <p:pic>
        <p:nvPicPr>
          <p:cNvPr id="3" name="Picture 2" descr="01-1-system-overview-portal-map.png"/>
          <p:cNvPicPr>
            <a:picLocks noChangeAspect="1"/>
          </p:cNvPicPr>
          <p:nvPr/>
        </p:nvPicPr>
        <p:blipFill>
          <a:blip r:embed="rId3"/>
          <a:stretch>
            <a:fillRect/>
          </a:stretch>
        </p:blipFill>
        <p:spPr>
          <a:xfrm>
            <a:off x="91440" y="777241"/>
            <a:ext cx="8532939" cy="5328987"/>
          </a:xfrm>
          <a:prstGeom prst="rect">
            <a:avLst/>
          </a:prstGeom>
        </p:spPr>
      </p:pic>
      <p:sp>
        <p:nvSpPr>
          <p:cNvPr id="4" name="TextBox 3"/>
          <p:cNvSpPr txBox="1"/>
          <p:nvPr/>
        </p:nvSpPr>
        <p:spPr>
          <a:xfrm>
            <a:off x="8475076" y="503777"/>
            <a:ext cx="3786475" cy="6001643"/>
          </a:xfrm>
          <a:prstGeom prst="rect">
            <a:avLst/>
          </a:prstGeom>
          <a:noFill/>
        </p:spPr>
        <p:txBody>
          <a:bodyPr wrap="square">
            <a:spAutoFit/>
          </a:bodyPr>
          <a:lstStyle/>
          <a:p>
            <a:pPr marL="342900" indent="-342900">
              <a:buFont typeface="Arial" panose="020B0604020202020204" pitchFamily="34" charset="0"/>
              <a:buChar char="•"/>
              <a:defRPr sz="1800" b="0">
                <a:latin typeface="FC Iconic"/>
              </a:defRPr>
            </a:pPr>
            <a:r>
              <a:rPr sz="2400" dirty="0" err="1">
                <a:latin typeface="FC Iconic" panose="020B0500040200020003" pitchFamily="34" charset="-34"/>
                <a:cs typeface="FC Iconic" panose="020B0500040200020003" pitchFamily="34" charset="-34"/>
              </a:rPr>
              <a:t>เริ่มจากมุมมองผู้ใช้งานจริง</a:t>
            </a:r>
            <a:r>
              <a:rPr sz="2400" dirty="0">
                <a:latin typeface="FC Iconic" panose="020B0500040200020003" pitchFamily="34" charset="-34"/>
                <a:cs typeface="FC Iconic" panose="020B0500040200020003" pitchFamily="34" charset="-34"/>
              </a:rPr>
              <a:t> — </a:t>
            </a:r>
            <a:r>
              <a:rPr sz="2400" dirty="0" err="1">
                <a:latin typeface="FC Iconic" panose="020B0500040200020003" pitchFamily="34" charset="-34"/>
                <a:cs typeface="FC Iconic" panose="020B0500040200020003" pitchFamily="34" charset="-34"/>
              </a:rPr>
              <a:t>ใครเข้าระบบจากช่องทางใด</a:t>
            </a:r>
            <a:r>
              <a:rPr sz="2400" dirty="0">
                <a:latin typeface="FC Iconic" panose="020B0500040200020003" pitchFamily="34" charset="-34"/>
                <a:cs typeface="FC Iconic" panose="020B0500040200020003" pitchFamily="34" charset="-34"/>
              </a:rPr>
              <a:t> </a:t>
            </a:r>
            <a:r>
              <a:rPr sz="2400" dirty="0" err="1">
                <a:latin typeface="FC Iconic" panose="020B0500040200020003" pitchFamily="34" charset="-34"/>
                <a:cs typeface="FC Iconic" panose="020B0500040200020003" pitchFamily="34" charset="-34"/>
              </a:rPr>
              <a:t>บริการประชุมทางไกลอยู่ตรงไหน</a:t>
            </a:r>
            <a:r>
              <a:rPr sz="2400" dirty="0">
                <a:latin typeface="FC Iconic" panose="020B0500040200020003" pitchFamily="34" charset="-34"/>
                <a:cs typeface="FC Iconic" panose="020B0500040200020003" pitchFamily="34" charset="-34"/>
              </a:rPr>
              <a:t> </a:t>
            </a:r>
            <a:r>
              <a:rPr sz="2400" dirty="0" err="1">
                <a:latin typeface="FC Iconic" panose="020B0500040200020003" pitchFamily="34" charset="-34"/>
                <a:cs typeface="FC Iconic" panose="020B0500040200020003" pitchFamily="34" charset="-34"/>
              </a:rPr>
              <a:t>และข้อมูลสุขภาพรวมศูนย์ที่ใด</a:t>
            </a:r>
            <a:r>
              <a:rPr sz="2400" dirty="0">
                <a:latin typeface="FC Iconic" panose="020B0500040200020003" pitchFamily="34" charset="-34"/>
                <a:cs typeface="FC Iconic" panose="020B0500040200020003" pitchFamily="34" charset="-34"/>
              </a:rPr>
              <a:t> </a:t>
            </a:r>
            <a:r>
              <a:rPr sz="2400" dirty="0" err="1">
                <a:latin typeface="FC Iconic" panose="020B0500040200020003" pitchFamily="34" charset="-34"/>
                <a:cs typeface="FC Iconic" panose="020B0500040200020003" pitchFamily="34" charset="-34"/>
              </a:rPr>
              <a:t>แผนภาพหน้านี้เป็น</a:t>
            </a:r>
            <a:r>
              <a:rPr sz="2400" dirty="0">
                <a:latin typeface="FC Iconic" panose="020B0500040200020003" pitchFamily="34" charset="-34"/>
                <a:cs typeface="FC Iconic" panose="020B0500040200020003" pitchFamily="34" charset="-34"/>
              </a:rPr>
              <a:t> «</a:t>
            </a:r>
            <a:r>
              <a:rPr sz="2400" dirty="0" err="1">
                <a:latin typeface="FC Iconic" panose="020B0500040200020003" pitchFamily="34" charset="-34"/>
                <a:cs typeface="FC Iconic" panose="020B0500040200020003" pitchFamily="34" charset="-34"/>
              </a:rPr>
              <a:t>แผนที่</a:t>
            </a:r>
            <a:r>
              <a:rPr sz="2400" dirty="0">
                <a:latin typeface="FC Iconic" panose="020B0500040200020003" pitchFamily="34" charset="-34"/>
                <a:cs typeface="FC Iconic" panose="020B0500040200020003" pitchFamily="34" charset="-34"/>
              </a:rPr>
              <a:t>» </a:t>
            </a:r>
            <a:r>
              <a:rPr sz="2400" dirty="0" err="1">
                <a:latin typeface="FC Iconic" panose="020B0500040200020003" pitchFamily="34" charset="-34"/>
                <a:cs typeface="FC Iconic" panose="020B0500040200020003" pitchFamily="34" charset="-34"/>
              </a:rPr>
              <a:t>ก่อนลงรายละเอียดเทคนิคในบทถัดไป</a:t>
            </a:r>
            <a:endParaRPr sz="2400" dirty="0">
              <a:latin typeface="FC Iconic" panose="020B0500040200020003" pitchFamily="34" charset="-34"/>
              <a:cs typeface="FC Iconic" panose="020B0500040200020003" pitchFamily="34" charset="-34"/>
            </a:endParaRPr>
          </a:p>
          <a:p>
            <a:pPr marL="342900" indent="-342900">
              <a:buFont typeface="Arial" panose="020B0604020202020204" pitchFamily="34" charset="0"/>
              <a:buChar char="•"/>
              <a:defRPr sz="1800" b="0">
                <a:latin typeface="FC Iconic"/>
              </a:defRPr>
            </a:pPr>
            <a:r>
              <a:rPr sz="2400" dirty="0" err="1">
                <a:latin typeface="FC Iconic" panose="020B0500040200020003" pitchFamily="34" charset="-34"/>
                <a:cs typeface="FC Iconic" panose="020B0500040200020003" pitchFamily="34" charset="-34"/>
              </a:rPr>
              <a:t>ผู้ป่วย</a:t>
            </a:r>
            <a:r>
              <a:rPr sz="2400" dirty="0">
                <a:latin typeface="FC Iconic" panose="020B0500040200020003" pitchFamily="34" charset="-34"/>
                <a:cs typeface="FC Iconic" panose="020B0500040200020003" pitchFamily="34" charset="-34"/>
              </a:rPr>
              <a:t>: </a:t>
            </a:r>
            <a:r>
              <a:rPr sz="2400" dirty="0" err="1">
                <a:latin typeface="FC Iconic" panose="020B0500040200020003" pitchFamily="34" charset="-34"/>
                <a:cs typeface="FC Iconic" panose="020B0500040200020003" pitchFamily="34" charset="-34"/>
              </a:rPr>
              <a:t>จองนัด</a:t>
            </a:r>
            <a:r>
              <a:rPr sz="2400" dirty="0">
                <a:latin typeface="FC Iconic" panose="020B0500040200020003" pitchFamily="34" charset="-34"/>
                <a:cs typeface="FC Iconic" panose="020B0500040200020003" pitchFamily="34" charset="-34"/>
              </a:rPr>
              <a:t> → </a:t>
            </a:r>
            <a:r>
              <a:rPr sz="2400" dirty="0" err="1">
                <a:latin typeface="FC Iconic" panose="020B0500040200020003" pitchFamily="34" charset="-34"/>
                <a:cs typeface="FC Iconic" panose="020B0500040200020003" pitchFamily="34" charset="-34"/>
              </a:rPr>
              <a:t>รอมอบหมาย</a:t>
            </a:r>
            <a:r>
              <a:rPr sz="2400" dirty="0">
                <a:latin typeface="FC Iconic" panose="020B0500040200020003" pitchFamily="34" charset="-34"/>
                <a:cs typeface="FC Iconic" panose="020B0500040200020003" pitchFamily="34" charset="-34"/>
              </a:rPr>
              <a:t>/</a:t>
            </a:r>
            <a:r>
              <a:rPr sz="2400" dirty="0" err="1">
                <a:latin typeface="FC Iconic" panose="020B0500040200020003" pitchFamily="34" charset="-34"/>
                <a:cs typeface="FC Iconic" panose="020B0500040200020003" pitchFamily="34" charset="-34"/>
              </a:rPr>
              <a:t>ยืนยัน</a:t>
            </a:r>
            <a:r>
              <a:rPr sz="2400" dirty="0">
                <a:latin typeface="FC Iconic" panose="020B0500040200020003" pitchFamily="34" charset="-34"/>
                <a:cs typeface="FC Iconic" panose="020B0500040200020003" pitchFamily="34" charset="-34"/>
              </a:rPr>
              <a:t> → </a:t>
            </a:r>
            <a:r>
              <a:rPr sz="2400" dirty="0" err="1">
                <a:latin typeface="FC Iconic" panose="020B0500040200020003" pitchFamily="34" charset="-34"/>
                <a:cs typeface="FC Iconic" panose="020B0500040200020003" pitchFamily="34" charset="-34"/>
              </a:rPr>
              <a:t>เข้าประชุม</a:t>
            </a:r>
            <a:r>
              <a:rPr sz="2400" dirty="0">
                <a:latin typeface="FC Iconic" panose="020B0500040200020003" pitchFamily="34" charset="-34"/>
                <a:cs typeface="FC Iconic" panose="020B0500040200020003" pitchFamily="34" charset="-34"/>
              </a:rPr>
              <a:t> → </a:t>
            </a:r>
            <a:r>
              <a:rPr sz="2400" dirty="0" err="1">
                <a:latin typeface="FC Iconic" panose="020B0500040200020003" pitchFamily="34" charset="-34"/>
                <a:cs typeface="FC Iconic" panose="020B0500040200020003" pitchFamily="34" charset="-34"/>
              </a:rPr>
              <a:t>ดูผลหลังแพทย์ลงนาม</a:t>
            </a:r>
            <a:endParaRPr sz="2400" dirty="0">
              <a:latin typeface="FC Iconic" panose="020B0500040200020003" pitchFamily="34" charset="-34"/>
              <a:cs typeface="FC Iconic" panose="020B0500040200020003" pitchFamily="34" charset="-34"/>
            </a:endParaRPr>
          </a:p>
          <a:p>
            <a:pPr marL="342900" indent="-342900">
              <a:buFont typeface="Arial" panose="020B0604020202020204" pitchFamily="34" charset="0"/>
              <a:buChar char="•"/>
              <a:defRPr sz="1800" b="0">
                <a:latin typeface="FC Iconic"/>
              </a:defRPr>
            </a:pPr>
            <a:r>
              <a:rPr sz="2400" dirty="0" err="1">
                <a:latin typeface="FC Iconic" panose="020B0500040200020003" pitchFamily="34" charset="-34"/>
                <a:cs typeface="FC Iconic" panose="020B0500040200020003" pitchFamily="34" charset="-34"/>
              </a:rPr>
              <a:t>แพทย์</a:t>
            </a:r>
            <a:r>
              <a:rPr sz="2400" dirty="0">
                <a:latin typeface="FC Iconic" panose="020B0500040200020003" pitchFamily="34" charset="-34"/>
                <a:cs typeface="FC Iconic" panose="020B0500040200020003" pitchFamily="34" charset="-34"/>
              </a:rPr>
              <a:t>: </a:t>
            </a:r>
            <a:r>
              <a:rPr sz="2400" dirty="0" err="1">
                <a:latin typeface="FC Iconic" panose="020B0500040200020003" pitchFamily="34" charset="-34"/>
                <a:cs typeface="FC Iconic" panose="020B0500040200020003" pitchFamily="34" charset="-34"/>
              </a:rPr>
              <a:t>รับคิว</a:t>
            </a:r>
            <a:r>
              <a:rPr sz="2400" dirty="0">
                <a:latin typeface="FC Iconic" panose="020B0500040200020003" pitchFamily="34" charset="-34"/>
                <a:cs typeface="FC Iconic" panose="020B0500040200020003" pitchFamily="34" charset="-34"/>
              </a:rPr>
              <a:t> → </a:t>
            </a:r>
            <a:r>
              <a:rPr sz="2400" dirty="0" err="1">
                <a:latin typeface="FC Iconic" panose="020B0500040200020003" pitchFamily="34" charset="-34"/>
                <a:cs typeface="FC Iconic" panose="020B0500040200020003" pitchFamily="34" charset="-34"/>
              </a:rPr>
              <a:t>อ่าน</a:t>
            </a:r>
            <a:r>
              <a:rPr sz="2400" dirty="0">
                <a:latin typeface="FC Iconic" panose="020B0500040200020003" pitchFamily="34" charset="-34"/>
                <a:cs typeface="FC Iconic" panose="020B0500040200020003" pitchFamily="34" charset="-34"/>
              </a:rPr>
              <a:t> PHR → </a:t>
            </a:r>
            <a:r>
              <a:rPr sz="2400" dirty="0" err="1">
                <a:latin typeface="FC Iconic" panose="020B0500040200020003" pitchFamily="34" charset="-34"/>
                <a:cs typeface="FC Iconic" panose="020B0500040200020003" pitchFamily="34" charset="-34"/>
              </a:rPr>
              <a:t>ประชุม</a:t>
            </a:r>
            <a:r>
              <a:rPr sz="2400" dirty="0">
                <a:latin typeface="FC Iconic" panose="020B0500040200020003" pitchFamily="34" charset="-34"/>
                <a:cs typeface="FC Iconic" panose="020B0500040200020003" pitchFamily="34" charset="-34"/>
              </a:rPr>
              <a:t> → </a:t>
            </a:r>
            <a:r>
              <a:rPr sz="2400" dirty="0" err="1">
                <a:latin typeface="FC Iconic" panose="020B0500040200020003" pitchFamily="34" charset="-34"/>
                <a:cs typeface="FC Iconic" panose="020B0500040200020003" pitchFamily="34" charset="-34"/>
              </a:rPr>
              <a:t>แก้</a:t>
            </a:r>
            <a:r>
              <a:rPr sz="2400" dirty="0">
                <a:latin typeface="FC Iconic" panose="020B0500040200020003" pitchFamily="34" charset="-34"/>
                <a:cs typeface="FC Iconic" panose="020B0500040200020003" pitchFamily="34" charset="-34"/>
              </a:rPr>
              <a:t> SOAP → sign EMR → </a:t>
            </a:r>
            <a:r>
              <a:rPr sz="2400" dirty="0" err="1">
                <a:latin typeface="FC Iconic" panose="020B0500040200020003" pitchFamily="34" charset="-34"/>
                <a:cs typeface="FC Iconic" panose="020B0500040200020003" pitchFamily="34" charset="-34"/>
              </a:rPr>
              <a:t>สั่งยา</a:t>
            </a:r>
            <a:r>
              <a:rPr sz="2400" dirty="0">
                <a:latin typeface="FC Iconic" panose="020B0500040200020003" pitchFamily="34" charset="-34"/>
                <a:cs typeface="FC Iconic" panose="020B0500040200020003" pitchFamily="34" charset="-34"/>
              </a:rPr>
              <a:t>/lab</a:t>
            </a:r>
          </a:p>
          <a:p>
            <a:pPr marL="342900" indent="-342900">
              <a:buFont typeface="Arial" panose="020B0604020202020204" pitchFamily="34" charset="0"/>
              <a:buChar char="•"/>
              <a:defRPr sz="1800" b="0">
                <a:latin typeface="FC Iconic"/>
              </a:defRPr>
            </a:pPr>
            <a:r>
              <a:rPr sz="2400" dirty="0" err="1">
                <a:latin typeface="FC Iconic" panose="020B0500040200020003" pitchFamily="34" charset="-34"/>
                <a:cs typeface="FC Iconic" panose="020B0500040200020003" pitchFamily="34" charset="-34"/>
              </a:rPr>
              <a:t>แอดมิน</a:t>
            </a:r>
            <a:r>
              <a:rPr sz="2400" dirty="0">
                <a:latin typeface="FC Iconic" panose="020B0500040200020003" pitchFamily="34" charset="-34"/>
                <a:cs typeface="FC Iconic" panose="020B0500040200020003" pitchFamily="34" charset="-34"/>
              </a:rPr>
              <a:t>: </a:t>
            </a:r>
            <a:r>
              <a:rPr sz="2400" dirty="0" err="1">
                <a:latin typeface="FC Iconic" panose="020B0500040200020003" pitchFamily="34" charset="-34"/>
                <a:cs typeface="FC Iconic" panose="020B0500040200020003" pitchFamily="34" charset="-34"/>
              </a:rPr>
              <a:t>อนุมัติแพทย์ใหม่</a:t>
            </a:r>
            <a:r>
              <a:rPr sz="2400" dirty="0">
                <a:latin typeface="FC Iconic" panose="020B0500040200020003" pitchFamily="34" charset="-34"/>
                <a:cs typeface="FC Iconic" panose="020B0500040200020003" pitchFamily="34" charset="-34"/>
              </a:rPr>
              <a:t>, </a:t>
            </a:r>
            <a:r>
              <a:rPr sz="2400" dirty="0" err="1">
                <a:latin typeface="FC Iconic" panose="020B0500040200020003" pitchFamily="34" charset="-34"/>
                <a:cs typeface="FC Iconic" panose="020B0500040200020003" pitchFamily="34" charset="-34"/>
              </a:rPr>
              <a:t>มอบหมายจาก</a:t>
            </a:r>
            <a:r>
              <a:rPr sz="2400" dirty="0">
                <a:latin typeface="FC Iconic" panose="020B0500040200020003" pitchFamily="34" charset="-34"/>
                <a:cs typeface="FC Iconic" panose="020B0500040200020003" pitchFamily="34" charset="-34"/>
              </a:rPr>
              <a:t> Pool, </a:t>
            </a:r>
            <a:r>
              <a:rPr sz="2400" dirty="0" err="1">
                <a:latin typeface="FC Iconic" panose="020B0500040200020003" pitchFamily="34" charset="-34"/>
                <a:cs typeface="FC Iconic" panose="020B0500040200020003" pitchFamily="34" charset="-34"/>
              </a:rPr>
              <a:t>ดูภาพรวมนัด</a:t>
            </a:r>
            <a:endParaRPr sz="2400" dirty="0">
              <a:latin typeface="FC Iconic" panose="020B0500040200020003" pitchFamily="34" charset="-34"/>
              <a:cs typeface="FC Iconic" panose="020B0500040200020003" pitchFamily="34" charset="-34"/>
            </a:endParaRPr>
          </a:p>
          <a:p>
            <a:pPr marL="342900" indent="-342900">
              <a:buFont typeface="Arial" panose="020B0604020202020204" pitchFamily="34" charset="0"/>
              <a:buChar char="•"/>
              <a:defRPr sz="1800" b="0">
                <a:latin typeface="FC Iconic"/>
              </a:defRPr>
            </a:pPr>
            <a:r>
              <a:rPr sz="2400" dirty="0" err="1">
                <a:latin typeface="FC Iconic" panose="020B0500040200020003" pitchFamily="34" charset="-34"/>
                <a:cs typeface="FC Iconic" panose="020B0500040200020003" pitchFamily="34" charset="-34"/>
              </a:rPr>
              <a:t>ฐานข้อมูลกลาง</a:t>
            </a:r>
            <a:r>
              <a:rPr sz="2400" dirty="0">
                <a:latin typeface="FC Iconic" panose="020B0500040200020003" pitchFamily="34" charset="-34"/>
                <a:cs typeface="FC Iconic" panose="020B0500040200020003" pitchFamily="34" charset="-34"/>
              </a:rPr>
              <a:t>: PostgreSQL 18 </a:t>
            </a:r>
            <a:r>
              <a:rPr sz="2400" dirty="0" err="1">
                <a:latin typeface="FC Iconic" panose="020B0500040200020003" pitchFamily="34" charset="-34"/>
                <a:cs typeface="FC Iconic" panose="020B0500040200020003" pitchFamily="34" charset="-34"/>
              </a:rPr>
              <a:t>บน</a:t>
            </a:r>
            <a:r>
              <a:rPr sz="2400" dirty="0">
                <a:latin typeface="FC Iconic" panose="020B0500040200020003" pitchFamily="34" charset="-34"/>
                <a:cs typeface="FC Iconic" panose="020B0500040200020003" pitchFamily="34" charset="-34"/>
              </a:rPr>
              <a:t> GCE — </a:t>
            </a:r>
            <a:r>
              <a:rPr sz="2400" dirty="0" err="1">
                <a:latin typeface="FC Iconic" panose="020B0500040200020003" pitchFamily="34" charset="-34"/>
                <a:cs typeface="FC Iconic" panose="020B0500040200020003" pitchFamily="34" charset="-34"/>
              </a:rPr>
              <a:t>ไม่แยก</a:t>
            </a:r>
            <a:r>
              <a:rPr sz="2400" dirty="0">
                <a:latin typeface="FC Iconic" panose="020B0500040200020003" pitchFamily="34" charset="-34"/>
                <a:cs typeface="FC Iconic" panose="020B0500040200020003" pitchFamily="34" charset="-34"/>
              </a:rPr>
              <a:t> DB </a:t>
            </a:r>
            <a:r>
              <a:rPr sz="2400" dirty="0" err="1">
                <a:latin typeface="FC Iconic" panose="020B0500040200020003" pitchFamily="34" charset="-34"/>
                <a:cs typeface="FC Iconic" panose="020B0500040200020003" pitchFamily="34" charset="-34"/>
              </a:rPr>
              <a:t>ต่อพอร์ทัล</a:t>
            </a:r>
            <a:endParaRPr sz="2400" dirty="0">
              <a:latin typeface="FC Iconic" panose="020B0500040200020003" pitchFamily="34" charset="-34"/>
              <a:cs typeface="FC Iconic" panose="020B0500040200020003" pitchFamily="34" charset="-34"/>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20040" y="109728"/>
            <a:ext cx="4998484" cy="584775"/>
          </a:xfrm>
          <a:prstGeom prst="rect">
            <a:avLst/>
          </a:prstGeom>
          <a:noFill/>
        </p:spPr>
        <p:txBody>
          <a:bodyPr wrap="none">
            <a:spAutoFit/>
          </a:bodyPr>
          <a:lstStyle/>
          <a:p>
            <a:pPr>
              <a:defRPr sz="3200" b="1">
                <a:latin typeface="FC Iconic"/>
              </a:defRPr>
            </a:pPr>
            <a:r>
              <a:rPr dirty="0" err="1">
                <a:latin typeface="FC Iconic" panose="020B0500040200020003" pitchFamily="34" charset="-34"/>
                <a:cs typeface="FC Iconic" panose="020B0500040200020003" pitchFamily="34" charset="-34"/>
              </a:rPr>
              <a:t>บทที่</a:t>
            </a:r>
            <a:r>
              <a:rPr dirty="0">
                <a:latin typeface="FC Iconic" panose="020B0500040200020003" pitchFamily="34" charset="-34"/>
                <a:cs typeface="FC Iconic" panose="020B0500040200020003" pitchFamily="34" charset="-34"/>
              </a:rPr>
              <a:t> 2 — </a:t>
            </a:r>
            <a:r>
              <a:rPr dirty="0" err="1">
                <a:latin typeface="FC Iconic" panose="020B0500040200020003" pitchFamily="34" charset="-34"/>
                <a:cs typeface="FC Iconic" panose="020B0500040200020003" pitchFamily="34" charset="-34"/>
              </a:rPr>
              <a:t>แผนภาพแพลตฟอร์มเต็มรูป</a:t>
            </a:r>
            <a:endParaRPr dirty="0">
              <a:latin typeface="FC Iconic" panose="020B0500040200020003" pitchFamily="34" charset="-34"/>
              <a:cs typeface="FC Iconic" panose="020B0500040200020003" pitchFamily="34" charset="-34"/>
            </a:endParaRPr>
          </a:p>
        </p:txBody>
      </p:sp>
      <p:pic>
        <p:nvPicPr>
          <p:cNvPr id="3" name="Picture 2" descr="02-2-full-platform-diagram.png"/>
          <p:cNvPicPr>
            <a:picLocks noChangeAspect="1"/>
          </p:cNvPicPr>
          <p:nvPr/>
        </p:nvPicPr>
        <p:blipFill>
          <a:blip r:embed="rId3"/>
          <a:stretch>
            <a:fillRect/>
          </a:stretch>
        </p:blipFill>
        <p:spPr>
          <a:xfrm>
            <a:off x="320041" y="777240"/>
            <a:ext cx="8775312" cy="5428827"/>
          </a:xfrm>
          <a:prstGeom prst="rect">
            <a:avLst/>
          </a:prstGeom>
        </p:spPr>
      </p:pic>
      <p:sp>
        <p:nvSpPr>
          <p:cNvPr id="4" name="TextBox 3"/>
          <p:cNvSpPr txBox="1"/>
          <p:nvPr/>
        </p:nvSpPr>
        <p:spPr>
          <a:xfrm>
            <a:off x="8319608" y="1102951"/>
            <a:ext cx="3813069" cy="5632311"/>
          </a:xfrm>
          <a:prstGeom prst="rect">
            <a:avLst/>
          </a:prstGeom>
          <a:noFill/>
        </p:spPr>
        <p:txBody>
          <a:bodyPr wrap="square">
            <a:spAutoFit/>
          </a:bodyPr>
          <a:lstStyle/>
          <a:p>
            <a:pPr marL="342900" indent="-342900">
              <a:buFont typeface="Arial" panose="020B0604020202020204" pitchFamily="34" charset="0"/>
              <a:buChar char="•"/>
              <a:defRPr sz="1800" b="0">
                <a:latin typeface="FC Iconic"/>
              </a:defRPr>
            </a:pPr>
            <a:r>
              <a:rPr sz="2400" dirty="0" err="1">
                <a:latin typeface="FC Iconic" panose="020B0500040200020003" pitchFamily="34" charset="-34"/>
                <a:cs typeface="FC Iconic" panose="020B0500040200020003" pitchFamily="34" charset="-34"/>
              </a:rPr>
              <a:t>โมดูลย่อยทั้งหมดและเส้นทางข้อมูลระหว่าง</a:t>
            </a:r>
            <a:r>
              <a:rPr sz="2400" dirty="0">
                <a:latin typeface="FC Iconic" panose="020B0500040200020003" pitchFamily="34" charset="-34"/>
                <a:cs typeface="FC Iconic" panose="020B0500040200020003" pitchFamily="34" charset="-34"/>
              </a:rPr>
              <a:t> Patient Portal, Doctor Portal, Meeting Server </a:t>
            </a:r>
            <a:r>
              <a:rPr sz="2400" dirty="0" err="1">
                <a:latin typeface="FC Iconic" panose="020B0500040200020003" pitchFamily="34" charset="-34"/>
                <a:cs typeface="FC Iconic" panose="020B0500040200020003" pitchFamily="34" charset="-34"/>
              </a:rPr>
              <a:t>รวมถึงบริการภายนอก</a:t>
            </a:r>
            <a:r>
              <a:rPr sz="2400" dirty="0">
                <a:latin typeface="FC Iconic" panose="020B0500040200020003" pitchFamily="34" charset="-34"/>
                <a:cs typeface="FC Iconic" panose="020B0500040200020003" pitchFamily="34" charset="-34"/>
              </a:rPr>
              <a:t> </a:t>
            </a:r>
            <a:r>
              <a:rPr sz="2400" dirty="0" err="1">
                <a:latin typeface="FC Iconic" panose="020B0500040200020003" pitchFamily="34" charset="-34"/>
                <a:cs typeface="FC Iconic" panose="020B0500040200020003" pitchFamily="34" charset="-34"/>
              </a:rPr>
              <a:t>เช่น</a:t>
            </a:r>
            <a:r>
              <a:rPr sz="2400" dirty="0">
                <a:latin typeface="FC Iconic" panose="020B0500040200020003" pitchFamily="34" charset="-34"/>
                <a:cs typeface="FC Iconic" panose="020B0500040200020003" pitchFamily="34" charset="-34"/>
              </a:rPr>
              <a:t> Gemini, Google Maps </a:t>
            </a:r>
            <a:r>
              <a:rPr sz="2400" dirty="0" err="1">
                <a:latin typeface="FC Iconic" panose="020B0500040200020003" pitchFamily="34" charset="-34"/>
                <a:cs typeface="FC Iconic" panose="020B0500040200020003" pitchFamily="34" charset="-34"/>
              </a:rPr>
              <a:t>และ</a:t>
            </a:r>
            <a:r>
              <a:rPr sz="2400" dirty="0">
                <a:latin typeface="FC Iconic" panose="020B0500040200020003" pitchFamily="34" charset="-34"/>
                <a:cs typeface="FC Iconic" panose="020B0500040200020003" pitchFamily="34" charset="-34"/>
              </a:rPr>
              <a:t> OAuth </a:t>
            </a:r>
            <a:r>
              <a:rPr sz="2400" dirty="0" err="1">
                <a:latin typeface="FC Iconic" panose="020B0500040200020003" pitchFamily="34" charset="-34"/>
                <a:cs typeface="FC Iconic" panose="020B0500040200020003" pitchFamily="34" charset="-34"/>
              </a:rPr>
              <a:t>ช่วยให้เห็นว่าฟีเจอร์</a:t>
            </a:r>
            <a:r>
              <a:rPr sz="2400" dirty="0">
                <a:latin typeface="FC Iconic" panose="020B0500040200020003" pitchFamily="34" charset="-34"/>
                <a:cs typeface="FC Iconic" panose="020B0500040200020003" pitchFamily="34" charset="-34"/>
              </a:rPr>
              <a:t> Phase 1 </a:t>
            </a:r>
            <a:r>
              <a:rPr sz="2400" dirty="0" err="1">
                <a:latin typeface="FC Iconic" panose="020B0500040200020003" pitchFamily="34" charset="-34"/>
                <a:cs typeface="FC Iconic" panose="020B0500040200020003" pitchFamily="34" charset="-34"/>
              </a:rPr>
              <a:t>อยู่ที่ใดในโค้ดและ</a:t>
            </a:r>
            <a:r>
              <a:rPr sz="2400" dirty="0">
                <a:latin typeface="FC Iconic" panose="020B0500040200020003" pitchFamily="34" charset="-34"/>
                <a:cs typeface="FC Iconic" panose="020B0500040200020003" pitchFamily="34" charset="-34"/>
              </a:rPr>
              <a:t> API </a:t>
            </a:r>
            <a:r>
              <a:rPr sz="2400" dirty="0" err="1">
                <a:latin typeface="FC Iconic" panose="020B0500040200020003" pitchFamily="34" charset="-34"/>
                <a:cs typeface="FC Iconic" panose="020B0500040200020003" pitchFamily="34" charset="-34"/>
              </a:rPr>
              <a:t>ใดเชื่อมข้ามพอร์ทัล</a:t>
            </a:r>
            <a:endParaRPr sz="2400" dirty="0">
              <a:latin typeface="FC Iconic" panose="020B0500040200020003" pitchFamily="34" charset="-34"/>
              <a:cs typeface="FC Iconic" panose="020B0500040200020003" pitchFamily="34" charset="-34"/>
            </a:endParaRPr>
          </a:p>
          <a:p>
            <a:pPr marL="342900" indent="-342900">
              <a:buFont typeface="Arial" panose="020B0604020202020204" pitchFamily="34" charset="0"/>
              <a:buChar char="•"/>
              <a:defRPr sz="1800" b="0">
                <a:latin typeface="FC Iconic"/>
              </a:defRPr>
            </a:pPr>
            <a:r>
              <a:rPr sz="2400" dirty="0">
                <a:latin typeface="FC Iconic" panose="020B0500040200020003" pitchFamily="34" charset="-34"/>
                <a:cs typeface="FC Iconic" panose="020B0500040200020003" pitchFamily="34" charset="-34"/>
              </a:rPr>
              <a:t>Patient: route </a:t>
            </a:r>
            <a:r>
              <a:rPr sz="2400" dirty="0" err="1">
                <a:latin typeface="FC Iconic" panose="020B0500040200020003" pitchFamily="34" charset="-34"/>
                <a:cs typeface="FC Iconic" panose="020B0500040200020003" pitchFamily="34" charset="-34"/>
              </a:rPr>
              <a:t>แยกต่อโมดูล</a:t>
            </a:r>
            <a:r>
              <a:rPr sz="2400" dirty="0">
                <a:latin typeface="FC Iconic" panose="020B0500040200020003" pitchFamily="34" charset="-34"/>
                <a:cs typeface="FC Iconic" panose="020B0500040200020003" pitchFamily="34" charset="-34"/>
              </a:rPr>
              <a:t> → REST /</a:t>
            </a:r>
            <a:r>
              <a:rPr sz="2400" dirty="0" err="1">
                <a:latin typeface="FC Iconic" panose="020B0500040200020003" pitchFamily="34" charset="-34"/>
                <a:cs typeface="FC Iconic" panose="020B0500040200020003" pitchFamily="34" charset="-34"/>
              </a:rPr>
              <a:t>api</a:t>
            </a:r>
            <a:r>
              <a:rPr sz="2400" dirty="0">
                <a:latin typeface="FC Iconic" panose="020B0500040200020003" pitchFamily="34" charset="-34"/>
                <a:cs typeface="FC Iconic" panose="020B0500040200020003" pitchFamily="34" charset="-34"/>
              </a:rPr>
              <a:t>/*</a:t>
            </a:r>
          </a:p>
          <a:p>
            <a:pPr marL="342900" indent="-342900">
              <a:buFont typeface="Arial" panose="020B0604020202020204" pitchFamily="34" charset="0"/>
              <a:buChar char="•"/>
              <a:defRPr sz="1800" b="0">
                <a:latin typeface="FC Iconic"/>
              </a:defRPr>
            </a:pPr>
            <a:r>
              <a:rPr sz="2400" dirty="0">
                <a:latin typeface="FC Iconic" panose="020B0500040200020003" pitchFamily="34" charset="-34"/>
                <a:cs typeface="FC Iconic" panose="020B0500040200020003" pitchFamily="34" charset="-34"/>
              </a:rPr>
              <a:t>Doctor: nginx :8080 → static + proxy API + WebSocket</a:t>
            </a:r>
          </a:p>
          <a:p>
            <a:pPr marL="342900" indent="-342900">
              <a:buFont typeface="Arial" panose="020B0604020202020204" pitchFamily="34" charset="0"/>
              <a:buChar char="•"/>
              <a:defRPr sz="1800" b="0">
                <a:latin typeface="FC Iconic"/>
              </a:defRPr>
            </a:pPr>
            <a:r>
              <a:rPr sz="2400" dirty="0">
                <a:latin typeface="FC Iconic" panose="020B0500040200020003" pitchFamily="34" charset="-34"/>
                <a:cs typeface="FC Iconic" panose="020B0500040200020003" pitchFamily="34" charset="-34"/>
              </a:rPr>
              <a:t>Meeting: REST + Socket.IO — URL </a:t>
            </a:r>
            <a:r>
              <a:rPr sz="2400" dirty="0" err="1">
                <a:latin typeface="FC Iconic" panose="020B0500040200020003" pitchFamily="34" charset="-34"/>
                <a:cs typeface="FC Iconic" panose="020B0500040200020003" pitchFamily="34" charset="-34"/>
              </a:rPr>
              <a:t>ต้องตรงทุกพอร์ทัล</a:t>
            </a:r>
            <a:endParaRPr sz="2400" dirty="0">
              <a:latin typeface="FC Iconic" panose="020B0500040200020003" pitchFamily="34" charset="-34"/>
              <a:cs typeface="FC Iconic" panose="020B0500040200020003" pitchFamily="34" charset="-34"/>
            </a:endParaRPr>
          </a:p>
          <a:p>
            <a:pPr marL="342900" indent="-342900">
              <a:buFont typeface="Arial" panose="020B0604020202020204" pitchFamily="34" charset="0"/>
              <a:buChar char="•"/>
              <a:defRPr sz="1800" b="0">
                <a:latin typeface="FC Iconic"/>
              </a:defRPr>
            </a:pPr>
            <a:r>
              <a:rPr sz="2400" dirty="0">
                <a:latin typeface="FC Iconic" panose="020B0500040200020003" pitchFamily="34" charset="-34"/>
                <a:cs typeface="FC Iconic" panose="020B0500040200020003" pitchFamily="34" charset="-34"/>
              </a:rPr>
              <a:t>Gemini: </a:t>
            </a:r>
            <a:r>
              <a:rPr sz="2400" dirty="0" err="1">
                <a:latin typeface="FC Iconic" panose="020B0500040200020003" pitchFamily="34" charset="-34"/>
                <a:cs typeface="FC Iconic" panose="020B0500040200020003" pitchFamily="34" charset="-34"/>
              </a:rPr>
              <a:t>เรียกจาก</a:t>
            </a:r>
            <a:r>
              <a:rPr sz="2400" dirty="0">
                <a:latin typeface="FC Iconic" panose="020B0500040200020003" pitchFamily="34" charset="-34"/>
                <a:cs typeface="FC Iconic" panose="020B0500040200020003" pitchFamily="34" charset="-34"/>
              </a:rPr>
              <a:t> server </a:t>
            </a:r>
            <a:r>
              <a:rPr sz="2400" dirty="0" err="1">
                <a:latin typeface="FC Iconic" panose="020B0500040200020003" pitchFamily="34" charset="-34"/>
                <a:cs typeface="FC Iconic" panose="020B0500040200020003" pitchFamily="34" charset="-34"/>
              </a:rPr>
              <a:t>เท่านั้น</a:t>
            </a:r>
            <a:r>
              <a:rPr sz="2400" dirty="0">
                <a:latin typeface="FC Iconic" panose="020B0500040200020003" pitchFamily="34" charset="-34"/>
                <a:cs typeface="FC Iconic" panose="020B0500040200020003" pitchFamily="34" charset="-34"/>
              </a:rPr>
              <a:t> </a:t>
            </a:r>
            <a:r>
              <a:rPr sz="2400" dirty="0" err="1">
                <a:latin typeface="FC Iconic" panose="020B0500040200020003" pitchFamily="34" charset="-34"/>
                <a:cs typeface="FC Iconic" panose="020B0500040200020003" pitchFamily="34" charset="-34"/>
              </a:rPr>
              <a:t>ไม่</a:t>
            </a:r>
            <a:r>
              <a:rPr sz="2400" dirty="0">
                <a:latin typeface="FC Iconic" panose="020B0500040200020003" pitchFamily="34" charset="-34"/>
                <a:cs typeface="FC Iconic" panose="020B0500040200020003" pitchFamily="34" charset="-34"/>
              </a:rPr>
              <a:t> expose API key </a:t>
            </a:r>
            <a:r>
              <a:rPr sz="2400" dirty="0" err="1">
                <a:latin typeface="FC Iconic" panose="020B0500040200020003" pitchFamily="34" charset="-34"/>
                <a:cs typeface="FC Iconic" panose="020B0500040200020003" pitchFamily="34" charset="-34"/>
              </a:rPr>
              <a:t>ฝั่ง</a:t>
            </a:r>
            <a:r>
              <a:rPr sz="2400" dirty="0">
                <a:latin typeface="FC Iconic" panose="020B0500040200020003" pitchFamily="34" charset="-34"/>
                <a:cs typeface="FC Iconic" panose="020B0500040200020003" pitchFamily="34" charset="-34"/>
              </a:rPr>
              <a:t> client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20040" y="109728"/>
            <a:ext cx="5080237" cy="584775"/>
          </a:xfrm>
          <a:prstGeom prst="rect">
            <a:avLst/>
          </a:prstGeom>
          <a:noFill/>
        </p:spPr>
        <p:txBody>
          <a:bodyPr wrap="none">
            <a:spAutoFit/>
          </a:bodyPr>
          <a:lstStyle/>
          <a:p>
            <a:pPr>
              <a:defRPr sz="3200" b="1">
                <a:latin typeface="FC Iconic"/>
              </a:defRPr>
            </a:pPr>
            <a:r>
              <a:rPr dirty="0" err="1">
                <a:latin typeface="FC Iconic" panose="020B0500040200020003" pitchFamily="34" charset="-34"/>
                <a:cs typeface="FC Iconic" panose="020B0500040200020003" pitchFamily="34" charset="-34"/>
              </a:rPr>
              <a:t>บทที่</a:t>
            </a:r>
            <a:r>
              <a:rPr dirty="0">
                <a:latin typeface="FC Iconic" panose="020B0500040200020003" pitchFamily="34" charset="-34"/>
                <a:cs typeface="FC Iconic" panose="020B0500040200020003" pitchFamily="34" charset="-34"/>
              </a:rPr>
              <a:t> 3 — </a:t>
            </a:r>
            <a:r>
              <a:rPr dirty="0" err="1">
                <a:latin typeface="FC Iconic" panose="020B0500040200020003" pitchFamily="34" charset="-34"/>
                <a:cs typeface="FC Iconic" panose="020B0500040200020003" pitchFamily="34" charset="-34"/>
              </a:rPr>
              <a:t>สถาปัตยกรรมระบบ</a:t>
            </a:r>
            <a:r>
              <a:rPr dirty="0">
                <a:latin typeface="FC Iconic" panose="020B0500040200020003" pitchFamily="34" charset="-34"/>
                <a:cs typeface="FC Iconic" panose="020B0500040200020003" pitchFamily="34" charset="-34"/>
              </a:rPr>
              <a:t> (</a:t>
            </a:r>
            <a:r>
              <a:rPr dirty="0" err="1">
                <a:latin typeface="FC Iconic" panose="020B0500040200020003" pitchFamily="34" charset="-34"/>
                <a:cs typeface="FC Iconic" panose="020B0500040200020003" pitchFamily="34" charset="-34"/>
              </a:rPr>
              <a:t>ชั้นงาน</a:t>
            </a:r>
            <a:r>
              <a:rPr dirty="0">
                <a:latin typeface="FC Iconic" panose="020B0500040200020003" pitchFamily="34" charset="-34"/>
                <a:cs typeface="FC Iconic" panose="020B0500040200020003" pitchFamily="34" charset="-34"/>
              </a:rPr>
              <a:t>)</a:t>
            </a:r>
          </a:p>
        </p:txBody>
      </p:sp>
      <p:pic>
        <p:nvPicPr>
          <p:cNvPr id="3" name="Picture 2" descr="03-3-system-architecture.png"/>
          <p:cNvPicPr>
            <a:picLocks noChangeAspect="1"/>
          </p:cNvPicPr>
          <p:nvPr/>
        </p:nvPicPr>
        <p:blipFill>
          <a:blip r:embed="rId3"/>
          <a:stretch>
            <a:fillRect/>
          </a:stretch>
        </p:blipFill>
        <p:spPr>
          <a:xfrm>
            <a:off x="320040" y="777240"/>
            <a:ext cx="9560560" cy="5756521"/>
          </a:xfrm>
          <a:prstGeom prst="rect">
            <a:avLst/>
          </a:prstGeom>
        </p:spPr>
      </p:pic>
      <p:sp>
        <p:nvSpPr>
          <p:cNvPr id="4" name="TextBox 3"/>
          <p:cNvSpPr txBox="1"/>
          <p:nvPr/>
        </p:nvSpPr>
        <p:spPr>
          <a:xfrm>
            <a:off x="9050867" y="1530774"/>
            <a:ext cx="3031066" cy="4524315"/>
          </a:xfrm>
          <a:prstGeom prst="rect">
            <a:avLst/>
          </a:prstGeom>
          <a:noFill/>
        </p:spPr>
        <p:txBody>
          <a:bodyPr wrap="square">
            <a:spAutoFit/>
          </a:bodyPr>
          <a:lstStyle/>
          <a:p>
            <a:pPr marL="285750" indent="-285750">
              <a:buFont typeface="Arial" panose="020B0604020202020204" pitchFamily="34" charset="0"/>
              <a:buChar char="•"/>
              <a:defRPr sz="1800" b="0">
                <a:latin typeface="FC Iconic"/>
              </a:defRPr>
            </a:pPr>
            <a:r>
              <a:rPr sz="2400" dirty="0" err="1">
                <a:latin typeface="FC Iconic" panose="020B0500040200020003" pitchFamily="34" charset="-34"/>
                <a:cs typeface="FC Iconic" panose="020B0500040200020003" pitchFamily="34" charset="-34"/>
              </a:rPr>
              <a:t>ทุก</a:t>
            </a:r>
            <a:r>
              <a:rPr sz="2400" dirty="0">
                <a:latin typeface="FC Iconic" panose="020B0500040200020003" pitchFamily="34" charset="-34"/>
                <a:cs typeface="FC Iconic" panose="020B0500040200020003" pitchFamily="34" charset="-34"/>
              </a:rPr>
              <a:t> request </a:t>
            </a:r>
            <a:r>
              <a:rPr sz="2400" dirty="0" err="1">
                <a:latin typeface="FC Iconic" panose="020B0500040200020003" pitchFamily="34" charset="-34"/>
                <a:cs typeface="FC Iconic" panose="020B0500040200020003" pitchFamily="34" charset="-34"/>
              </a:rPr>
              <a:t>และ</a:t>
            </a:r>
            <a:r>
              <a:rPr sz="2400" dirty="0">
                <a:latin typeface="FC Iconic" panose="020B0500040200020003" pitchFamily="34" charset="-34"/>
                <a:cs typeface="FC Iconic" panose="020B0500040200020003" pitchFamily="34" charset="-34"/>
              </a:rPr>
              <a:t> event </a:t>
            </a:r>
            <a:r>
              <a:rPr sz="2400" dirty="0" err="1">
                <a:latin typeface="FC Iconic" panose="020B0500040200020003" pitchFamily="34" charset="-34"/>
                <a:cs typeface="FC Iconic" panose="020B0500040200020003" pitchFamily="34" charset="-34"/>
              </a:rPr>
              <a:t>ในระบบต้องผ่านชั้นเหล่านี้</a:t>
            </a:r>
            <a:endParaRPr sz="2400" dirty="0">
              <a:latin typeface="FC Iconic" panose="020B0500040200020003" pitchFamily="34" charset="-34"/>
              <a:cs typeface="FC Iconic" panose="020B0500040200020003" pitchFamily="34" charset="-34"/>
            </a:endParaRPr>
          </a:p>
          <a:p>
            <a:pPr marL="285750" indent="-285750">
              <a:buFont typeface="Arial" panose="020B0604020202020204" pitchFamily="34" charset="0"/>
              <a:buChar char="•"/>
              <a:defRPr sz="1800" b="0">
                <a:latin typeface="FC Iconic"/>
              </a:defRPr>
            </a:pPr>
            <a:r>
              <a:rPr sz="2400" dirty="0">
                <a:latin typeface="FC Iconic" panose="020B0500040200020003" pitchFamily="34" charset="-34"/>
                <a:cs typeface="FC Iconic" panose="020B0500040200020003" pitchFamily="34" charset="-34"/>
              </a:rPr>
              <a:t>Client: React + </a:t>
            </a:r>
            <a:r>
              <a:rPr sz="2400" dirty="0" err="1">
                <a:latin typeface="FC Iconic" panose="020B0500040200020003" pitchFamily="34" charset="-34"/>
                <a:cs typeface="FC Iconic" panose="020B0500040200020003" pitchFamily="34" charset="-34"/>
              </a:rPr>
              <a:t>Jitsi</a:t>
            </a:r>
            <a:r>
              <a:rPr sz="2400" dirty="0">
                <a:latin typeface="FC Iconic" panose="020B0500040200020003" pitchFamily="34" charset="-34"/>
                <a:cs typeface="FC Iconic" panose="020B0500040200020003" pitchFamily="34" charset="-34"/>
              </a:rPr>
              <a:t> </a:t>
            </a:r>
            <a:r>
              <a:rPr sz="2400" dirty="0" err="1">
                <a:latin typeface="FC Iconic" panose="020B0500040200020003" pitchFamily="34" charset="-34"/>
                <a:cs typeface="FC Iconic" panose="020B0500040200020003" pitchFamily="34" charset="-34"/>
              </a:rPr>
              <a:t>iframe</a:t>
            </a:r>
            <a:r>
              <a:rPr sz="2400" dirty="0">
                <a:latin typeface="FC Iconic" panose="020B0500040200020003" pitchFamily="34" charset="-34"/>
                <a:cs typeface="FC Iconic" panose="020B0500040200020003" pitchFamily="34" charset="-34"/>
              </a:rPr>
              <a:t> + Web Speech (</a:t>
            </a:r>
            <a:r>
              <a:rPr sz="2400" dirty="0" err="1">
                <a:latin typeface="FC Iconic" panose="020B0500040200020003" pitchFamily="34" charset="-34"/>
                <a:cs typeface="FC Iconic" panose="020B0500040200020003" pitchFamily="34" charset="-34"/>
              </a:rPr>
              <a:t>ถ้าเปิด</a:t>
            </a:r>
            <a:r>
              <a:rPr sz="2400" dirty="0">
                <a:latin typeface="FC Iconic" panose="020B0500040200020003" pitchFamily="34" charset="-34"/>
                <a:cs typeface="FC Iconic" panose="020B0500040200020003" pitchFamily="34" charset="-34"/>
              </a:rPr>
              <a:t>)</a:t>
            </a:r>
          </a:p>
          <a:p>
            <a:pPr marL="285750" indent="-285750">
              <a:buFont typeface="Arial" panose="020B0604020202020204" pitchFamily="34" charset="0"/>
              <a:buChar char="•"/>
              <a:defRPr sz="1800" b="0">
                <a:latin typeface="FC Iconic"/>
              </a:defRPr>
            </a:pPr>
            <a:r>
              <a:rPr sz="2400" dirty="0">
                <a:latin typeface="FC Iconic" panose="020B0500040200020003" pitchFamily="34" charset="-34"/>
                <a:cs typeface="FC Iconic" panose="020B0500040200020003" pitchFamily="34" charset="-34"/>
              </a:rPr>
              <a:t>Portal: Express + JWT/session + RBAC</a:t>
            </a:r>
          </a:p>
          <a:p>
            <a:pPr marL="285750" indent="-285750">
              <a:buFont typeface="Arial" panose="020B0604020202020204" pitchFamily="34" charset="0"/>
              <a:buChar char="•"/>
              <a:defRPr sz="1800" b="0">
                <a:latin typeface="FC Iconic"/>
              </a:defRPr>
            </a:pPr>
            <a:r>
              <a:rPr sz="2400" dirty="0">
                <a:latin typeface="FC Iconic" panose="020B0500040200020003" pitchFamily="34" charset="-34"/>
                <a:cs typeface="FC Iconic" panose="020B0500040200020003" pitchFamily="34" charset="-34"/>
              </a:rPr>
              <a:t>Real-time: NOTIFY → Socket.IO (</a:t>
            </a:r>
            <a:r>
              <a:rPr sz="2400" dirty="0" err="1">
                <a:latin typeface="FC Iconic" panose="020B0500040200020003" pitchFamily="34" charset="-34"/>
                <a:cs typeface="FC Iconic" panose="020B0500040200020003" pitchFamily="34" charset="-34"/>
              </a:rPr>
              <a:t>ไม่พึ่ง</a:t>
            </a:r>
            <a:r>
              <a:rPr sz="2400" dirty="0">
                <a:latin typeface="FC Iconic" panose="020B0500040200020003" pitchFamily="34" charset="-34"/>
                <a:cs typeface="FC Iconic" panose="020B0500040200020003" pitchFamily="34" charset="-34"/>
              </a:rPr>
              <a:t> polling </a:t>
            </a:r>
            <a:r>
              <a:rPr sz="2400" dirty="0" err="1">
                <a:latin typeface="FC Iconic" panose="020B0500040200020003" pitchFamily="34" charset="-34"/>
                <a:cs typeface="FC Iconic" panose="020B0500040200020003" pitchFamily="34" charset="-34"/>
              </a:rPr>
              <a:t>อย่างเดียว</a:t>
            </a:r>
            <a:r>
              <a:rPr sz="2400" dirty="0">
                <a:latin typeface="FC Iconic" panose="020B0500040200020003" pitchFamily="34" charset="-34"/>
                <a:cs typeface="FC Iconic" panose="020B0500040200020003" pitchFamily="34" charset="-34"/>
              </a:rPr>
              <a:t>)</a:t>
            </a:r>
          </a:p>
          <a:p>
            <a:pPr marL="285750" indent="-285750">
              <a:buFont typeface="Arial" panose="020B0604020202020204" pitchFamily="34" charset="0"/>
              <a:buChar char="•"/>
              <a:defRPr sz="1800" b="0">
                <a:latin typeface="FC Iconic"/>
              </a:defRPr>
            </a:pPr>
            <a:r>
              <a:rPr sz="2400" dirty="0">
                <a:latin typeface="FC Iconic" panose="020B0500040200020003" pitchFamily="34" charset="-34"/>
                <a:cs typeface="FC Iconic" panose="020B0500040200020003" pitchFamily="34" charset="-34"/>
              </a:rPr>
              <a:t>Data: PostgreSQL 18 + </a:t>
            </a:r>
            <a:r>
              <a:rPr sz="2400" dirty="0" err="1">
                <a:latin typeface="FC Iconic" panose="020B0500040200020003" pitchFamily="34" charset="-34"/>
                <a:cs typeface="FC Iconic" panose="020B0500040200020003" pitchFamily="34" charset="-34"/>
              </a:rPr>
              <a:t>pgvector</a:t>
            </a:r>
            <a:r>
              <a:rPr sz="2400" dirty="0">
                <a:latin typeface="FC Iconic" panose="020B0500040200020003" pitchFamily="34" charset="-34"/>
                <a:cs typeface="FC Iconic" panose="020B0500040200020003" pitchFamily="34" charset="-34"/>
              </a:rPr>
              <a:t> </a:t>
            </a:r>
            <a:r>
              <a:rPr sz="2400" dirty="0" err="1">
                <a:latin typeface="FC Iconic" panose="020B0500040200020003" pitchFamily="34" charset="-34"/>
                <a:cs typeface="FC Iconic" panose="020B0500040200020003" pitchFamily="34" charset="-34"/>
              </a:rPr>
              <a:t>บน</a:t>
            </a:r>
            <a:r>
              <a:rPr sz="2400" dirty="0">
                <a:latin typeface="FC Iconic" panose="020B0500040200020003" pitchFamily="34" charset="-34"/>
                <a:cs typeface="FC Iconic" panose="020B0500040200020003" pitchFamily="34" charset="-34"/>
              </a:rPr>
              <a:t> GCE</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20040" y="109728"/>
            <a:ext cx="5402441" cy="584775"/>
          </a:xfrm>
          <a:prstGeom prst="rect">
            <a:avLst/>
          </a:prstGeom>
          <a:noFill/>
        </p:spPr>
        <p:txBody>
          <a:bodyPr wrap="none">
            <a:spAutoFit/>
          </a:bodyPr>
          <a:lstStyle/>
          <a:p>
            <a:pPr>
              <a:defRPr sz="3200" b="1">
                <a:latin typeface="FC Iconic"/>
              </a:defRPr>
            </a:pPr>
            <a:r>
              <a:rPr dirty="0" err="1">
                <a:latin typeface="FC Iconic" panose="020B0500040200020003" pitchFamily="34" charset="-34"/>
                <a:cs typeface="FC Iconic" panose="020B0500040200020003" pitchFamily="34" charset="-34"/>
              </a:rPr>
              <a:t>บทที่</a:t>
            </a:r>
            <a:r>
              <a:rPr dirty="0">
                <a:latin typeface="FC Iconic" panose="020B0500040200020003" pitchFamily="34" charset="-34"/>
                <a:cs typeface="FC Iconic" panose="020B0500040200020003" pitchFamily="34" charset="-34"/>
              </a:rPr>
              <a:t> 4 — </a:t>
            </a:r>
            <a:r>
              <a:rPr dirty="0" err="1">
                <a:latin typeface="FC Iconic" panose="020B0500040200020003" pitchFamily="34" charset="-34"/>
                <a:cs typeface="FC Iconic" panose="020B0500040200020003" pitchFamily="34" charset="-34"/>
              </a:rPr>
              <a:t>การล็อกอินและการพิสูจน์ตัวตน</a:t>
            </a:r>
            <a:endParaRPr dirty="0">
              <a:latin typeface="FC Iconic" panose="020B0500040200020003" pitchFamily="34" charset="-34"/>
              <a:cs typeface="FC Iconic" panose="020B0500040200020003" pitchFamily="34" charset="-34"/>
            </a:endParaRPr>
          </a:p>
        </p:txBody>
      </p:sp>
      <p:pic>
        <p:nvPicPr>
          <p:cNvPr id="3" name="Picture 2" descr="04-4-login-and-auth-flow.png"/>
          <p:cNvPicPr>
            <a:picLocks noChangeAspect="1"/>
          </p:cNvPicPr>
          <p:nvPr/>
        </p:nvPicPr>
        <p:blipFill>
          <a:blip r:embed="rId3"/>
          <a:stretch>
            <a:fillRect/>
          </a:stretch>
        </p:blipFill>
        <p:spPr>
          <a:xfrm>
            <a:off x="186267" y="574039"/>
            <a:ext cx="8226754" cy="6114627"/>
          </a:xfrm>
          <a:prstGeom prst="rect">
            <a:avLst/>
          </a:prstGeom>
        </p:spPr>
      </p:pic>
      <p:sp>
        <p:nvSpPr>
          <p:cNvPr id="4" name="TextBox 3"/>
          <p:cNvSpPr txBox="1"/>
          <p:nvPr/>
        </p:nvSpPr>
        <p:spPr>
          <a:xfrm>
            <a:off x="7894001" y="1425687"/>
            <a:ext cx="4111732" cy="5262979"/>
          </a:xfrm>
          <a:prstGeom prst="rect">
            <a:avLst/>
          </a:prstGeom>
          <a:noFill/>
        </p:spPr>
        <p:txBody>
          <a:bodyPr wrap="square">
            <a:spAutoFit/>
          </a:bodyPr>
          <a:lstStyle/>
          <a:p>
            <a:pPr marL="342900" indent="-342900">
              <a:buFont typeface="Arial" panose="020B0604020202020204" pitchFamily="34" charset="0"/>
              <a:buChar char="•"/>
              <a:defRPr sz="1800" b="0">
                <a:latin typeface="FC Iconic"/>
              </a:defRPr>
            </a:pPr>
            <a:r>
              <a:rPr sz="2400" dirty="0" err="1">
                <a:latin typeface="FC Iconic" panose="020B0500040200020003" pitchFamily="34" charset="-34"/>
                <a:cs typeface="FC Iconic" panose="020B0500040200020003" pitchFamily="34" charset="-34"/>
              </a:rPr>
              <a:t>การยืนยันตัวตนแยกบทบาท</a:t>
            </a:r>
            <a:r>
              <a:rPr sz="2400" dirty="0">
                <a:latin typeface="FC Iconic" panose="020B0500040200020003" pitchFamily="34" charset="-34"/>
                <a:cs typeface="FC Iconic" panose="020B0500040200020003" pitchFamily="34" charset="-34"/>
              </a:rPr>
              <a:t> patient, doctor </a:t>
            </a:r>
            <a:r>
              <a:rPr sz="2400" dirty="0" err="1">
                <a:latin typeface="FC Iconic" panose="020B0500040200020003" pitchFamily="34" charset="-34"/>
                <a:cs typeface="FC Iconic" panose="020B0500040200020003" pitchFamily="34" charset="-34"/>
              </a:rPr>
              <a:t>และ</a:t>
            </a:r>
            <a:r>
              <a:rPr sz="2400" dirty="0">
                <a:latin typeface="FC Iconic" panose="020B0500040200020003" pitchFamily="34" charset="-34"/>
                <a:cs typeface="FC Iconic" panose="020B0500040200020003" pitchFamily="34" charset="-34"/>
              </a:rPr>
              <a:t> admin </a:t>
            </a:r>
            <a:r>
              <a:rPr sz="2400" dirty="0" err="1">
                <a:latin typeface="FC Iconic" panose="020B0500040200020003" pitchFamily="34" charset="-34"/>
                <a:cs typeface="FC Iconic" panose="020B0500040200020003" pitchFamily="34" charset="-34"/>
              </a:rPr>
              <a:t>และกำหนดสิทธิ์ก่อนเข้า</a:t>
            </a:r>
            <a:r>
              <a:rPr sz="2400" dirty="0">
                <a:latin typeface="FC Iconic" panose="020B0500040200020003" pitchFamily="34" charset="-34"/>
                <a:cs typeface="FC Iconic" panose="020B0500040200020003" pitchFamily="34" charset="-34"/>
              </a:rPr>
              <a:t> route </a:t>
            </a:r>
            <a:r>
              <a:rPr sz="2400" dirty="0" err="1">
                <a:latin typeface="FC Iconic" panose="020B0500040200020003" pitchFamily="34" charset="-34"/>
                <a:cs typeface="FC Iconic" panose="020B0500040200020003" pitchFamily="34" charset="-34"/>
              </a:rPr>
              <a:t>ลึกที่เกี่ยวกับข้อมูลคลินิก</a:t>
            </a:r>
            <a:r>
              <a:rPr sz="2400" dirty="0">
                <a:latin typeface="FC Iconic" panose="020B0500040200020003" pitchFamily="34" charset="-34"/>
                <a:cs typeface="FC Iconic" panose="020B0500040200020003" pitchFamily="34" charset="-34"/>
              </a:rPr>
              <a:t> </a:t>
            </a:r>
            <a:endParaRPr lang="th-TH" sz="2400" dirty="0">
              <a:latin typeface="FC Iconic" panose="020B0500040200020003" pitchFamily="34" charset="-34"/>
              <a:cs typeface="FC Iconic" panose="020B0500040200020003" pitchFamily="34" charset="-34"/>
            </a:endParaRPr>
          </a:p>
          <a:p>
            <a:pPr marL="342900" indent="-342900">
              <a:buFont typeface="Arial" panose="020B0604020202020204" pitchFamily="34" charset="0"/>
              <a:buChar char="•"/>
              <a:defRPr sz="1800" b="0">
                <a:latin typeface="FC Iconic"/>
              </a:defRPr>
            </a:pPr>
            <a:r>
              <a:rPr sz="2400" dirty="0" err="1">
                <a:latin typeface="FC Iconic" panose="020B0500040200020003" pitchFamily="34" charset="-34"/>
                <a:cs typeface="FC Iconic" panose="020B0500040200020003" pitchFamily="34" charset="-34"/>
              </a:rPr>
              <a:t>ใครล็อกอินที่ไหน</a:t>
            </a:r>
            <a:r>
              <a:rPr sz="2400" dirty="0">
                <a:latin typeface="FC Iconic" panose="020B0500040200020003" pitchFamily="34" charset="-34"/>
                <a:cs typeface="FC Iconic" panose="020B0500040200020003" pitchFamily="34" charset="-34"/>
              </a:rPr>
              <a:t> token </a:t>
            </a:r>
            <a:r>
              <a:rPr sz="2400" dirty="0" err="1">
                <a:latin typeface="FC Iconic" panose="020B0500040200020003" pitchFamily="34" charset="-34"/>
                <a:cs typeface="FC Iconic" panose="020B0500040200020003" pitchFamily="34" charset="-34"/>
              </a:rPr>
              <a:t>อยู่ที่ใด</a:t>
            </a:r>
            <a:r>
              <a:rPr sz="2400" dirty="0">
                <a:latin typeface="FC Iconic" panose="020B0500040200020003" pitchFamily="34" charset="-34"/>
                <a:cs typeface="FC Iconic" panose="020B0500040200020003" pitchFamily="34" charset="-34"/>
              </a:rPr>
              <a:t> </a:t>
            </a:r>
            <a:r>
              <a:rPr sz="2400" dirty="0" err="1">
                <a:latin typeface="FC Iconic" panose="020B0500040200020003" pitchFamily="34" charset="-34"/>
                <a:cs typeface="FC Iconic" panose="020B0500040200020003" pitchFamily="34" charset="-34"/>
              </a:rPr>
              <a:t>และแพทย์ใหม่ใช้งานได้เมื่อไหร</a:t>
            </a:r>
            <a:r>
              <a:rPr lang="th-TH" sz="2400" dirty="0">
                <a:latin typeface="FC Iconic" panose="020B0500040200020003" pitchFamily="34" charset="-34"/>
                <a:cs typeface="FC Iconic" panose="020B0500040200020003" pitchFamily="34" charset="-34"/>
              </a:rPr>
              <a:t>่</a:t>
            </a:r>
            <a:endParaRPr sz="2400" dirty="0">
              <a:latin typeface="FC Iconic" panose="020B0500040200020003" pitchFamily="34" charset="-34"/>
              <a:cs typeface="FC Iconic" panose="020B0500040200020003" pitchFamily="34" charset="-34"/>
            </a:endParaRPr>
          </a:p>
          <a:p>
            <a:pPr marL="342900" indent="-342900">
              <a:buFont typeface="Arial" panose="020B0604020202020204" pitchFamily="34" charset="0"/>
              <a:buChar char="•"/>
              <a:defRPr sz="1800" b="0">
                <a:latin typeface="FC Iconic"/>
              </a:defRPr>
            </a:pPr>
            <a:r>
              <a:rPr sz="2400" dirty="0" err="1">
                <a:latin typeface="FC Iconic" panose="020B0500040200020003" pitchFamily="34" charset="-34"/>
                <a:cs typeface="FC Iconic" panose="020B0500040200020003" pitchFamily="34" charset="-34"/>
              </a:rPr>
              <a:t>ผู้ป่วย</a:t>
            </a:r>
            <a:r>
              <a:rPr sz="2400" dirty="0">
                <a:latin typeface="FC Iconic" panose="020B0500040200020003" pitchFamily="34" charset="-34"/>
                <a:cs typeface="FC Iconic" panose="020B0500040200020003" pitchFamily="34" charset="-34"/>
              </a:rPr>
              <a:t>: session/token + Google SSO (</a:t>
            </a:r>
            <a:r>
              <a:rPr sz="2400" dirty="0" err="1">
                <a:latin typeface="FC Iconic" panose="020B0500040200020003" pitchFamily="34" charset="-34"/>
                <a:cs typeface="FC Iconic" panose="020B0500040200020003" pitchFamily="34" charset="-34"/>
              </a:rPr>
              <a:t>ถ้าเปิด</a:t>
            </a:r>
            <a:r>
              <a:rPr sz="2400" dirty="0">
                <a:latin typeface="FC Iconic" panose="020B0500040200020003" pitchFamily="34" charset="-34"/>
                <a:cs typeface="FC Iconic" panose="020B0500040200020003" pitchFamily="34" charset="-34"/>
              </a:rPr>
              <a:t>)</a:t>
            </a:r>
          </a:p>
          <a:p>
            <a:pPr marL="342900" indent="-342900">
              <a:buFont typeface="Arial" panose="020B0604020202020204" pitchFamily="34" charset="0"/>
              <a:buChar char="•"/>
              <a:defRPr sz="1800" b="0">
                <a:latin typeface="FC Iconic"/>
              </a:defRPr>
            </a:pPr>
            <a:r>
              <a:rPr sz="2400" dirty="0" err="1">
                <a:latin typeface="FC Iconic" panose="020B0500040200020003" pitchFamily="34" charset="-34"/>
                <a:cs typeface="FC Iconic" panose="020B0500040200020003" pitchFamily="34" charset="-34"/>
              </a:rPr>
              <a:t>แพทย์</a:t>
            </a:r>
            <a:r>
              <a:rPr sz="2400" dirty="0">
                <a:latin typeface="FC Iconic" panose="020B0500040200020003" pitchFamily="34" charset="-34"/>
                <a:cs typeface="FC Iconic" panose="020B0500040200020003" pitchFamily="34" charset="-34"/>
              </a:rPr>
              <a:t>: JWT + </a:t>
            </a:r>
            <a:r>
              <a:rPr sz="2400" dirty="0" err="1">
                <a:latin typeface="FC Iconic" panose="020B0500040200020003" pitchFamily="34" charset="-34"/>
                <a:cs typeface="FC Iconic" panose="020B0500040200020003" pitchFamily="34" charset="-34"/>
              </a:rPr>
              <a:t>bcrypt</a:t>
            </a:r>
            <a:r>
              <a:rPr sz="2400" dirty="0">
                <a:latin typeface="FC Iconic" panose="020B0500040200020003" pitchFamily="34" charset="-34"/>
                <a:cs typeface="FC Iconic" panose="020B0500040200020003" pitchFamily="34" charset="-34"/>
              </a:rPr>
              <a:t> + </a:t>
            </a:r>
            <a:r>
              <a:rPr sz="2400" dirty="0" err="1">
                <a:latin typeface="FC Iconic" panose="020B0500040200020003" pitchFamily="34" charset="-34"/>
                <a:cs typeface="FC Iconic" panose="020B0500040200020003" pitchFamily="34" charset="-34"/>
              </a:rPr>
              <a:t>ตรวจ</a:t>
            </a:r>
            <a:r>
              <a:rPr sz="2400" dirty="0">
                <a:latin typeface="FC Iconic" panose="020B0500040200020003" pitchFamily="34" charset="-34"/>
                <a:cs typeface="FC Iconic" panose="020B0500040200020003" pitchFamily="34" charset="-34"/>
              </a:rPr>
              <a:t> role </a:t>
            </a:r>
            <a:r>
              <a:rPr sz="2400" dirty="0" err="1">
                <a:latin typeface="FC Iconic" panose="020B0500040200020003" pitchFamily="34" charset="-34"/>
                <a:cs typeface="FC Iconic" panose="020B0500040200020003" pitchFamily="34" charset="-34"/>
              </a:rPr>
              <a:t>ทุก</a:t>
            </a:r>
            <a:r>
              <a:rPr sz="2400" dirty="0">
                <a:latin typeface="FC Iconic" panose="020B0500040200020003" pitchFamily="34" charset="-34"/>
                <a:cs typeface="FC Iconic" panose="020B0500040200020003" pitchFamily="34" charset="-34"/>
              </a:rPr>
              <a:t> API</a:t>
            </a:r>
          </a:p>
          <a:p>
            <a:pPr marL="342900" indent="-342900">
              <a:buFont typeface="Arial" panose="020B0604020202020204" pitchFamily="34" charset="0"/>
              <a:buChar char="•"/>
              <a:defRPr sz="1800" b="0">
                <a:latin typeface="FC Iconic"/>
              </a:defRPr>
            </a:pPr>
            <a:r>
              <a:rPr sz="2400" dirty="0" err="1">
                <a:latin typeface="FC Iconic" panose="020B0500040200020003" pitchFamily="34" charset="-34"/>
                <a:cs typeface="FC Iconic" panose="020B0500040200020003" pitchFamily="34" charset="-34"/>
              </a:rPr>
              <a:t>แพทย์ใหม่</a:t>
            </a:r>
            <a:r>
              <a:rPr sz="2400" dirty="0">
                <a:latin typeface="FC Iconic" panose="020B0500040200020003" pitchFamily="34" charset="-34"/>
                <a:cs typeface="FC Iconic" panose="020B0500040200020003" pitchFamily="34" charset="-34"/>
              </a:rPr>
              <a:t>: </a:t>
            </a:r>
            <a:r>
              <a:rPr sz="2400" dirty="0" err="1">
                <a:latin typeface="FC Iconic" panose="020B0500040200020003" pitchFamily="34" charset="-34"/>
                <a:cs typeface="FC Iconic" panose="020B0500040200020003" pitchFamily="34" charset="-34"/>
              </a:rPr>
              <a:t>รอ</a:t>
            </a:r>
            <a:r>
              <a:rPr sz="2400" dirty="0">
                <a:latin typeface="FC Iconic" panose="020B0500040200020003" pitchFamily="34" charset="-34"/>
                <a:cs typeface="FC Iconic" panose="020B0500040200020003" pitchFamily="34" charset="-34"/>
              </a:rPr>
              <a:t> admin </a:t>
            </a:r>
            <a:r>
              <a:rPr sz="2400" dirty="0" err="1">
                <a:latin typeface="FC Iconic" panose="020B0500040200020003" pitchFamily="34" charset="-34"/>
                <a:cs typeface="FC Iconic" panose="020B0500040200020003" pitchFamily="34" charset="-34"/>
              </a:rPr>
              <a:t>อนุมัติที่</a:t>
            </a:r>
            <a:r>
              <a:rPr sz="2400" dirty="0">
                <a:latin typeface="FC Iconic" panose="020B0500040200020003" pitchFamily="34" charset="-34"/>
                <a:cs typeface="FC Iconic" panose="020B0500040200020003" pitchFamily="34" charset="-34"/>
              </a:rPr>
              <a:t> Manage Doctors</a:t>
            </a:r>
          </a:p>
          <a:p>
            <a:pPr marL="342900" indent="-342900">
              <a:buFont typeface="Arial" panose="020B0604020202020204" pitchFamily="34" charset="0"/>
              <a:buChar char="•"/>
              <a:defRPr sz="1800" b="0">
                <a:latin typeface="FC Iconic"/>
              </a:defRPr>
            </a:pPr>
            <a:r>
              <a:rPr sz="2400" dirty="0">
                <a:latin typeface="FC Iconic" panose="020B0500040200020003" pitchFamily="34" charset="-34"/>
                <a:cs typeface="FC Iconic" panose="020B0500040200020003" pitchFamily="34" charset="-34"/>
              </a:rPr>
              <a:t>PHR </a:t>
            </a:r>
            <a:r>
              <a:rPr sz="2400" dirty="0" err="1">
                <a:latin typeface="FC Iconic" panose="020B0500040200020003" pitchFamily="34" charset="-34"/>
                <a:cs typeface="FC Iconic" panose="020B0500040200020003" pitchFamily="34" charset="-34"/>
              </a:rPr>
              <a:t>โดยแพทย์</a:t>
            </a:r>
            <a:r>
              <a:rPr sz="2400" dirty="0">
                <a:latin typeface="FC Iconic" panose="020B0500040200020003" pitchFamily="34" charset="-34"/>
                <a:cs typeface="FC Iconic" panose="020B0500040200020003" pitchFamily="34" charset="-34"/>
              </a:rPr>
              <a:t>: </a:t>
            </a:r>
            <a:r>
              <a:rPr sz="2400" dirty="0" err="1">
                <a:latin typeface="FC Iconic" panose="020B0500040200020003" pitchFamily="34" charset="-34"/>
                <a:cs typeface="FC Iconic" panose="020B0500040200020003" pitchFamily="34" charset="-34"/>
              </a:rPr>
              <a:t>ต้องมีนัด</a:t>
            </a:r>
            <a:r>
              <a:rPr sz="2400" dirty="0">
                <a:latin typeface="FC Iconic" panose="020B0500040200020003" pitchFamily="34" charset="-34"/>
                <a:cs typeface="FC Iconic" panose="020B0500040200020003" pitchFamily="34" charset="-34"/>
              </a:rPr>
              <a:t> active + audit log</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20040" y="109728"/>
            <a:ext cx="4051109" cy="584775"/>
          </a:xfrm>
          <a:prstGeom prst="rect">
            <a:avLst/>
          </a:prstGeom>
          <a:noFill/>
        </p:spPr>
        <p:txBody>
          <a:bodyPr wrap="none">
            <a:spAutoFit/>
          </a:bodyPr>
          <a:lstStyle/>
          <a:p>
            <a:pPr>
              <a:defRPr sz="3200" b="1">
                <a:latin typeface="FC Iconic"/>
              </a:defRPr>
            </a:pPr>
            <a:r>
              <a:rPr dirty="0" err="1">
                <a:latin typeface="FC Iconic" panose="020B0500040200020003" pitchFamily="34" charset="-34"/>
                <a:cs typeface="FC Iconic" panose="020B0500040200020003" pitchFamily="34" charset="-34"/>
              </a:rPr>
              <a:t>บทที่</a:t>
            </a:r>
            <a:r>
              <a:rPr dirty="0">
                <a:latin typeface="FC Iconic" panose="020B0500040200020003" pitchFamily="34" charset="-34"/>
                <a:cs typeface="FC Iconic" panose="020B0500040200020003" pitchFamily="34" charset="-34"/>
              </a:rPr>
              <a:t> 5 — </a:t>
            </a:r>
            <a:r>
              <a:rPr dirty="0" err="1">
                <a:latin typeface="FC Iconic" panose="020B0500040200020003" pitchFamily="34" charset="-34"/>
                <a:cs typeface="FC Iconic" panose="020B0500040200020003" pitchFamily="34" charset="-34"/>
              </a:rPr>
              <a:t>กระบวนการนัดหมาย</a:t>
            </a:r>
            <a:endParaRPr dirty="0">
              <a:latin typeface="FC Iconic" panose="020B0500040200020003" pitchFamily="34" charset="-34"/>
              <a:cs typeface="FC Iconic" panose="020B0500040200020003" pitchFamily="34" charset="-34"/>
            </a:endParaRPr>
          </a:p>
        </p:txBody>
      </p:sp>
      <p:pic>
        <p:nvPicPr>
          <p:cNvPr id="3" name="Picture 2" descr="05-5-appointment-workflow.png"/>
          <p:cNvPicPr>
            <a:picLocks noChangeAspect="1"/>
          </p:cNvPicPr>
          <p:nvPr/>
        </p:nvPicPr>
        <p:blipFill>
          <a:blip r:embed="rId3"/>
          <a:stretch>
            <a:fillRect/>
          </a:stretch>
        </p:blipFill>
        <p:spPr>
          <a:xfrm>
            <a:off x="320040" y="777240"/>
            <a:ext cx="9820531" cy="5733627"/>
          </a:xfrm>
          <a:prstGeom prst="rect">
            <a:avLst/>
          </a:prstGeom>
        </p:spPr>
      </p:pic>
      <p:sp>
        <p:nvSpPr>
          <p:cNvPr id="4" name="TextBox 3"/>
          <p:cNvSpPr txBox="1"/>
          <p:nvPr/>
        </p:nvSpPr>
        <p:spPr>
          <a:xfrm>
            <a:off x="7953440" y="2027920"/>
            <a:ext cx="4166616" cy="4524315"/>
          </a:xfrm>
          <a:prstGeom prst="rect">
            <a:avLst/>
          </a:prstGeom>
          <a:solidFill>
            <a:schemeClr val="bg1"/>
          </a:solidFill>
        </p:spPr>
        <p:txBody>
          <a:bodyPr wrap="square">
            <a:spAutoFit/>
          </a:bodyPr>
          <a:lstStyle/>
          <a:p>
            <a:pPr marL="342900" indent="-342900">
              <a:buFont typeface="Arial" panose="020B0604020202020204" pitchFamily="34" charset="0"/>
              <a:buChar char="•"/>
              <a:defRPr sz="1800" b="0">
                <a:latin typeface="FC Iconic"/>
              </a:defRPr>
            </a:pPr>
            <a:r>
              <a:rPr sz="2400" dirty="0" err="1">
                <a:latin typeface="FC Iconic" panose="020B0500040200020003" pitchFamily="34" charset="-34"/>
                <a:cs typeface="FC Iconic" panose="020B0500040200020003" pitchFamily="34" charset="-34"/>
              </a:rPr>
              <a:t>ต่อจาก</a:t>
            </a:r>
            <a:r>
              <a:rPr sz="2400" dirty="0">
                <a:latin typeface="FC Iconic" panose="020B0500040200020003" pitchFamily="34" charset="-34"/>
                <a:cs typeface="FC Iconic" panose="020B0500040200020003" pitchFamily="34" charset="-34"/>
              </a:rPr>
              <a:t> auth </a:t>
            </a:r>
            <a:r>
              <a:rPr sz="2400" dirty="0" err="1">
                <a:latin typeface="FC Iconic" panose="020B0500040200020003" pitchFamily="34" charset="-34"/>
                <a:cs typeface="FC Iconic" panose="020B0500040200020003" pitchFamily="34" charset="-34"/>
              </a:rPr>
              <a:t>การจองนัดเชื่อมผู้ป่วย</a:t>
            </a:r>
            <a:r>
              <a:rPr sz="2400" dirty="0">
                <a:latin typeface="FC Iconic" panose="020B0500040200020003" pitchFamily="34" charset="-34"/>
                <a:cs typeface="FC Iconic" panose="020B0500040200020003" pitchFamily="34" charset="-34"/>
              </a:rPr>
              <a:t> </a:t>
            </a:r>
            <a:r>
              <a:rPr sz="2400" dirty="0" err="1">
                <a:latin typeface="FC Iconic" panose="020B0500040200020003" pitchFamily="34" charset="-34"/>
                <a:cs typeface="FC Iconic" panose="020B0500040200020003" pitchFamily="34" charset="-34"/>
              </a:rPr>
              <a:t>แพทย์</a:t>
            </a:r>
            <a:r>
              <a:rPr sz="2400" dirty="0">
                <a:latin typeface="FC Iconic" panose="020B0500040200020003" pitchFamily="34" charset="-34"/>
                <a:cs typeface="FC Iconic" panose="020B0500040200020003" pitchFamily="34" charset="-34"/>
              </a:rPr>
              <a:t> </a:t>
            </a:r>
            <a:r>
              <a:rPr sz="2400" dirty="0" err="1">
                <a:latin typeface="FC Iconic" panose="020B0500040200020003" pitchFamily="34" charset="-34"/>
                <a:cs typeface="FC Iconic" panose="020B0500040200020003" pitchFamily="34" charset="-34"/>
              </a:rPr>
              <a:t>แอดมิน</a:t>
            </a:r>
            <a:r>
              <a:rPr sz="2400" dirty="0">
                <a:latin typeface="FC Iconic" panose="020B0500040200020003" pitchFamily="34" charset="-34"/>
                <a:cs typeface="FC Iconic" panose="020B0500040200020003" pitchFamily="34" charset="-34"/>
              </a:rPr>
              <a:t> </a:t>
            </a:r>
            <a:r>
              <a:rPr sz="2400" dirty="0" err="1">
                <a:latin typeface="FC Iconic" panose="020B0500040200020003" pitchFamily="34" charset="-34"/>
                <a:cs typeface="FC Iconic" panose="020B0500040200020003" pitchFamily="34" charset="-34"/>
              </a:rPr>
              <a:t>และการ</a:t>
            </a:r>
            <a:r>
              <a:rPr sz="2400" dirty="0">
                <a:latin typeface="FC Iconic" panose="020B0500040200020003" pitchFamily="34" charset="-34"/>
                <a:cs typeface="FC Iconic" panose="020B0500040200020003" pitchFamily="34" charset="-34"/>
              </a:rPr>
              <a:t> sync </a:t>
            </a:r>
            <a:r>
              <a:rPr sz="2400" dirty="0" err="1">
                <a:latin typeface="FC Iconic" panose="020B0500040200020003" pitchFamily="34" charset="-34"/>
                <a:cs typeface="FC Iconic" panose="020B0500040200020003" pitchFamily="34" charset="-34"/>
              </a:rPr>
              <a:t>แบบ</a:t>
            </a:r>
            <a:r>
              <a:rPr sz="2400" dirty="0">
                <a:latin typeface="FC Iconic" panose="020B0500040200020003" pitchFamily="34" charset="-34"/>
                <a:cs typeface="FC Iconic" panose="020B0500040200020003" pitchFamily="34" charset="-34"/>
              </a:rPr>
              <a:t> </a:t>
            </a:r>
            <a:r>
              <a:rPr sz="2400" dirty="0" err="1">
                <a:latin typeface="FC Iconic" panose="020B0500040200020003" pitchFamily="34" charset="-34"/>
                <a:cs typeface="FC Iconic" panose="020B0500040200020003" pitchFamily="34" charset="-34"/>
              </a:rPr>
              <a:t>realtime</a:t>
            </a:r>
            <a:r>
              <a:rPr sz="2400" dirty="0">
                <a:latin typeface="FC Iconic" panose="020B0500040200020003" pitchFamily="34" charset="-34"/>
                <a:cs typeface="FC Iconic" panose="020B0500040200020003" pitchFamily="34" charset="-34"/>
              </a:rPr>
              <a:t> </a:t>
            </a:r>
            <a:r>
              <a:rPr sz="2400" dirty="0" err="1">
                <a:latin typeface="FC Iconic" panose="020B0500040200020003" pitchFamily="34" charset="-34"/>
                <a:cs typeface="FC Iconic" panose="020B0500040200020003" pitchFamily="34" charset="-34"/>
              </a:rPr>
              <a:t>เป็นหัวใจของเทเลเมดิซิน</a:t>
            </a:r>
            <a:r>
              <a:rPr sz="2400" dirty="0">
                <a:latin typeface="FC Iconic" panose="020B0500040200020003" pitchFamily="34" charset="-34"/>
                <a:cs typeface="FC Iconic" panose="020B0500040200020003" pitchFamily="34" charset="-34"/>
              </a:rPr>
              <a:t> — </a:t>
            </a:r>
            <a:r>
              <a:rPr sz="2400" dirty="0" err="1">
                <a:latin typeface="FC Iconic" panose="020B0500040200020003" pitchFamily="34" charset="-34"/>
                <a:cs typeface="FC Iconic" panose="020B0500040200020003" pitchFamily="34" charset="-34"/>
              </a:rPr>
              <a:t>ตั้งแต่กรอกอาการจนถึงเข้าประชุมและปิดงาน</a:t>
            </a:r>
            <a:endParaRPr sz="2400" dirty="0">
              <a:latin typeface="FC Iconic" panose="020B0500040200020003" pitchFamily="34" charset="-34"/>
              <a:cs typeface="FC Iconic" panose="020B0500040200020003" pitchFamily="34" charset="-34"/>
            </a:endParaRPr>
          </a:p>
          <a:p>
            <a:pPr marL="342900" indent="-342900">
              <a:buFont typeface="Arial" panose="020B0604020202020204" pitchFamily="34" charset="0"/>
              <a:buChar char="•"/>
              <a:defRPr sz="1800" b="0">
                <a:latin typeface="FC Iconic"/>
              </a:defRPr>
            </a:pPr>
            <a:r>
              <a:rPr sz="2400" dirty="0" err="1">
                <a:latin typeface="FC Iconic" panose="020B0500040200020003" pitchFamily="34" charset="-34"/>
                <a:cs typeface="FC Iconic" panose="020B0500040200020003" pitchFamily="34" charset="-34"/>
              </a:rPr>
              <a:t>สถานะ</a:t>
            </a:r>
            <a:r>
              <a:rPr sz="2400" dirty="0">
                <a:latin typeface="FC Iconic" panose="020B0500040200020003" pitchFamily="34" charset="-34"/>
                <a:cs typeface="FC Iconic" panose="020B0500040200020003" pitchFamily="34" charset="-34"/>
              </a:rPr>
              <a:t>: pending → </a:t>
            </a:r>
            <a:r>
              <a:rPr sz="2400" dirty="0" err="1">
                <a:latin typeface="FC Iconic" panose="020B0500040200020003" pitchFamily="34" charset="-34"/>
                <a:cs typeface="FC Iconic" panose="020B0500040200020003" pitchFamily="34" charset="-34"/>
              </a:rPr>
              <a:t>in_pool</a:t>
            </a:r>
            <a:r>
              <a:rPr sz="2400" dirty="0">
                <a:latin typeface="FC Iconic" panose="020B0500040200020003" pitchFamily="34" charset="-34"/>
                <a:cs typeface="FC Iconic" panose="020B0500040200020003" pitchFamily="34" charset="-34"/>
              </a:rPr>
              <a:t> → assigned → confirmed → </a:t>
            </a:r>
            <a:r>
              <a:rPr sz="2400" dirty="0" err="1">
                <a:latin typeface="FC Iconic" panose="020B0500040200020003" pitchFamily="34" charset="-34"/>
                <a:cs typeface="FC Iconic" panose="020B0500040200020003" pitchFamily="34" charset="-34"/>
              </a:rPr>
              <a:t>in_meeting</a:t>
            </a:r>
            <a:r>
              <a:rPr sz="2400" dirty="0">
                <a:latin typeface="FC Iconic" panose="020B0500040200020003" pitchFamily="34" charset="-34"/>
                <a:cs typeface="FC Iconic" panose="020B0500040200020003" pitchFamily="34" charset="-34"/>
              </a:rPr>
              <a:t> → completed</a:t>
            </a:r>
          </a:p>
          <a:p>
            <a:pPr marL="342900" indent="-342900">
              <a:buFont typeface="Arial" panose="020B0604020202020204" pitchFamily="34" charset="0"/>
              <a:buChar char="•"/>
              <a:defRPr sz="1800" b="0">
                <a:latin typeface="FC Iconic"/>
              </a:defRPr>
            </a:pPr>
            <a:r>
              <a:rPr sz="2400" dirty="0">
                <a:latin typeface="FC Iconic" panose="020B0500040200020003" pitchFamily="34" charset="-34"/>
                <a:cs typeface="FC Iconic" panose="020B0500040200020003" pitchFamily="34" charset="-34"/>
              </a:rPr>
              <a:t>Pool: </a:t>
            </a:r>
            <a:r>
              <a:rPr sz="2400" dirty="0" err="1">
                <a:latin typeface="FC Iconic" panose="020B0500040200020003" pitchFamily="34" charset="-34"/>
                <a:cs typeface="FC Iconic" panose="020B0500040200020003" pitchFamily="34" charset="-34"/>
              </a:rPr>
              <a:t>แอดมิน</a:t>
            </a:r>
            <a:r>
              <a:rPr sz="2400" dirty="0">
                <a:latin typeface="FC Iconic" panose="020B0500040200020003" pitchFamily="34" charset="-34"/>
                <a:cs typeface="FC Iconic" panose="020B0500040200020003" pitchFamily="34" charset="-34"/>
              </a:rPr>
              <a:t>/</a:t>
            </a:r>
            <a:r>
              <a:rPr sz="2400" dirty="0" err="1">
                <a:latin typeface="FC Iconic" panose="020B0500040200020003" pitchFamily="34" charset="-34"/>
                <a:cs typeface="FC Iconic" panose="020B0500040200020003" pitchFamily="34" charset="-34"/>
              </a:rPr>
              <a:t>แพทย์มอบหมาย</a:t>
            </a:r>
            <a:r>
              <a:rPr sz="2400" dirty="0">
                <a:latin typeface="FC Iconic" panose="020B0500040200020003" pitchFamily="34" charset="-34"/>
                <a:cs typeface="FC Iconic" panose="020B0500040200020003" pitchFamily="34" charset="-34"/>
              </a:rPr>
              <a:t> + </a:t>
            </a:r>
            <a:r>
              <a:rPr sz="2400" dirty="0" err="1">
                <a:latin typeface="FC Iconic" panose="020B0500040200020003" pitchFamily="34" charset="-34"/>
                <a:cs typeface="FC Iconic" panose="020B0500040200020003" pitchFamily="34" charset="-34"/>
              </a:rPr>
              <a:t>แจ้งเตือน</a:t>
            </a:r>
            <a:endParaRPr sz="2400" dirty="0">
              <a:latin typeface="FC Iconic" panose="020B0500040200020003" pitchFamily="34" charset="-34"/>
              <a:cs typeface="FC Iconic" panose="020B0500040200020003" pitchFamily="34" charset="-34"/>
            </a:endParaRPr>
          </a:p>
          <a:p>
            <a:pPr marL="342900" indent="-342900">
              <a:buFont typeface="Arial" panose="020B0604020202020204" pitchFamily="34" charset="0"/>
              <a:buChar char="•"/>
              <a:defRPr sz="1800" b="0">
                <a:latin typeface="FC Iconic"/>
              </a:defRPr>
            </a:pPr>
            <a:r>
              <a:rPr sz="2400" dirty="0">
                <a:latin typeface="FC Iconic" panose="020B0500040200020003" pitchFamily="34" charset="-34"/>
                <a:cs typeface="FC Iconic" panose="020B0500040200020003" pitchFamily="34" charset="-34"/>
              </a:rPr>
              <a:t>Realtime: NOTIFY → Socket.IO </a:t>
            </a:r>
            <a:r>
              <a:rPr sz="2400" dirty="0" err="1">
                <a:latin typeface="FC Iconic" panose="020B0500040200020003" pitchFamily="34" charset="-34"/>
                <a:cs typeface="FC Iconic" panose="020B0500040200020003" pitchFamily="34" charset="-34"/>
              </a:rPr>
              <a:t>อัปเดตคิว</a:t>
            </a:r>
            <a:endParaRPr sz="2400" dirty="0">
              <a:latin typeface="FC Iconic" panose="020B0500040200020003" pitchFamily="34" charset="-34"/>
              <a:cs typeface="FC Iconic" panose="020B0500040200020003" pitchFamily="34" charset="-34"/>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20040" y="109728"/>
            <a:ext cx="5718938" cy="584775"/>
          </a:xfrm>
          <a:prstGeom prst="rect">
            <a:avLst/>
          </a:prstGeom>
          <a:noFill/>
        </p:spPr>
        <p:txBody>
          <a:bodyPr wrap="none">
            <a:spAutoFit/>
          </a:bodyPr>
          <a:lstStyle/>
          <a:p>
            <a:pPr>
              <a:defRPr sz="3200" b="1">
                <a:latin typeface="FC Iconic"/>
              </a:defRPr>
            </a:pPr>
            <a:r>
              <a:rPr dirty="0" err="1">
                <a:latin typeface="FC Iconic" panose="020B0500040200020003" pitchFamily="34" charset="-34"/>
                <a:cs typeface="FC Iconic" panose="020B0500040200020003" pitchFamily="34" charset="-34"/>
              </a:rPr>
              <a:t>บทที่</a:t>
            </a:r>
            <a:r>
              <a:rPr dirty="0">
                <a:latin typeface="FC Iconic" panose="020B0500040200020003" pitchFamily="34" charset="-34"/>
                <a:cs typeface="FC Iconic" panose="020B0500040200020003" pitchFamily="34" charset="-34"/>
              </a:rPr>
              <a:t> 6 — Pipeline </a:t>
            </a:r>
            <a:r>
              <a:rPr dirty="0" err="1">
                <a:latin typeface="FC Iconic" panose="020B0500040200020003" pitchFamily="34" charset="-34"/>
                <a:cs typeface="FC Iconic" panose="020B0500040200020003" pitchFamily="34" charset="-34"/>
              </a:rPr>
              <a:t>การประชุมและ</a:t>
            </a:r>
            <a:r>
              <a:rPr dirty="0">
                <a:latin typeface="FC Iconic" panose="020B0500040200020003" pitchFamily="34" charset="-34"/>
                <a:cs typeface="FC Iconic" panose="020B0500040200020003" pitchFamily="34" charset="-34"/>
              </a:rPr>
              <a:t> AI </a:t>
            </a:r>
            <a:r>
              <a:rPr dirty="0" err="1">
                <a:latin typeface="FC Iconic" panose="020B0500040200020003" pitchFamily="34" charset="-34"/>
                <a:cs typeface="FC Iconic" panose="020B0500040200020003" pitchFamily="34" charset="-34"/>
              </a:rPr>
              <a:t>คลินิก</a:t>
            </a:r>
            <a:endParaRPr dirty="0">
              <a:latin typeface="FC Iconic" panose="020B0500040200020003" pitchFamily="34" charset="-34"/>
              <a:cs typeface="FC Iconic" panose="020B0500040200020003" pitchFamily="34" charset="-34"/>
            </a:endParaRPr>
          </a:p>
        </p:txBody>
      </p:sp>
      <p:pic>
        <p:nvPicPr>
          <p:cNvPr id="3" name="Picture 2" descr="06-6-ai-meeting-pipeline.png"/>
          <p:cNvPicPr>
            <a:picLocks noChangeAspect="1"/>
          </p:cNvPicPr>
          <p:nvPr/>
        </p:nvPicPr>
        <p:blipFill>
          <a:blip r:embed="rId3"/>
          <a:stretch>
            <a:fillRect/>
          </a:stretch>
        </p:blipFill>
        <p:spPr>
          <a:xfrm>
            <a:off x="141097" y="694502"/>
            <a:ext cx="11795761" cy="6158891"/>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20040" y="109728"/>
            <a:ext cx="4975849" cy="584775"/>
          </a:xfrm>
          <a:prstGeom prst="rect">
            <a:avLst/>
          </a:prstGeom>
          <a:noFill/>
        </p:spPr>
        <p:txBody>
          <a:bodyPr wrap="none">
            <a:spAutoFit/>
          </a:bodyPr>
          <a:lstStyle/>
          <a:p>
            <a:pPr>
              <a:defRPr sz="3200" b="1">
                <a:latin typeface="FC Iconic"/>
              </a:defRPr>
            </a:pPr>
            <a:r>
              <a:rPr dirty="0" err="1">
                <a:latin typeface="FC Iconic" panose="020B0500040200020003" pitchFamily="34" charset="-34"/>
                <a:cs typeface="FC Iconic" panose="020B0500040200020003" pitchFamily="34" charset="-34"/>
              </a:rPr>
              <a:t>บทที่</a:t>
            </a:r>
            <a:r>
              <a:rPr dirty="0">
                <a:latin typeface="FC Iconic" panose="020B0500040200020003" pitchFamily="34" charset="-34"/>
                <a:cs typeface="FC Iconic" panose="020B0500040200020003" pitchFamily="34" charset="-34"/>
              </a:rPr>
              <a:t> 7 — Realtime </a:t>
            </a:r>
            <a:r>
              <a:rPr dirty="0" err="1">
                <a:latin typeface="FC Iconic" panose="020B0500040200020003" pitchFamily="34" charset="-34"/>
                <a:cs typeface="FC Iconic" panose="020B0500040200020003" pitchFamily="34" charset="-34"/>
              </a:rPr>
              <a:t>และการแจ้งเตือน</a:t>
            </a:r>
            <a:endParaRPr dirty="0">
              <a:latin typeface="FC Iconic" panose="020B0500040200020003" pitchFamily="34" charset="-34"/>
              <a:cs typeface="FC Iconic" panose="020B0500040200020003" pitchFamily="34" charset="-34"/>
            </a:endParaRPr>
          </a:p>
        </p:txBody>
      </p:sp>
      <p:pic>
        <p:nvPicPr>
          <p:cNvPr id="3" name="Picture 2" descr="07-7-realtime-and-notifications.png"/>
          <p:cNvPicPr>
            <a:picLocks noChangeAspect="1"/>
          </p:cNvPicPr>
          <p:nvPr/>
        </p:nvPicPr>
        <p:blipFill>
          <a:blip r:embed="rId3"/>
          <a:stretch>
            <a:fillRect/>
          </a:stretch>
        </p:blipFill>
        <p:spPr>
          <a:xfrm>
            <a:off x="320040" y="777240"/>
            <a:ext cx="8905108" cy="5750560"/>
          </a:xfrm>
          <a:prstGeom prst="rect">
            <a:avLst/>
          </a:prstGeom>
        </p:spPr>
      </p:pic>
      <p:sp>
        <p:nvSpPr>
          <p:cNvPr id="4" name="TextBox 3"/>
          <p:cNvSpPr txBox="1"/>
          <p:nvPr/>
        </p:nvSpPr>
        <p:spPr>
          <a:xfrm>
            <a:off x="9225148" y="746629"/>
            <a:ext cx="2920735" cy="6001643"/>
          </a:xfrm>
          <a:prstGeom prst="rect">
            <a:avLst/>
          </a:prstGeom>
          <a:noFill/>
        </p:spPr>
        <p:txBody>
          <a:bodyPr wrap="square">
            <a:spAutoFit/>
          </a:bodyPr>
          <a:lstStyle/>
          <a:p>
            <a:pPr marL="342900" indent="-342900">
              <a:buFont typeface="Arial" panose="020B0604020202020204" pitchFamily="34" charset="0"/>
              <a:buChar char="•"/>
              <a:defRPr sz="1800" b="0">
                <a:latin typeface="FC Iconic"/>
              </a:defRPr>
            </a:pPr>
            <a:r>
              <a:rPr sz="2400" dirty="0" err="1">
                <a:latin typeface="FC Iconic" panose="020B0500040200020003" pitchFamily="34" charset="-34"/>
                <a:cs typeface="FC Iconic" panose="020B0500040200020003" pitchFamily="34" charset="-34"/>
              </a:rPr>
              <a:t>เชื่อม</a:t>
            </a:r>
            <a:r>
              <a:rPr sz="2400" dirty="0">
                <a:latin typeface="FC Iconic" panose="020B0500040200020003" pitchFamily="34" charset="-34"/>
                <a:cs typeface="FC Iconic" panose="020B0500040200020003" pitchFamily="34" charset="-34"/>
              </a:rPr>
              <a:t> appointment </a:t>
            </a:r>
            <a:r>
              <a:rPr sz="2400" dirty="0" err="1">
                <a:latin typeface="FC Iconic" panose="020B0500040200020003" pitchFamily="34" charset="-34"/>
                <a:cs typeface="FC Iconic" panose="020B0500040200020003" pitchFamily="34" charset="-34"/>
              </a:rPr>
              <a:t>และ</a:t>
            </a:r>
            <a:r>
              <a:rPr sz="2400" dirty="0">
                <a:latin typeface="FC Iconic" panose="020B0500040200020003" pitchFamily="34" charset="-34"/>
                <a:cs typeface="FC Iconic" panose="020B0500040200020003" pitchFamily="34" charset="-34"/>
              </a:rPr>
              <a:t> meeting </a:t>
            </a:r>
            <a:r>
              <a:rPr sz="2400" dirty="0" err="1">
                <a:latin typeface="FC Iconic" panose="020B0500040200020003" pitchFamily="34" charset="-34"/>
                <a:cs typeface="FC Iconic" panose="020B0500040200020003" pitchFamily="34" charset="-34"/>
              </a:rPr>
              <a:t>กับ</a:t>
            </a:r>
            <a:r>
              <a:rPr sz="2400" dirty="0">
                <a:latin typeface="FC Iconic" panose="020B0500040200020003" pitchFamily="34" charset="-34"/>
                <a:cs typeface="FC Iconic" panose="020B0500040200020003" pitchFamily="34" charset="-34"/>
              </a:rPr>
              <a:t> UI </a:t>
            </a:r>
            <a:r>
              <a:rPr sz="2400" dirty="0" err="1">
                <a:latin typeface="FC Iconic" panose="020B0500040200020003" pitchFamily="34" charset="-34"/>
                <a:cs typeface="FC Iconic" panose="020B0500040200020003" pitchFamily="34" charset="-34"/>
              </a:rPr>
              <a:t>ที่อัปเดตทันทีและระบบแจ้งเตือนสองพอร์ทัล</a:t>
            </a:r>
            <a:r>
              <a:rPr sz="2400" dirty="0">
                <a:latin typeface="FC Iconic" panose="020B0500040200020003" pitchFamily="34" charset="-34"/>
                <a:cs typeface="FC Iconic" panose="020B0500040200020003" pitchFamily="34" charset="-34"/>
              </a:rPr>
              <a:t> </a:t>
            </a:r>
            <a:r>
              <a:rPr sz="2400" dirty="0" err="1">
                <a:latin typeface="FC Iconic" panose="020B0500040200020003" pitchFamily="34" charset="-34"/>
                <a:cs typeface="FC Iconic" panose="020B0500040200020003" pitchFamily="34" charset="-34"/>
              </a:rPr>
              <a:t>อธิบายว่าทำไมคิวและกระดิ่งแจ้งเตือนถึง</a:t>
            </a:r>
            <a:r>
              <a:rPr sz="2400" dirty="0">
                <a:latin typeface="FC Iconic" panose="020B0500040200020003" pitchFamily="34" charset="-34"/>
                <a:cs typeface="FC Iconic" panose="020B0500040200020003" pitchFamily="34" charset="-34"/>
              </a:rPr>
              <a:t> sync </a:t>
            </a:r>
            <a:r>
              <a:rPr sz="2400" dirty="0" err="1">
                <a:latin typeface="FC Iconic" panose="020B0500040200020003" pitchFamily="34" charset="-34"/>
                <a:cs typeface="FC Iconic" panose="020B0500040200020003" pitchFamily="34" charset="-34"/>
              </a:rPr>
              <a:t>หลัง</a:t>
            </a:r>
            <a:r>
              <a:rPr sz="2400" dirty="0">
                <a:latin typeface="FC Iconic" panose="020B0500040200020003" pitchFamily="34" charset="-34"/>
                <a:cs typeface="FC Iconic" panose="020B0500040200020003" pitchFamily="34" charset="-34"/>
              </a:rPr>
              <a:t> assign </a:t>
            </a:r>
            <a:r>
              <a:rPr sz="2400" dirty="0" err="1">
                <a:latin typeface="FC Iconic" panose="020B0500040200020003" pitchFamily="34" charset="-34"/>
                <a:cs typeface="FC Iconic" panose="020B0500040200020003" pitchFamily="34" charset="-34"/>
              </a:rPr>
              <a:t>โดยไม่</a:t>
            </a:r>
            <a:r>
              <a:rPr sz="2400" dirty="0">
                <a:latin typeface="FC Iconic" panose="020B0500040200020003" pitchFamily="34" charset="-34"/>
                <a:cs typeface="FC Iconic" panose="020B0500040200020003" pitchFamily="34" charset="-34"/>
              </a:rPr>
              <a:t> refresh</a:t>
            </a:r>
          </a:p>
          <a:p>
            <a:pPr marL="342900" indent="-342900">
              <a:buFont typeface="Arial" panose="020B0604020202020204" pitchFamily="34" charset="0"/>
              <a:buChar char="•"/>
              <a:defRPr sz="1800" b="0">
                <a:latin typeface="FC Iconic"/>
              </a:defRPr>
            </a:pPr>
            <a:r>
              <a:rPr sz="2400" dirty="0">
                <a:latin typeface="FC Iconic" panose="020B0500040200020003" pitchFamily="34" charset="-34"/>
                <a:cs typeface="FC Iconic" panose="020B0500040200020003" pitchFamily="34" charset="-34"/>
              </a:rPr>
              <a:t>NOTIFY → </a:t>
            </a:r>
            <a:r>
              <a:rPr sz="2400" dirty="0" err="1">
                <a:latin typeface="FC Iconic" panose="020B0500040200020003" pitchFamily="34" charset="-34"/>
                <a:cs typeface="FC Iconic" panose="020B0500040200020003" pitchFamily="34" charset="-34"/>
              </a:rPr>
              <a:t>pgNotifyListener</a:t>
            </a:r>
            <a:r>
              <a:rPr sz="2400" dirty="0">
                <a:latin typeface="FC Iconic" panose="020B0500040200020003" pitchFamily="34" charset="-34"/>
                <a:cs typeface="FC Iconic" panose="020B0500040200020003" pitchFamily="34" charset="-34"/>
              </a:rPr>
              <a:t> → Socket.IO</a:t>
            </a:r>
          </a:p>
          <a:p>
            <a:pPr marL="342900" indent="-342900">
              <a:buFont typeface="Arial" panose="020B0604020202020204" pitchFamily="34" charset="0"/>
              <a:buChar char="•"/>
              <a:defRPr sz="1800" b="0">
                <a:latin typeface="FC Iconic"/>
              </a:defRPr>
            </a:pPr>
            <a:r>
              <a:rPr sz="2400" dirty="0" err="1">
                <a:latin typeface="FC Iconic" panose="020B0500040200020003" pitchFamily="34" charset="-34"/>
                <a:cs typeface="FC Iconic" panose="020B0500040200020003" pitchFamily="34" charset="-34"/>
              </a:rPr>
              <a:t>หน้า</a:t>
            </a:r>
            <a:r>
              <a:rPr sz="2400" dirty="0">
                <a:latin typeface="FC Iconic" panose="020B0500040200020003" pitchFamily="34" charset="-34"/>
                <a:cs typeface="FC Iconic" panose="020B0500040200020003" pitchFamily="34" charset="-34"/>
              </a:rPr>
              <a:t>: /notifications (patient), </a:t>
            </a:r>
            <a:r>
              <a:rPr sz="2400" dirty="0" err="1">
                <a:latin typeface="FC Iconic" panose="020B0500040200020003" pitchFamily="34" charset="-34"/>
                <a:cs typeface="FC Iconic" panose="020B0500040200020003" pitchFamily="34" charset="-34"/>
              </a:rPr>
              <a:t>DoctorNotificationBell</a:t>
            </a:r>
            <a:endParaRPr sz="2400" dirty="0">
              <a:latin typeface="FC Iconic" panose="020B0500040200020003" pitchFamily="34" charset="-34"/>
              <a:cs typeface="FC Iconic" panose="020B0500040200020003" pitchFamily="34" charset="-34"/>
            </a:endParaRPr>
          </a:p>
          <a:p>
            <a:pPr marL="342900" indent="-342900">
              <a:buFont typeface="Arial" panose="020B0604020202020204" pitchFamily="34" charset="0"/>
              <a:buChar char="•"/>
              <a:defRPr sz="1800" b="0">
                <a:latin typeface="FC Iconic"/>
              </a:defRPr>
            </a:pPr>
            <a:r>
              <a:rPr sz="2400" dirty="0" err="1">
                <a:latin typeface="FC Iconic" panose="020B0500040200020003" pitchFamily="34" charset="-34"/>
                <a:cs typeface="FC Iconic" panose="020B0500040200020003" pitchFamily="34" charset="-34"/>
              </a:rPr>
              <a:t>isRead</a:t>
            </a:r>
            <a:r>
              <a:rPr sz="2400" dirty="0">
                <a:latin typeface="FC Iconic" panose="020B0500040200020003" pitchFamily="34" charset="-34"/>
                <a:cs typeface="FC Iconic" panose="020B0500040200020003" pitchFamily="34" charset="-34"/>
              </a:rPr>
              <a:t> = </a:t>
            </a:r>
            <a:r>
              <a:rPr sz="2400" dirty="0" err="1">
                <a:latin typeface="FC Iconic" panose="020B0500040200020003" pitchFamily="34" charset="-34"/>
                <a:cs typeface="FC Iconic" panose="020B0500040200020003" pitchFamily="34" charset="-34"/>
              </a:rPr>
              <a:t>มี</a:t>
            </a:r>
            <a:r>
              <a:rPr sz="2400" dirty="0">
                <a:latin typeface="FC Iconic" panose="020B0500040200020003" pitchFamily="34" charset="-34"/>
                <a:cs typeface="FC Iconic" panose="020B0500040200020003" pitchFamily="34" charset="-34"/>
              </a:rPr>
              <a:t> </a:t>
            </a:r>
            <a:r>
              <a:rPr sz="2400" dirty="0" err="1">
                <a:latin typeface="FC Iconic" panose="020B0500040200020003" pitchFamily="34" charset="-34"/>
                <a:cs typeface="FC Iconic" panose="020B0500040200020003" pitchFamily="34" charset="-34"/>
              </a:rPr>
              <a:t>read_at</a:t>
            </a:r>
            <a:r>
              <a:rPr sz="2400" dirty="0">
                <a:latin typeface="FC Iconic" panose="020B0500040200020003" pitchFamily="34" charset="-34"/>
                <a:cs typeface="FC Iconic" panose="020B0500040200020003" pitchFamily="34" charset="-34"/>
              </a:rPr>
              <a:t> (normalize </a:t>
            </a:r>
            <a:r>
              <a:rPr sz="2400" dirty="0" err="1">
                <a:latin typeface="FC Iconic" panose="020B0500040200020003" pitchFamily="34" charset="-34"/>
                <a:cs typeface="FC Iconic" panose="020B0500040200020003" pitchFamily="34" charset="-34"/>
              </a:rPr>
              <a:t>ทั้งสองพอร์ทัล</a:t>
            </a:r>
            <a:r>
              <a:rPr sz="2400" dirty="0">
                <a:latin typeface="FC Iconic" panose="020B0500040200020003" pitchFamily="34" charset="-34"/>
                <a:cs typeface="FC Iconic" panose="020B0500040200020003" pitchFamily="34" charset="-34"/>
              </a:rPr>
              <a: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20040" y="109728"/>
            <a:ext cx="4791953" cy="584775"/>
          </a:xfrm>
          <a:prstGeom prst="rect">
            <a:avLst/>
          </a:prstGeom>
          <a:noFill/>
        </p:spPr>
        <p:txBody>
          <a:bodyPr wrap="none">
            <a:spAutoFit/>
          </a:bodyPr>
          <a:lstStyle/>
          <a:p>
            <a:pPr>
              <a:defRPr sz="3200" b="1">
                <a:latin typeface="FC Iconic"/>
              </a:defRPr>
            </a:pPr>
            <a:r>
              <a:rPr dirty="0" err="1">
                <a:latin typeface="FC Iconic" panose="020B0500040200020003" pitchFamily="34" charset="-34"/>
                <a:cs typeface="FC Iconic" panose="020B0500040200020003" pitchFamily="34" charset="-34"/>
              </a:rPr>
              <a:t>บทที่</a:t>
            </a:r>
            <a:r>
              <a:rPr dirty="0">
                <a:latin typeface="FC Iconic" panose="020B0500040200020003" pitchFamily="34" charset="-34"/>
                <a:cs typeface="FC Iconic" panose="020B0500040200020003" pitchFamily="34" charset="-34"/>
              </a:rPr>
              <a:t> 8 — </a:t>
            </a:r>
            <a:r>
              <a:rPr dirty="0" err="1">
                <a:latin typeface="FC Iconic" panose="020B0500040200020003" pitchFamily="34" charset="-34"/>
                <a:cs typeface="FC Iconic" panose="020B0500040200020003" pitchFamily="34" charset="-34"/>
              </a:rPr>
              <a:t>สถาปัตยกรรมการ</a:t>
            </a:r>
            <a:r>
              <a:rPr dirty="0">
                <a:latin typeface="FC Iconic" panose="020B0500040200020003" pitchFamily="34" charset="-34"/>
                <a:cs typeface="FC Iconic" panose="020B0500040200020003" pitchFamily="34" charset="-34"/>
              </a:rPr>
              <a:t> deploy</a:t>
            </a:r>
          </a:p>
        </p:txBody>
      </p:sp>
      <p:pic>
        <p:nvPicPr>
          <p:cNvPr id="3" name="Picture 2" descr="08-8-deployment-architecture.png"/>
          <p:cNvPicPr>
            <a:picLocks noChangeAspect="1"/>
          </p:cNvPicPr>
          <p:nvPr/>
        </p:nvPicPr>
        <p:blipFill>
          <a:blip r:embed="rId3"/>
          <a:stretch>
            <a:fillRect/>
          </a:stretch>
        </p:blipFill>
        <p:spPr>
          <a:xfrm>
            <a:off x="320040" y="777240"/>
            <a:ext cx="10789920" cy="6021948"/>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20040" y="109728"/>
            <a:ext cx="5109091" cy="584775"/>
          </a:xfrm>
          <a:prstGeom prst="rect">
            <a:avLst/>
          </a:prstGeom>
          <a:noFill/>
        </p:spPr>
        <p:txBody>
          <a:bodyPr wrap="none">
            <a:spAutoFit/>
          </a:bodyPr>
          <a:lstStyle/>
          <a:p>
            <a:pPr>
              <a:defRPr sz="3200" b="1">
                <a:latin typeface="FC Iconic"/>
              </a:defRPr>
            </a:pPr>
            <a:r>
              <a:rPr dirty="0" err="1">
                <a:latin typeface="FC Iconic" panose="020B0500040200020003" pitchFamily="34" charset="-34"/>
                <a:cs typeface="FC Iconic" panose="020B0500040200020003" pitchFamily="34" charset="-34"/>
              </a:rPr>
              <a:t>บทที่</a:t>
            </a:r>
            <a:r>
              <a:rPr dirty="0">
                <a:latin typeface="FC Iconic" panose="020B0500040200020003" pitchFamily="34" charset="-34"/>
                <a:cs typeface="FC Iconic" panose="020B0500040200020003" pitchFamily="34" charset="-34"/>
              </a:rPr>
              <a:t> 9 — </a:t>
            </a:r>
            <a:r>
              <a:rPr dirty="0" err="1">
                <a:latin typeface="FC Iconic" panose="020B0500040200020003" pitchFamily="34" charset="-34"/>
                <a:cs typeface="FC Iconic" panose="020B0500040200020003" pitchFamily="34" charset="-34"/>
              </a:rPr>
              <a:t>บันทึกสุขภาพ</a:t>
            </a:r>
            <a:r>
              <a:rPr dirty="0">
                <a:latin typeface="FC Iconic" panose="020B0500040200020003" pitchFamily="34" charset="-34"/>
                <a:cs typeface="FC Iconic" panose="020B0500040200020003" pitchFamily="34" charset="-34"/>
              </a:rPr>
              <a:t> PHR </a:t>
            </a:r>
            <a:r>
              <a:rPr dirty="0" err="1">
                <a:latin typeface="FC Iconic" panose="020B0500040200020003" pitchFamily="34" charset="-34"/>
                <a:cs typeface="FC Iconic" panose="020B0500040200020003" pitchFamily="34" charset="-34"/>
              </a:rPr>
              <a:t>และ</a:t>
            </a:r>
            <a:r>
              <a:rPr dirty="0">
                <a:latin typeface="FC Iconic" panose="020B0500040200020003" pitchFamily="34" charset="-34"/>
                <a:cs typeface="FC Iconic" panose="020B0500040200020003" pitchFamily="34" charset="-34"/>
              </a:rPr>
              <a:t> EMR</a:t>
            </a:r>
          </a:p>
        </p:txBody>
      </p:sp>
      <p:pic>
        <p:nvPicPr>
          <p:cNvPr id="3" name="Picture 2" descr="09-9-health-records-phr-emr.png"/>
          <p:cNvPicPr>
            <a:picLocks noChangeAspect="1"/>
          </p:cNvPicPr>
          <p:nvPr/>
        </p:nvPicPr>
        <p:blipFill>
          <a:blip r:embed="rId3"/>
          <a:stretch>
            <a:fillRect/>
          </a:stretch>
        </p:blipFill>
        <p:spPr>
          <a:xfrm>
            <a:off x="320040" y="704087"/>
            <a:ext cx="11766168" cy="5806779"/>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20040" y="109728"/>
            <a:ext cx="5226815" cy="584775"/>
          </a:xfrm>
          <a:prstGeom prst="rect">
            <a:avLst/>
          </a:prstGeom>
          <a:noFill/>
        </p:spPr>
        <p:txBody>
          <a:bodyPr wrap="none">
            <a:spAutoFit/>
          </a:bodyPr>
          <a:lstStyle/>
          <a:p>
            <a:pPr>
              <a:defRPr sz="3200" b="1">
                <a:latin typeface="FC Iconic"/>
              </a:defRPr>
            </a:pPr>
            <a:r>
              <a:rPr dirty="0" err="1">
                <a:latin typeface="FC Iconic" panose="020B0500040200020003" pitchFamily="34" charset="-34"/>
                <a:cs typeface="FC Iconic" panose="020B0500040200020003" pitchFamily="34" charset="-34"/>
              </a:rPr>
              <a:t>บทที่</a:t>
            </a:r>
            <a:r>
              <a:rPr dirty="0">
                <a:latin typeface="FC Iconic" panose="020B0500040200020003" pitchFamily="34" charset="-34"/>
                <a:cs typeface="FC Iconic" panose="020B0500040200020003" pitchFamily="34" charset="-34"/>
              </a:rPr>
              <a:t> 10 — </a:t>
            </a:r>
            <a:r>
              <a:rPr dirty="0" err="1">
                <a:latin typeface="FC Iconic" panose="020B0500040200020003" pitchFamily="34" charset="-34"/>
                <a:cs typeface="FC Iconic" panose="020B0500040200020003" pitchFamily="34" charset="-34"/>
              </a:rPr>
              <a:t>พินัยกรรมชีวิต</a:t>
            </a:r>
            <a:r>
              <a:rPr dirty="0">
                <a:latin typeface="FC Iconic" panose="020B0500040200020003" pitchFamily="34" charset="-34"/>
                <a:cs typeface="FC Iconic" panose="020B0500040200020003" pitchFamily="34" charset="-34"/>
              </a:rPr>
              <a:t> (Living Will)</a:t>
            </a:r>
          </a:p>
        </p:txBody>
      </p:sp>
      <p:pic>
        <p:nvPicPr>
          <p:cNvPr id="3" name="Picture 2" descr="10-10-living-will.png"/>
          <p:cNvPicPr>
            <a:picLocks noChangeAspect="1"/>
          </p:cNvPicPr>
          <p:nvPr/>
        </p:nvPicPr>
        <p:blipFill>
          <a:blip r:embed="rId3"/>
          <a:stretch>
            <a:fillRect/>
          </a:stretch>
        </p:blipFill>
        <p:spPr>
          <a:xfrm>
            <a:off x="248919" y="704088"/>
            <a:ext cx="11663681" cy="5891445"/>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20040" y="109728"/>
            <a:ext cx="3424335" cy="584775"/>
          </a:xfrm>
          <a:prstGeom prst="rect">
            <a:avLst/>
          </a:prstGeom>
          <a:noFill/>
        </p:spPr>
        <p:txBody>
          <a:bodyPr wrap="none">
            <a:spAutoFit/>
          </a:bodyPr>
          <a:lstStyle/>
          <a:p>
            <a:pPr>
              <a:defRPr sz="3200" b="1">
                <a:latin typeface="FC Iconic"/>
              </a:defRPr>
            </a:pPr>
            <a:r>
              <a:rPr dirty="0" err="1">
                <a:latin typeface="FC Iconic" panose="020B0500040200020003" pitchFamily="34" charset="-34"/>
                <a:cs typeface="FC Iconic" panose="020B0500040200020003" pitchFamily="34" charset="-34"/>
              </a:rPr>
              <a:t>บทที่</a:t>
            </a:r>
            <a:r>
              <a:rPr dirty="0">
                <a:latin typeface="FC Iconic" panose="020B0500040200020003" pitchFamily="34" charset="-34"/>
                <a:cs typeface="FC Iconic" panose="020B0500040200020003" pitchFamily="34" charset="-34"/>
              </a:rPr>
              <a:t> 11 — ERD </a:t>
            </a:r>
            <a:r>
              <a:rPr dirty="0" err="1">
                <a:latin typeface="FC Iconic" panose="020B0500040200020003" pitchFamily="34" charset="-34"/>
                <a:cs typeface="FC Iconic" panose="020B0500040200020003" pitchFamily="34" charset="-34"/>
              </a:rPr>
              <a:t>ฐานข้อมูล</a:t>
            </a:r>
            <a:endParaRPr dirty="0">
              <a:latin typeface="FC Iconic" panose="020B0500040200020003" pitchFamily="34" charset="-34"/>
              <a:cs typeface="FC Iconic" panose="020B0500040200020003" pitchFamily="34" charset="-34"/>
            </a:endParaRPr>
          </a:p>
        </p:txBody>
      </p:sp>
      <p:pic>
        <p:nvPicPr>
          <p:cNvPr id="1026" name="Picture 2">
            <a:extLst>
              <a:ext uri="{FF2B5EF4-FFF2-40B4-BE49-F238E27FC236}">
                <a16:creationId xmlns:a16="http://schemas.microsoft.com/office/drawing/2014/main" id="{929A5A6F-B0E7-4191-C2BD-B4252CFF5D4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789403" y="0"/>
            <a:ext cx="9402598" cy="6858000"/>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3">
            <a:extLst>
              <a:ext uri="{FF2B5EF4-FFF2-40B4-BE49-F238E27FC236}">
                <a16:creationId xmlns:a16="http://schemas.microsoft.com/office/drawing/2014/main" id="{C11CAF5E-F001-833F-6691-AFDEE364FB8B}"/>
              </a:ext>
            </a:extLst>
          </p:cNvPr>
          <p:cNvSpPr txBox="1"/>
          <p:nvPr/>
        </p:nvSpPr>
        <p:spPr>
          <a:xfrm>
            <a:off x="145782" y="982176"/>
            <a:ext cx="2817880" cy="4893647"/>
          </a:xfrm>
          <a:prstGeom prst="rect">
            <a:avLst/>
          </a:prstGeom>
          <a:noFill/>
        </p:spPr>
        <p:txBody>
          <a:bodyPr wrap="squar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defRPr sz="1800" b="0">
                <a:latin typeface="FC Iconic"/>
              </a:defRPr>
            </a:pPr>
            <a:r>
              <a:rPr sz="2400" dirty="0">
                <a:latin typeface="FC Iconic" panose="020B0500040200020003" pitchFamily="34" charset="-34"/>
                <a:cs typeface="FC Iconic" panose="020B0500040200020003" pitchFamily="34" charset="-34"/>
              </a:rPr>
              <a:t>• </a:t>
            </a:r>
            <a:r>
              <a:rPr sz="2400" dirty="0" err="1">
                <a:latin typeface="FC Iconic" panose="020B0500040200020003" pitchFamily="34" charset="-34"/>
                <a:cs typeface="FC Iconic" panose="020B0500040200020003" pitchFamily="34" charset="-34"/>
              </a:rPr>
              <a:t>ศูนย์กลาง</a:t>
            </a:r>
            <a:r>
              <a:rPr sz="2400" dirty="0">
                <a:latin typeface="FC Iconic" panose="020B0500040200020003" pitchFamily="34" charset="-34"/>
                <a:cs typeface="FC Iconic" panose="020B0500040200020003" pitchFamily="34" charset="-34"/>
              </a:rPr>
              <a:t>: users — </a:t>
            </a:r>
            <a:r>
              <a:rPr sz="2400" dirty="0" err="1">
                <a:latin typeface="FC Iconic" panose="020B0500040200020003" pitchFamily="34" charset="-34"/>
                <a:cs typeface="FC Iconic" panose="020B0500040200020003" pitchFamily="34" charset="-34"/>
              </a:rPr>
              <a:t>ทุก</a:t>
            </a:r>
            <a:r>
              <a:rPr sz="2400" dirty="0">
                <a:latin typeface="FC Iconic" panose="020B0500040200020003" pitchFamily="34" charset="-34"/>
                <a:cs typeface="FC Iconic" panose="020B0500040200020003" pitchFamily="34" charset="-34"/>
              </a:rPr>
              <a:t> FK </a:t>
            </a:r>
            <a:r>
              <a:rPr sz="2400" dirty="0" err="1">
                <a:latin typeface="FC Iconic" panose="020B0500040200020003" pitchFamily="34" charset="-34"/>
                <a:cs typeface="FC Iconic" panose="020B0500040200020003" pitchFamily="34" charset="-34"/>
              </a:rPr>
              <a:t>อ้างกลับมาที่นี่</a:t>
            </a:r>
            <a:endParaRPr sz="2400" dirty="0">
              <a:latin typeface="FC Iconic" panose="020B0500040200020003" pitchFamily="34" charset="-34"/>
              <a:cs typeface="FC Iconic" panose="020B0500040200020003" pitchFamily="34" charset="-34"/>
            </a:endParaRPr>
          </a:p>
          <a:p>
            <a:pPr>
              <a:defRPr sz="1800" b="0">
                <a:latin typeface="FC Iconic"/>
              </a:defRPr>
            </a:pPr>
            <a:r>
              <a:rPr sz="2400" dirty="0">
                <a:latin typeface="FC Iconic" panose="020B0500040200020003" pitchFamily="34" charset="-34"/>
                <a:cs typeface="FC Iconic" panose="020B0500040200020003" pitchFamily="34" charset="-34"/>
              </a:rPr>
              <a:t>• Clinical chain: appointments → </a:t>
            </a:r>
            <a:r>
              <a:rPr sz="2400" dirty="0" err="1">
                <a:latin typeface="FC Iconic" panose="020B0500040200020003" pitchFamily="34" charset="-34"/>
                <a:cs typeface="FC Iconic" panose="020B0500040200020003" pitchFamily="34" charset="-34"/>
              </a:rPr>
              <a:t>meeting_records</a:t>
            </a:r>
            <a:r>
              <a:rPr sz="2400" dirty="0">
                <a:latin typeface="FC Iconic" panose="020B0500040200020003" pitchFamily="34" charset="-34"/>
                <a:cs typeface="FC Iconic" panose="020B0500040200020003" pitchFamily="34" charset="-34"/>
              </a:rPr>
              <a:t> → </a:t>
            </a:r>
            <a:r>
              <a:rPr sz="2400" dirty="0" err="1">
                <a:latin typeface="FC Iconic" panose="020B0500040200020003" pitchFamily="34" charset="-34"/>
                <a:cs typeface="FC Iconic" panose="020B0500040200020003" pitchFamily="34" charset="-34"/>
              </a:rPr>
              <a:t>emr</a:t>
            </a:r>
            <a:r>
              <a:rPr sz="2400" dirty="0">
                <a:latin typeface="FC Iconic" panose="020B0500040200020003" pitchFamily="34" charset="-34"/>
                <a:cs typeface="FC Iconic" panose="020B0500040200020003" pitchFamily="34" charset="-34"/>
              </a:rPr>
              <a:t> → prescriptions/</a:t>
            </a:r>
            <a:r>
              <a:rPr sz="2400" dirty="0" err="1">
                <a:latin typeface="FC Iconic" panose="020B0500040200020003" pitchFamily="34" charset="-34"/>
                <a:cs typeface="FC Iconic" panose="020B0500040200020003" pitchFamily="34" charset="-34"/>
              </a:rPr>
              <a:t>lab_orders</a:t>
            </a:r>
            <a:endParaRPr sz="2400" dirty="0">
              <a:latin typeface="FC Iconic" panose="020B0500040200020003" pitchFamily="34" charset="-34"/>
              <a:cs typeface="FC Iconic" panose="020B0500040200020003" pitchFamily="34" charset="-34"/>
            </a:endParaRPr>
          </a:p>
          <a:p>
            <a:pPr>
              <a:defRPr sz="1800" b="0">
                <a:latin typeface="FC Iconic"/>
              </a:defRPr>
            </a:pPr>
            <a:r>
              <a:rPr sz="2400" dirty="0">
                <a:latin typeface="FC Iconic" panose="020B0500040200020003" pitchFamily="34" charset="-34"/>
                <a:cs typeface="FC Iconic" panose="020B0500040200020003" pitchFamily="34" charset="-34"/>
              </a:rPr>
              <a:t>• PHR chain: </a:t>
            </a:r>
            <a:r>
              <a:rPr sz="2400" dirty="0" err="1">
                <a:latin typeface="FC Iconic" panose="020B0500040200020003" pitchFamily="34" charset="-34"/>
                <a:cs typeface="FC Iconic" panose="020B0500040200020003" pitchFamily="34" charset="-34"/>
              </a:rPr>
              <a:t>patient_profiles</a:t>
            </a:r>
            <a:r>
              <a:rPr sz="2400" dirty="0">
                <a:latin typeface="FC Iconic" panose="020B0500040200020003" pitchFamily="34" charset="-34"/>
                <a:cs typeface="FC Iconic" panose="020B0500040200020003" pitchFamily="34" charset="-34"/>
              </a:rPr>
              <a:t> ↔ </a:t>
            </a:r>
            <a:r>
              <a:rPr sz="2400" dirty="0" err="1">
                <a:latin typeface="FC Iconic" panose="020B0500040200020003" pitchFamily="34" charset="-34"/>
                <a:cs typeface="FC Iconic" panose="020B0500040200020003" pitchFamily="34" charset="-34"/>
              </a:rPr>
              <a:t>phr</a:t>
            </a:r>
            <a:r>
              <a:rPr sz="2400" dirty="0">
                <a:latin typeface="FC Iconic" panose="020B0500040200020003" pitchFamily="34" charset="-34"/>
                <a:cs typeface="FC Iconic" panose="020B0500040200020003" pitchFamily="34" charset="-34"/>
              </a:rPr>
              <a:t> + </a:t>
            </a:r>
            <a:r>
              <a:rPr sz="2400" dirty="0" err="1">
                <a:latin typeface="FC Iconic" panose="020B0500040200020003" pitchFamily="34" charset="-34"/>
                <a:cs typeface="FC Iconic" panose="020B0500040200020003" pitchFamily="34" charset="-34"/>
              </a:rPr>
              <a:t>vital_signs</a:t>
            </a:r>
            <a:r>
              <a:rPr sz="2400" dirty="0">
                <a:latin typeface="FC Iconic" panose="020B0500040200020003" pitchFamily="34" charset="-34"/>
                <a:cs typeface="FC Iconic" panose="020B0500040200020003" pitchFamily="34" charset="-34"/>
              </a:rPr>
              <a:t> + </a:t>
            </a:r>
            <a:r>
              <a:rPr sz="2400" dirty="0" err="1">
                <a:latin typeface="FC Iconic" panose="020B0500040200020003" pitchFamily="34" charset="-34"/>
                <a:cs typeface="FC Iconic" panose="020B0500040200020003" pitchFamily="34" charset="-34"/>
              </a:rPr>
              <a:t>living_wills</a:t>
            </a:r>
            <a:endParaRPr sz="2400" dirty="0">
              <a:latin typeface="FC Iconic" panose="020B0500040200020003" pitchFamily="34" charset="-34"/>
              <a:cs typeface="FC Iconic" panose="020B0500040200020003" pitchFamily="34" charset="-34"/>
            </a:endParaRPr>
          </a:p>
          <a:p>
            <a:pPr>
              <a:defRPr sz="1800" b="0">
                <a:latin typeface="FC Iconic"/>
              </a:defRPr>
            </a:pPr>
            <a:r>
              <a:rPr sz="2400" dirty="0">
                <a:latin typeface="FC Iconic" panose="020B0500040200020003" pitchFamily="34" charset="-34"/>
                <a:cs typeface="FC Iconic" panose="020B0500040200020003" pitchFamily="34" charset="-34"/>
              </a:rPr>
              <a:t>• MITL: </a:t>
            </a:r>
            <a:r>
              <a:rPr sz="2400" dirty="0" err="1">
                <a:latin typeface="FC Iconic" panose="020B0500040200020003" pitchFamily="34" charset="-34"/>
                <a:cs typeface="FC Iconic" panose="020B0500040200020003" pitchFamily="34" charset="-34"/>
              </a:rPr>
              <a:t>doctor_validation_status</a:t>
            </a:r>
            <a:r>
              <a:rPr sz="2400" dirty="0">
                <a:latin typeface="FC Iconic" panose="020B0500040200020003" pitchFamily="34" charset="-34"/>
                <a:cs typeface="FC Iconic" panose="020B0500040200020003" pitchFamily="34" charset="-34"/>
              </a:rPr>
              <a:t>, </a:t>
            </a:r>
            <a:r>
              <a:rPr sz="2400" dirty="0" err="1">
                <a:latin typeface="FC Iconic" panose="020B0500040200020003" pitchFamily="34" charset="-34"/>
                <a:cs typeface="FC Iconic" panose="020B0500040200020003" pitchFamily="34" charset="-34"/>
              </a:rPr>
              <a:t>emr.status</a:t>
            </a:r>
            <a:r>
              <a:rPr sz="2400" dirty="0">
                <a:latin typeface="FC Iconic" panose="020B0500040200020003" pitchFamily="34" charset="-34"/>
                <a:cs typeface="FC Iconic" panose="020B0500040200020003" pitchFamily="34" charset="-34"/>
              </a:rPr>
              <a:t> = draft </a:t>
            </a:r>
            <a:r>
              <a:rPr sz="2400" dirty="0" err="1">
                <a:latin typeface="FC Iconic" panose="020B0500040200020003" pitchFamily="34" charset="-34"/>
                <a:cs typeface="FC Iconic" panose="020B0500040200020003" pitchFamily="34" charset="-34"/>
              </a:rPr>
              <a:t>จน</a:t>
            </a:r>
            <a:r>
              <a:rPr sz="2400" dirty="0">
                <a:latin typeface="FC Iconic" panose="020B0500040200020003" pitchFamily="34" charset="-34"/>
                <a:cs typeface="FC Iconic" panose="020B0500040200020003" pitchFamily="34" charset="-34"/>
              </a:rPr>
              <a:t> sign</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20040" y="109728"/>
            <a:ext cx="4572085" cy="584775"/>
          </a:xfrm>
          <a:prstGeom prst="rect">
            <a:avLst/>
          </a:prstGeom>
          <a:noFill/>
        </p:spPr>
        <p:txBody>
          <a:bodyPr wrap="none">
            <a:spAutoFit/>
          </a:bodyPr>
          <a:lstStyle/>
          <a:p>
            <a:pPr>
              <a:defRPr sz="3200" b="1">
                <a:latin typeface="FC Iconic"/>
              </a:defRPr>
            </a:pPr>
            <a:r>
              <a:rPr>
                <a:latin typeface="FC Iconic" panose="020B0500040200020003" pitchFamily="34" charset="-34"/>
                <a:cs typeface="FC Iconic" panose="020B0500040200020003" pitchFamily="34" charset="-34"/>
              </a:rPr>
              <a:t>บทที่ 12 — ขั้นตอน E2E ทั้งเส้นทาง</a:t>
            </a:r>
          </a:p>
        </p:txBody>
      </p:sp>
      <p:pic>
        <p:nvPicPr>
          <p:cNvPr id="3" name="Picture 2" descr="12-12-e2e-workflow-steps.png"/>
          <p:cNvPicPr>
            <a:picLocks noChangeAspect="1"/>
          </p:cNvPicPr>
          <p:nvPr/>
        </p:nvPicPr>
        <p:blipFill>
          <a:blip r:embed="rId3"/>
          <a:stretch>
            <a:fillRect/>
          </a:stretch>
        </p:blipFill>
        <p:spPr>
          <a:xfrm>
            <a:off x="350520" y="693754"/>
            <a:ext cx="9775613" cy="5953855"/>
          </a:xfrm>
          <a:prstGeom prst="rect">
            <a:avLst/>
          </a:prstGeom>
        </p:spPr>
      </p:pic>
      <p:sp>
        <p:nvSpPr>
          <p:cNvPr id="4" name="TextBox 3"/>
          <p:cNvSpPr txBox="1"/>
          <p:nvPr/>
        </p:nvSpPr>
        <p:spPr>
          <a:xfrm>
            <a:off x="7728374" y="1956138"/>
            <a:ext cx="4384039" cy="3785652"/>
          </a:xfrm>
          <a:prstGeom prst="rect">
            <a:avLst/>
          </a:prstGeom>
          <a:noFill/>
        </p:spPr>
        <p:txBody>
          <a:bodyPr wrap="square">
            <a:spAutoFit/>
          </a:bodyPr>
          <a:lstStyle/>
          <a:p>
            <a:pPr marL="342900" indent="-342900">
              <a:buFont typeface="Arial" panose="020B0604020202020204" pitchFamily="34" charset="0"/>
              <a:buChar char="•"/>
              <a:defRPr sz="1800" b="0">
                <a:latin typeface="FC Iconic"/>
              </a:defRPr>
            </a:pPr>
            <a:r>
              <a:rPr sz="2400" dirty="0" err="1">
                <a:latin typeface="FC Iconic" panose="020B0500040200020003" pitchFamily="34" charset="-34"/>
                <a:cs typeface="FC Iconic" panose="020B0500040200020003" pitchFamily="34" charset="-34"/>
              </a:rPr>
              <a:t>บทปิดของชุด</a:t>
            </a:r>
            <a:r>
              <a:rPr sz="2400" dirty="0">
                <a:latin typeface="FC Iconic" panose="020B0500040200020003" pitchFamily="34" charset="-34"/>
                <a:cs typeface="FC Iconic" panose="020B0500040200020003" pitchFamily="34" charset="-34"/>
              </a:rPr>
              <a:t> 12 </a:t>
            </a:r>
            <a:r>
              <a:rPr sz="2400" dirty="0" err="1">
                <a:latin typeface="FC Iconic" panose="020B0500040200020003" pitchFamily="34" charset="-34"/>
                <a:cs typeface="FC Iconic" panose="020B0500040200020003" pitchFamily="34" charset="-34"/>
              </a:rPr>
              <a:t>แผนภาพ</a:t>
            </a:r>
            <a:r>
              <a:rPr sz="2400" dirty="0">
                <a:latin typeface="FC Iconic" panose="020B0500040200020003" pitchFamily="34" charset="-34"/>
                <a:cs typeface="FC Iconic" panose="020B0500040200020003" pitchFamily="34" charset="-34"/>
              </a:rPr>
              <a:t> — </a:t>
            </a:r>
            <a:r>
              <a:rPr sz="2400" dirty="0" err="1">
                <a:latin typeface="FC Iconic" panose="020B0500040200020003" pitchFamily="34" charset="-34"/>
                <a:cs typeface="FC Iconic" panose="020B0500040200020003" pitchFamily="34" charset="-34"/>
              </a:rPr>
              <a:t>รวมทุกอย่างที่อธิบายมาเป็นลำดับเวลาเดียว</a:t>
            </a:r>
            <a:r>
              <a:rPr sz="2400" dirty="0">
                <a:latin typeface="FC Iconic" panose="020B0500040200020003" pitchFamily="34" charset="-34"/>
                <a:cs typeface="FC Iconic" panose="020B0500040200020003" pitchFamily="34" charset="-34"/>
              </a:rPr>
              <a:t> </a:t>
            </a:r>
            <a:r>
              <a:rPr sz="2400" dirty="0" err="1">
                <a:latin typeface="FC Iconic" panose="020B0500040200020003" pitchFamily="34" charset="-34"/>
                <a:cs typeface="FC Iconic" panose="020B0500040200020003" pitchFamily="34" charset="-34"/>
              </a:rPr>
              <a:t>สำหรับผู้ป่วย</a:t>
            </a:r>
            <a:r>
              <a:rPr sz="2400" dirty="0">
                <a:latin typeface="FC Iconic" panose="020B0500040200020003" pitchFamily="34" charset="-34"/>
                <a:cs typeface="FC Iconic" panose="020B0500040200020003" pitchFamily="34" charset="-34"/>
              </a:rPr>
              <a:t> </a:t>
            </a:r>
            <a:r>
              <a:rPr sz="2400" dirty="0" err="1">
                <a:latin typeface="FC Iconic" panose="020B0500040200020003" pitchFamily="34" charset="-34"/>
                <a:cs typeface="FC Iconic" panose="020B0500040200020003" pitchFamily="34" charset="-34"/>
              </a:rPr>
              <a:t>แพทย์</a:t>
            </a:r>
            <a:r>
              <a:rPr sz="2400" dirty="0">
                <a:latin typeface="FC Iconic" panose="020B0500040200020003" pitchFamily="34" charset="-34"/>
                <a:cs typeface="FC Iconic" panose="020B0500040200020003" pitchFamily="34" charset="-34"/>
              </a:rPr>
              <a:t> </a:t>
            </a:r>
            <a:r>
              <a:rPr sz="2400" dirty="0" err="1">
                <a:latin typeface="FC Iconic" panose="020B0500040200020003" pitchFamily="34" charset="-34"/>
                <a:cs typeface="FC Iconic" panose="020B0500040200020003" pitchFamily="34" charset="-34"/>
              </a:rPr>
              <a:t>และระบบ</a:t>
            </a:r>
            <a:r>
              <a:rPr sz="2400" dirty="0">
                <a:latin typeface="FC Iconic" panose="020B0500040200020003" pitchFamily="34" charset="-34"/>
                <a:cs typeface="FC Iconic" panose="020B0500040200020003" pitchFamily="34" charset="-34"/>
              </a:rPr>
              <a:t> </a:t>
            </a:r>
            <a:r>
              <a:rPr sz="2400" dirty="0" err="1">
                <a:latin typeface="FC Iconic" panose="020B0500040200020003" pitchFamily="34" charset="-34"/>
                <a:cs typeface="FC Iconic" panose="020B0500040200020003" pitchFamily="34" charset="-34"/>
              </a:rPr>
              <a:t>ใช้เป็น</a:t>
            </a:r>
            <a:r>
              <a:rPr sz="2400" dirty="0">
                <a:latin typeface="FC Iconic" panose="020B0500040200020003" pitchFamily="34" charset="-34"/>
                <a:cs typeface="FC Iconic" panose="020B0500040200020003" pitchFamily="34" charset="-34"/>
              </a:rPr>
              <a:t> checklist UAT </a:t>
            </a:r>
            <a:r>
              <a:rPr sz="2400" dirty="0" err="1">
                <a:latin typeface="FC Iconic" panose="020B0500040200020003" pitchFamily="34" charset="-34"/>
                <a:cs typeface="FC Iconic" panose="020B0500040200020003" pitchFamily="34" charset="-34"/>
              </a:rPr>
              <a:t>และอบรม</a:t>
            </a:r>
            <a:endParaRPr sz="2400" dirty="0">
              <a:latin typeface="FC Iconic" panose="020B0500040200020003" pitchFamily="34" charset="-34"/>
              <a:cs typeface="FC Iconic" panose="020B0500040200020003" pitchFamily="34" charset="-34"/>
            </a:endParaRPr>
          </a:p>
          <a:p>
            <a:pPr marL="342900" indent="-342900">
              <a:buFont typeface="Arial" panose="020B0604020202020204" pitchFamily="34" charset="0"/>
              <a:buChar char="•"/>
              <a:defRPr sz="1800" b="0">
                <a:latin typeface="FC Iconic"/>
              </a:defRPr>
            </a:pPr>
            <a:r>
              <a:rPr sz="2400" dirty="0">
                <a:latin typeface="FC Iconic" panose="020B0500040200020003" pitchFamily="34" charset="-34"/>
                <a:cs typeface="FC Iconic" panose="020B0500040200020003" pitchFamily="34" charset="-34"/>
              </a:rPr>
              <a:t>Patient lane / Doctor lane / System lane</a:t>
            </a:r>
          </a:p>
          <a:p>
            <a:pPr marL="342900" indent="-342900">
              <a:buFont typeface="Arial" panose="020B0604020202020204" pitchFamily="34" charset="0"/>
              <a:buChar char="•"/>
              <a:defRPr sz="1800" b="0">
                <a:latin typeface="FC Iconic"/>
              </a:defRPr>
            </a:pPr>
            <a:r>
              <a:rPr sz="2400" dirty="0">
                <a:latin typeface="FC Iconic" panose="020B0500040200020003" pitchFamily="34" charset="-34"/>
                <a:cs typeface="FC Iconic" panose="020B0500040200020003" pitchFamily="34" charset="-34"/>
              </a:rPr>
              <a:t>12 </a:t>
            </a:r>
            <a:r>
              <a:rPr sz="2400" dirty="0" err="1">
                <a:latin typeface="FC Iconic" panose="020B0500040200020003" pitchFamily="34" charset="-34"/>
                <a:cs typeface="FC Iconic" panose="020B0500040200020003" pitchFamily="34" charset="-34"/>
              </a:rPr>
              <a:t>ขั้นต่อเนื่อง</a:t>
            </a:r>
            <a:r>
              <a:rPr sz="2400" dirty="0">
                <a:latin typeface="FC Iconic" panose="020B0500040200020003" pitchFamily="34" charset="-34"/>
                <a:cs typeface="FC Iconic" panose="020B0500040200020003" pitchFamily="34" charset="-34"/>
              </a:rPr>
              <a:t> — </a:t>
            </a:r>
            <a:r>
              <a:rPr sz="2400" dirty="0" err="1">
                <a:latin typeface="FC Iconic" panose="020B0500040200020003" pitchFamily="34" charset="-34"/>
                <a:cs typeface="FC Iconic" panose="020B0500040200020003" pitchFamily="34" charset="-34"/>
              </a:rPr>
              <a:t>ไม่ข้าม</a:t>
            </a:r>
            <a:r>
              <a:rPr sz="2400" dirty="0">
                <a:latin typeface="FC Iconic" panose="020B0500040200020003" pitchFamily="34" charset="-34"/>
                <a:cs typeface="FC Iconic" panose="020B0500040200020003" pitchFamily="34" charset="-34"/>
              </a:rPr>
              <a:t> MITL</a:t>
            </a:r>
          </a:p>
          <a:p>
            <a:pPr marL="342900" indent="-342900">
              <a:buFont typeface="Arial" panose="020B0604020202020204" pitchFamily="34" charset="0"/>
              <a:buChar char="•"/>
              <a:defRPr sz="1800" b="0">
                <a:latin typeface="FC Iconic"/>
              </a:defRPr>
            </a:pPr>
            <a:r>
              <a:rPr sz="2400" dirty="0">
                <a:latin typeface="FC Iconic" panose="020B0500040200020003" pitchFamily="34" charset="-34"/>
                <a:cs typeface="FC Iconic" panose="020B0500040200020003" pitchFamily="34" charset="-34"/>
              </a:rPr>
              <a:t>UAT: docs/screenshots/group-A </a:t>
            </a:r>
            <a:r>
              <a:rPr sz="2400" dirty="0" err="1">
                <a:latin typeface="FC Iconic" panose="020B0500040200020003" pitchFamily="34" charset="-34"/>
                <a:cs typeface="FC Iconic" panose="020B0500040200020003" pitchFamily="34" charset="-34"/>
              </a:rPr>
              <a:t>ถึง</a:t>
            </a:r>
            <a:r>
              <a:rPr sz="2400" dirty="0">
                <a:latin typeface="FC Iconic" panose="020B0500040200020003" pitchFamily="34" charset="-34"/>
                <a:cs typeface="FC Iconic" panose="020B0500040200020003" pitchFamily="34" charset="-34"/>
              </a:rPr>
              <a:t> group-P</a:t>
            </a:r>
          </a:p>
          <a:p>
            <a:pPr marL="342900" indent="-342900">
              <a:buFont typeface="Arial" panose="020B0604020202020204" pitchFamily="34" charset="0"/>
              <a:buChar char="•"/>
              <a:defRPr sz="1800" b="0">
                <a:latin typeface="FC Iconic"/>
              </a:defRPr>
            </a:pPr>
            <a:r>
              <a:rPr sz="2400" dirty="0" err="1">
                <a:latin typeface="FC Iconic" panose="020B0500040200020003" pitchFamily="34" charset="-34"/>
                <a:cs typeface="FC Iconic" panose="020B0500040200020003" pitchFamily="34" charset="-34"/>
              </a:rPr>
              <a:t>จุดตัด</a:t>
            </a:r>
            <a:r>
              <a:rPr sz="2400" dirty="0">
                <a:latin typeface="FC Iconic" panose="020B0500040200020003" pitchFamily="34" charset="-34"/>
                <a:cs typeface="FC Iconic" panose="020B0500040200020003" pitchFamily="34" charset="-34"/>
              </a:rPr>
              <a:t>: Pool, </a:t>
            </a:r>
            <a:r>
              <a:rPr sz="2400" dirty="0" err="1">
                <a:latin typeface="FC Iconic" panose="020B0500040200020003" pitchFamily="34" charset="-34"/>
                <a:cs typeface="FC Iconic" panose="020B0500040200020003" pitchFamily="34" charset="-34"/>
              </a:rPr>
              <a:t>Jitsi</a:t>
            </a:r>
            <a:r>
              <a:rPr sz="2400" dirty="0">
                <a:latin typeface="FC Iconic" panose="020B0500040200020003" pitchFamily="34" charset="-34"/>
                <a:cs typeface="FC Iconic" panose="020B0500040200020003" pitchFamily="34" charset="-34"/>
              </a:rPr>
              <a:t> admit, EMR sign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43</TotalTime>
  <Words>2720</Words>
  <Application>Microsoft Office PowerPoint</Application>
  <PresentationFormat>Widescreen</PresentationFormat>
  <Paragraphs>155</Paragraphs>
  <Slides>14</Slides>
  <Notes>13</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14</vt:i4>
      </vt:variant>
    </vt:vector>
  </HeadingPairs>
  <TitlesOfParts>
    <vt:vector size="18" baseType="lpstr">
      <vt:lpstr>Arial</vt:lpstr>
      <vt:lpstr>Calibri</vt:lpstr>
      <vt:lpstr>FC Iconic</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Chirapath Saelim (Leo)</cp:lastModifiedBy>
  <cp:revision>6</cp:revision>
  <dcterms:created xsi:type="dcterms:W3CDTF">2013-01-27T09:14:16Z</dcterms:created>
  <dcterms:modified xsi:type="dcterms:W3CDTF">2026-05-31T16:42:11Z</dcterms:modified>
  <cp:category/>
</cp:coreProperties>
</file>