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58"/>
  </p:notesMasterIdLst>
  <p:sldIdLst>
    <p:sldId id="282" r:id="rId2"/>
    <p:sldId id="308" r:id="rId3"/>
    <p:sldId id="316" r:id="rId4"/>
    <p:sldId id="309" r:id="rId5"/>
    <p:sldId id="322" r:id="rId6"/>
    <p:sldId id="325" r:id="rId7"/>
    <p:sldId id="321" r:id="rId8"/>
    <p:sldId id="326" r:id="rId9"/>
    <p:sldId id="317" r:id="rId10"/>
    <p:sldId id="307" r:id="rId11"/>
    <p:sldId id="319" r:id="rId12"/>
    <p:sldId id="320" r:id="rId13"/>
    <p:sldId id="315" r:id="rId14"/>
    <p:sldId id="300" r:id="rId15"/>
    <p:sldId id="301" r:id="rId16"/>
    <p:sldId id="302" r:id="rId17"/>
    <p:sldId id="260" r:id="rId18"/>
    <p:sldId id="261" r:id="rId19"/>
    <p:sldId id="268" r:id="rId20"/>
    <p:sldId id="269" r:id="rId21"/>
    <p:sldId id="270" r:id="rId22"/>
    <p:sldId id="273" r:id="rId23"/>
    <p:sldId id="280" r:id="rId24"/>
    <p:sldId id="281" r:id="rId25"/>
    <p:sldId id="271" r:id="rId26"/>
    <p:sldId id="272" r:id="rId27"/>
    <p:sldId id="262" r:id="rId28"/>
    <p:sldId id="274" r:id="rId29"/>
    <p:sldId id="263" r:id="rId30"/>
    <p:sldId id="311" r:id="rId31"/>
    <p:sldId id="312" r:id="rId32"/>
    <p:sldId id="313" r:id="rId33"/>
    <p:sldId id="278" r:id="rId34"/>
    <p:sldId id="276" r:id="rId35"/>
    <p:sldId id="283" r:id="rId36"/>
    <p:sldId id="287" r:id="rId37"/>
    <p:sldId id="304" r:id="rId38"/>
    <p:sldId id="305" r:id="rId39"/>
    <p:sldId id="314" r:id="rId40"/>
    <p:sldId id="303" r:id="rId41"/>
    <p:sldId id="290" r:id="rId42"/>
    <p:sldId id="294" r:id="rId43"/>
    <p:sldId id="291" r:id="rId44"/>
    <p:sldId id="289" r:id="rId45"/>
    <p:sldId id="292" r:id="rId46"/>
    <p:sldId id="293" r:id="rId47"/>
    <p:sldId id="288" r:id="rId48"/>
    <p:sldId id="297" r:id="rId49"/>
    <p:sldId id="298" r:id="rId50"/>
    <p:sldId id="299" r:id="rId51"/>
    <p:sldId id="265" r:id="rId52"/>
    <p:sldId id="296" r:id="rId53"/>
    <p:sldId id="264" r:id="rId54"/>
    <p:sldId id="295" r:id="rId55"/>
    <p:sldId id="284" r:id="rId56"/>
    <p:sldId id="28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76D51-F7EC-4C92-9E6B-4DE0829CF22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2E8FC-61C4-48EE-B8AB-67D8BB7F4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2E8FC-61C4-48EE-B8AB-67D8BB7F44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46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29AD-557A-2FDD-5580-AE84DE99E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31D76-A9FB-0283-AC9E-284E72F9E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25FA8-89A2-9A83-CD76-F9B496192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83BC7-65B5-06B2-8ED8-AC9A4D9FE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2E8FC-61C4-48EE-B8AB-67D8BB7F44F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3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urple background with dots&#10;&#10;Description automatically generated">
            <a:extLst>
              <a:ext uri="{FF2B5EF4-FFF2-40B4-BE49-F238E27FC236}">
                <a16:creationId xmlns:a16="http://schemas.microsoft.com/office/drawing/2014/main" id="{33EA63B4-68B6-32B3-4C06-034E2505E8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23" b="186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90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3595-F04D-4941-B21B-45BC1542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>
            <a:noAutofit/>
          </a:bodyPr>
          <a:lstStyle>
            <a:lvl1pPr algn="l">
              <a:defRPr sz="2800" b="1" kern="1200" cap="all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BB91-C7E0-4772-9AA9-8587FD85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943" y="6479753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C18AC-132F-4763-9532-A51ECE0B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1332795"/>
            <a:ext cx="11736000" cy="4856988"/>
          </a:xfrm>
        </p:spPr>
        <p:txBody>
          <a:bodyPr>
            <a:noAutofit/>
          </a:bodyPr>
          <a:lstStyle>
            <a:lvl1pPr marL="269875" indent="-2698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lvl1pPr>
            <a:lvl2pPr marL="620713" indent="-3508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lvl2pPr>
            <a:lvl3pPr marL="984250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3" name="Picture 32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EAF73916-3626-9494-B3C8-8927F7045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" y="6350375"/>
            <a:ext cx="1564424" cy="42684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52B009-5800-EFAB-0734-1737D34EDF98}"/>
              </a:ext>
            </a:extLst>
          </p:cNvPr>
          <p:cNvSpPr/>
          <p:nvPr/>
        </p:nvSpPr>
        <p:spPr>
          <a:xfrm>
            <a:off x="274892" y="833274"/>
            <a:ext cx="1289539" cy="72000"/>
          </a:xfrm>
          <a:prstGeom prst="roundRect">
            <a:avLst>
              <a:gd name="adj" fmla="val 50000"/>
            </a:avLst>
          </a:prstGeom>
          <a:solidFill>
            <a:srgbClr val="F44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2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3595-F04D-4941-B21B-45BC1542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>
            <a:noAutofit/>
          </a:bodyPr>
          <a:lstStyle>
            <a:lvl1pPr algn="ctr">
              <a:defRPr sz="2800" b="1" kern="1200" cap="all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BB91-C7E0-4772-9AA9-8587FD85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943" y="6479753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C18AC-132F-4763-9532-A51ECE0B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1332795"/>
            <a:ext cx="11736000" cy="48569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3" name="Picture 32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EAF73916-3626-9494-B3C8-8927F7045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" y="6441455"/>
            <a:ext cx="1230610" cy="33576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5AF408-E880-5595-B490-6187791614D9}"/>
              </a:ext>
            </a:extLst>
          </p:cNvPr>
          <p:cNvSpPr/>
          <p:nvPr/>
        </p:nvSpPr>
        <p:spPr>
          <a:xfrm>
            <a:off x="5451230" y="962227"/>
            <a:ext cx="1289539" cy="72000"/>
          </a:xfrm>
          <a:prstGeom prst="roundRect">
            <a:avLst>
              <a:gd name="adj" fmla="val 50000"/>
            </a:avLst>
          </a:prstGeom>
          <a:solidFill>
            <a:srgbClr val="F44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3595-F04D-4941-B21B-45BC1542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8" y="222884"/>
            <a:ext cx="8640000" cy="584775"/>
          </a:xfrm>
        </p:spPr>
        <p:txBody>
          <a:bodyPr>
            <a:noAutofit/>
          </a:bodyPr>
          <a:lstStyle>
            <a:lvl1pPr algn="l">
              <a:defRPr sz="2800" b="1" kern="1200" cap="all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BB91-C7E0-4772-9AA9-8587FD85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943" y="6479753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C18AC-132F-4763-9532-A51ECE0B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8" y="1332795"/>
            <a:ext cx="8640000" cy="48569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5AF408-E880-5595-B490-6187791614D9}"/>
              </a:ext>
            </a:extLst>
          </p:cNvPr>
          <p:cNvSpPr/>
          <p:nvPr/>
        </p:nvSpPr>
        <p:spPr>
          <a:xfrm>
            <a:off x="3387967" y="844997"/>
            <a:ext cx="1289539" cy="72000"/>
          </a:xfrm>
          <a:prstGeom prst="roundRect">
            <a:avLst>
              <a:gd name="adj" fmla="val 50000"/>
            </a:avLst>
          </a:prstGeom>
          <a:solidFill>
            <a:srgbClr val="F44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5E212E-6EC4-BDE8-A92E-DD508606A2F5}"/>
              </a:ext>
            </a:extLst>
          </p:cNvPr>
          <p:cNvSpPr/>
          <p:nvPr/>
        </p:nvSpPr>
        <p:spPr>
          <a:xfrm>
            <a:off x="0" y="0"/>
            <a:ext cx="3199148" cy="6858000"/>
          </a:xfrm>
          <a:prstGeom prst="rect">
            <a:avLst/>
          </a:prstGeom>
          <a:gradFill>
            <a:gsLst>
              <a:gs pos="0">
                <a:srgbClr val="152D77"/>
              </a:gs>
              <a:gs pos="97000">
                <a:srgbClr val="180A2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rabun"/>
              <a:ea typeface="+mn-ea"/>
              <a:cs typeface="Sarabun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77925D29-6CC8-2B91-60B6-B57E865EB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6388318"/>
            <a:ext cx="1267983" cy="34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7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3595-F04D-4941-B21B-45BC1542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8" y="222884"/>
            <a:ext cx="8640000" cy="584775"/>
          </a:xfrm>
        </p:spPr>
        <p:txBody>
          <a:bodyPr>
            <a:noAutofit/>
          </a:bodyPr>
          <a:lstStyle>
            <a:lvl1pPr algn="l">
              <a:defRPr sz="2800" b="1" kern="1200" cap="all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BB91-C7E0-4772-9AA9-8587FD85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943" y="6479753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C18AC-132F-4763-9532-A51ECE0B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8" y="1332795"/>
            <a:ext cx="8640000" cy="48569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5E212E-6EC4-BDE8-A92E-DD508606A2F5}"/>
              </a:ext>
            </a:extLst>
          </p:cNvPr>
          <p:cNvSpPr/>
          <p:nvPr/>
        </p:nvSpPr>
        <p:spPr>
          <a:xfrm>
            <a:off x="0" y="0"/>
            <a:ext cx="3199148" cy="6858000"/>
          </a:xfrm>
          <a:prstGeom prst="rect">
            <a:avLst/>
          </a:prstGeom>
          <a:gradFill>
            <a:gsLst>
              <a:gs pos="0">
                <a:srgbClr val="152D77"/>
              </a:gs>
              <a:gs pos="97000">
                <a:srgbClr val="180A2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rabun"/>
              <a:ea typeface="+mn-ea"/>
              <a:cs typeface="Sarabun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77925D29-6CC8-2B91-60B6-B57E865EB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6388318"/>
            <a:ext cx="1267983" cy="34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5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9D92-6C96-1280-A16D-E3190A8E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2176-DB7F-042D-1D68-11904B8A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87DB-20EA-8D27-AED3-12D84F57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0795-72F2-492E-9C26-06BB9DFF7FD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478E-5ED7-7CB2-A223-8D52BDD0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4B4A-CC45-72D8-46DF-C3F022AF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2777F-ED16-480D-A0DE-A3BDD59D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9DA42-2EAF-4EE9-B906-20D2298D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DE577-C291-4B66-9C59-8DE43B8E0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50795-72F2-492E-9C26-06BB9DFF7FD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01C8-7B36-4E2D-990A-385D9741E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EEFBB-C297-451A-9149-2A543359A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E44D4-E6EB-4A2F-9DB9-D0641F54A2A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55490-9B2A-EB1B-16E0-AD47DD80E8B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45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080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bdiagram.io/d/izara_database_schemas-692857a3a0c4ebcc2b015da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797C8C-1E1B-07A9-D2B2-4A88EF2120A8}"/>
              </a:ext>
            </a:extLst>
          </p:cNvPr>
          <p:cNvSpPr txBox="1">
            <a:spLocks/>
          </p:cNvSpPr>
          <p:nvPr/>
        </p:nvSpPr>
        <p:spPr>
          <a:xfrm>
            <a:off x="1287729" y="2548693"/>
            <a:ext cx="9616542" cy="1760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chemeClr val="accent2"/>
                </a:solidFill>
              </a:rPr>
              <a:t>Isara Anywhere – Prototype</a:t>
            </a:r>
            <a:r>
              <a:rPr lang="th-TH" sz="6000" b="1" dirty="0">
                <a:solidFill>
                  <a:schemeClr val="accent2"/>
                </a:solidFill>
              </a:rPr>
              <a:t> </a:t>
            </a:r>
            <a:r>
              <a:rPr lang="en-US" sz="6000" b="1" dirty="0">
                <a:solidFill>
                  <a:schemeClr val="accent2"/>
                </a:solidFill>
              </a:rPr>
              <a:t>UI pages of Patient</a:t>
            </a:r>
          </a:p>
        </p:txBody>
      </p:sp>
    </p:spTree>
    <p:extLst>
      <p:ext uri="{BB962C8B-B14F-4D97-AF65-F5344CB8AC3E}">
        <p14:creationId xmlns:p14="http://schemas.microsoft.com/office/powerpoint/2010/main" val="347473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271B-862E-B1AC-ACC8-977F444D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3E3C-A372-3829-0319-FFB15AB5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9E36-A956-F3BA-8E4D-51C77DA0F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1169580"/>
            <a:ext cx="11736000" cy="511426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th-TH" sz="2400" b="1" dirty="0"/>
              <a:t>ภาพรวมระบบ </a:t>
            </a:r>
            <a:r>
              <a:rPr lang="en-US" sz="2400" b="1" dirty="0"/>
              <a:t>Isara Anywhere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b="1" dirty="0"/>
              <a:t>เครื่องมือที่ใช้ใน </a:t>
            </a:r>
            <a:r>
              <a:rPr lang="en-US" sz="2400" b="1" dirty="0"/>
              <a:t>Isara Anywhere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b="1" dirty="0"/>
              <a:t>กระบวนการและ </a:t>
            </a:r>
            <a:r>
              <a:rPr lang="en-US" sz="2400" b="1" dirty="0"/>
              <a:t>features </a:t>
            </a:r>
            <a:r>
              <a:rPr lang="th-TH" sz="2400" b="1" dirty="0"/>
              <a:t>หลัก ใน </a:t>
            </a:r>
            <a:endParaRPr lang="en-US" sz="2400" b="1" dirty="0"/>
          </a:p>
          <a:p>
            <a:pPr lvl="1"/>
            <a:r>
              <a:rPr lang="en-US" sz="2400" b="1" dirty="0"/>
              <a:t>Patient portals</a:t>
            </a:r>
          </a:p>
          <a:p>
            <a:pPr lvl="1"/>
            <a:r>
              <a:rPr lang="en-US" sz="2400" b="1" dirty="0"/>
              <a:t>Doctor portals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b="1" dirty="0"/>
              <a:t>โครงสร้างฐานข้อมูล</a:t>
            </a: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th-TH" sz="2400" b="1" dirty="0"/>
              <a:t>กระบวนการและ </a:t>
            </a:r>
            <a:r>
              <a:rPr lang="en-US" sz="2400" b="1" dirty="0"/>
              <a:t>features </a:t>
            </a:r>
            <a:r>
              <a:rPr lang="th-TH" sz="2400" b="1" dirty="0"/>
              <a:t>หลัก ใน </a:t>
            </a:r>
            <a:endParaRPr lang="en-US" sz="2400" b="1" dirty="0"/>
          </a:p>
          <a:p>
            <a:pPr marL="269875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3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3E27-99F2-03FB-4551-C3CBECDE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17EFB8-7C23-1D31-0344-7795D49D4966}"/>
              </a:ext>
            </a:extLst>
          </p:cNvPr>
          <p:cNvSpPr txBox="1">
            <a:spLocks/>
          </p:cNvSpPr>
          <p:nvPr/>
        </p:nvSpPr>
        <p:spPr>
          <a:xfrm>
            <a:off x="1287729" y="2548693"/>
            <a:ext cx="9616542" cy="1760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solidFill>
                  <a:schemeClr val="accent2"/>
                </a:solidFill>
              </a:rPr>
              <a:t>ภาพรวมระบบ </a:t>
            </a:r>
            <a:r>
              <a:rPr lang="en-US" sz="6000" b="1" dirty="0">
                <a:solidFill>
                  <a:schemeClr val="accent2"/>
                </a:solidFill>
              </a:rPr>
              <a:t>Isara Anywhere</a:t>
            </a:r>
          </a:p>
        </p:txBody>
      </p:sp>
    </p:spTree>
    <p:extLst>
      <p:ext uri="{BB962C8B-B14F-4D97-AF65-F5344CB8AC3E}">
        <p14:creationId xmlns:p14="http://schemas.microsoft.com/office/powerpoint/2010/main" val="37588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F81A-D7A8-CE22-A21D-65656292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DF8E-025F-48E0-A30F-DC0E12FC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ภาพรวมระบบ 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25C2B-5A9C-A8DC-BCAB-9F54B380E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1169580"/>
            <a:ext cx="11736000" cy="677631"/>
          </a:xfrm>
        </p:spPr>
        <p:txBody>
          <a:bodyPr numCol="1"/>
          <a:lstStyle/>
          <a:p>
            <a:r>
              <a:rPr lang="en-US" b="1" dirty="0"/>
              <a:t>ISARA Anywhere</a:t>
            </a:r>
            <a:r>
              <a:rPr lang="en-US" dirty="0"/>
              <a:t> </a:t>
            </a:r>
            <a:r>
              <a:rPr lang="th-TH" dirty="0"/>
              <a:t>เป็นแพลตฟอร์ม </a:t>
            </a:r>
            <a:r>
              <a:rPr lang="en-US" dirty="0"/>
              <a:t>Telemedicine </a:t>
            </a:r>
            <a:r>
              <a:rPr lang="th-TH" dirty="0"/>
              <a:t>ครบวงจรที่ออกแบบเพื่อประเทศไทย พร้อมให้บริการสุขภาพแบบสมบูรณ์ผ่านระบบดิจิทัล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1955C-26C0-AAD3-CAE2-A1109561C4B7}"/>
              </a:ext>
            </a:extLst>
          </p:cNvPr>
          <p:cNvSpPr txBox="1"/>
          <p:nvPr/>
        </p:nvSpPr>
        <p:spPr>
          <a:xfrm>
            <a:off x="1780215" y="2083751"/>
            <a:ext cx="4315785" cy="415498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🔷 Patient Portal</a:t>
            </a:r>
            <a:endParaRPr lang="th-TH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ผู้ใช้: ผู้ป่วย, ประชาชนทั่วไป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หน้าที่หลัก: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นัดหมายแพทย์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ดูประวัติการรักษา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ติดตามการใช้ยา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ดูผลตรวจแล็บ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ติดต่อแพทย์</a:t>
            </a:r>
          </a:p>
          <a:p>
            <a:pPr lvl="1"/>
            <a:endParaRPr lang="th-TH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D96A5-11CF-B673-71EC-744B27F4B39C}"/>
              </a:ext>
            </a:extLst>
          </p:cNvPr>
          <p:cNvSpPr txBox="1"/>
          <p:nvPr/>
        </p:nvSpPr>
        <p:spPr>
          <a:xfrm>
            <a:off x="6096000" y="2083751"/>
            <a:ext cx="4315785" cy="446276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🔷 Doctor Portal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ผู้ใช้: แพทย์, เจ้าหน้าที่ </a:t>
            </a:r>
            <a:r>
              <a:rPr lang="en-US" sz="2000" dirty="0"/>
              <a:t>Admin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หน้าที่หลัก: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จัดการนัดหมาย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บันทึกเวชระเบียน (</a:t>
            </a:r>
            <a:r>
              <a:rPr lang="en-US" sz="2000" dirty="0"/>
              <a:t>EMR)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สั่งยา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สั่งตรวจแล็บ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2000" dirty="0"/>
              <a:t>วิดีโอตรวจ</a:t>
            </a:r>
          </a:p>
          <a:p>
            <a:br>
              <a:rPr lang="th-TH" sz="2000" dirty="0"/>
            </a:b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390777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E37D-FD46-B780-A47C-8F228B7A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3D31-9FB9-D94E-C2B6-663B6E5C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ภาพรวมระบบ 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BB91D-CFCE-5215-9ACA-946E1EA37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940980"/>
            <a:ext cx="11736000" cy="5465536"/>
          </a:xfrm>
        </p:spPr>
        <p:txBody>
          <a:bodyPr numCol="1"/>
          <a:lstStyle/>
          <a:p>
            <a:pPr marL="0" indent="0">
              <a:buNone/>
            </a:pPr>
            <a:r>
              <a:rPr lang="en-US" b="1" dirty="0"/>
              <a:t>8 FEATURES </a:t>
            </a:r>
            <a:r>
              <a:rPr lang="th-TH" b="1" dirty="0"/>
              <a:t>หลักของระบบ</a:t>
            </a:r>
          </a:p>
          <a:p>
            <a:pPr marL="0" indent="0">
              <a:buNone/>
            </a:pPr>
            <a:r>
              <a:rPr lang="en-US" sz="1800" b="1" dirty="0"/>
              <a:t>1. Smart Appointment Booking</a:t>
            </a:r>
          </a:p>
          <a:p>
            <a:r>
              <a:rPr lang="th-TH" sz="1800" dirty="0"/>
              <a:t>ใช้สำหรับให้ผู้ป่วยเลือกหัวข้ออาการหรือสาเหตุการมาพบแพทย์ แล้วระบบช่วยจับคู่ไปยังแผนกหรือแพทย์ที่เหมาะสม</a:t>
            </a:r>
          </a:p>
          <a:p>
            <a:r>
              <a:rPr lang="th-TH" sz="1800" dirty="0"/>
              <a:t>รองรับการเลือกวัน–เวลา, รูปแบบการพบ (ออนไลน์/ออนไซต์) และยืนยันการนัดหมายผ่านหน้าจอเดียว</a:t>
            </a:r>
          </a:p>
          <a:p>
            <a:r>
              <a:rPr lang="th-TH" sz="1800" dirty="0"/>
              <a:t>มีส่วนจัดการสถานะนัดหมาย เช่น สร้าง แก้ไข ยกเลิก และแสดงรายการนัดหมายทั้งหมดของผู้ป่วยและแพทย์</a:t>
            </a:r>
            <a:br>
              <a:rPr lang="th-TH" sz="1800" dirty="0"/>
            </a:br>
            <a:endParaRPr lang="th-TH" sz="1800" dirty="0"/>
          </a:p>
          <a:p>
            <a:pPr marL="0" indent="0">
              <a:buNone/>
            </a:pPr>
            <a:r>
              <a:rPr lang="th-TH" sz="1800" b="1" dirty="0"/>
              <a:t>2. </a:t>
            </a:r>
            <a:r>
              <a:rPr lang="en-US" sz="1800" b="1" dirty="0"/>
              <a:t>Dual Portal: Patient Portal &amp; Doctor Portal</a:t>
            </a:r>
          </a:p>
          <a:p>
            <a:r>
              <a:rPr lang="en-US" sz="1800" dirty="0"/>
              <a:t>Patient Portal </a:t>
            </a:r>
            <a:r>
              <a:rPr lang="th-TH" sz="1800" dirty="0"/>
              <a:t>ใช้สำหรับลงทะเบียนเข้าใช้ระบบ, ดู </a:t>
            </a:r>
            <a:r>
              <a:rPr lang="en-US" sz="1800" dirty="0"/>
              <a:t>Dashboard </a:t>
            </a:r>
            <a:r>
              <a:rPr lang="th-TH" sz="1800" dirty="0"/>
              <a:t>ส่วนตัว, เข้าหน้า “นัดหมาย”, “ประวัติสุขภาพ (</a:t>
            </a:r>
            <a:r>
              <a:rPr lang="en-US" sz="1800" dirty="0"/>
              <a:t>PHR)”, “</a:t>
            </a:r>
            <a:r>
              <a:rPr lang="th-TH" sz="1800" dirty="0"/>
              <a:t>เนื้อหาทางการแพทย์” และใช้ </a:t>
            </a:r>
            <a:r>
              <a:rPr lang="en-US" sz="1800" dirty="0"/>
              <a:t>AI Health Chat</a:t>
            </a:r>
          </a:p>
          <a:p>
            <a:r>
              <a:rPr lang="en-US" sz="1800" dirty="0"/>
              <a:t>Doctor Portal </a:t>
            </a:r>
            <a:r>
              <a:rPr lang="th-TH" sz="1800" dirty="0"/>
              <a:t>ใช้สำหรับเข้าสู่ระบบของแพทย์, ดู </a:t>
            </a:r>
            <a:r>
              <a:rPr lang="en-US" sz="1800" dirty="0"/>
              <a:t>Queue </a:t>
            </a:r>
            <a:r>
              <a:rPr lang="th-TH" sz="1800" dirty="0"/>
              <a:t>ผู้ป่วย, เปิด </a:t>
            </a:r>
            <a:r>
              <a:rPr lang="en-US" sz="1800" dirty="0"/>
              <a:t>EMR Editor, </a:t>
            </a:r>
            <a:r>
              <a:rPr lang="th-TH" sz="1800" dirty="0"/>
              <a:t>สั่งยา, สั่ง </a:t>
            </a:r>
            <a:r>
              <a:rPr lang="en-US" sz="1800" dirty="0"/>
              <a:t>Lab/Imaging, </a:t>
            </a:r>
            <a:r>
              <a:rPr lang="th-TH" sz="1800" dirty="0"/>
              <a:t>จัดการตารางเวลาว่าง และเข้าฟีเจอร์ </a:t>
            </a:r>
            <a:r>
              <a:rPr lang="en-US" sz="1800" dirty="0"/>
              <a:t>Video Consultation</a:t>
            </a:r>
          </a:p>
          <a:p>
            <a:r>
              <a:rPr lang="th-TH" sz="1800" dirty="0"/>
              <a:t>ทั้งสอง </a:t>
            </a:r>
            <a:r>
              <a:rPr lang="en-US" sz="1800" dirty="0"/>
              <a:t>Portal </a:t>
            </a:r>
            <a:r>
              <a:rPr lang="th-TH" sz="1800" dirty="0"/>
              <a:t>เชื่อมกันผ่าน </a:t>
            </a:r>
            <a:r>
              <a:rPr lang="en-US" sz="1800" dirty="0"/>
              <a:t>Backend </a:t>
            </a:r>
            <a:r>
              <a:rPr lang="th-TH" sz="1800" dirty="0"/>
              <a:t>เดียวกัน โดยข้อมูลนัดหมายและเวชระเบียนจะถูกซิงค์ระหว่างกันแบบ</a:t>
            </a:r>
            <a:r>
              <a:rPr lang="th-TH" dirty="0"/>
              <a:t>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352782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1863-9B02-919C-ACA5-DBC86D18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94E-2512-733D-015B-E2F8D40B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ภาพรวมระบบ 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EEB1-AD1F-FDF4-A439-00597B269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940980"/>
            <a:ext cx="11736000" cy="5465536"/>
          </a:xfrm>
        </p:spPr>
        <p:txBody>
          <a:bodyPr numCol="1"/>
          <a:lstStyle/>
          <a:p>
            <a:pPr marL="0" indent="0">
              <a:buNone/>
            </a:pPr>
            <a:r>
              <a:rPr lang="en-US" b="1" dirty="0"/>
              <a:t>8 FEATURES </a:t>
            </a:r>
            <a:r>
              <a:rPr lang="th-TH" b="1" dirty="0"/>
              <a:t>หลักของระบบ</a:t>
            </a:r>
          </a:p>
          <a:p>
            <a:pPr marL="0" indent="0">
              <a:buNone/>
            </a:pPr>
            <a:r>
              <a:rPr lang="th-TH" sz="1800" b="1" dirty="0"/>
              <a:t>3. </a:t>
            </a:r>
            <a:r>
              <a:rPr lang="en-US" sz="1800" b="1" dirty="0"/>
              <a:t>EMR &amp; Consultation Workflow (SOAP + Orders)</a:t>
            </a:r>
          </a:p>
          <a:p>
            <a:pPr lvl="1"/>
            <a:r>
              <a:rPr lang="th-TH" sz="1800" dirty="0"/>
              <a:t>แพทย์ใช้ </a:t>
            </a:r>
            <a:r>
              <a:rPr lang="en-US" sz="1800" dirty="0"/>
              <a:t>EMR Editor </a:t>
            </a:r>
            <a:r>
              <a:rPr lang="th-TH" sz="1800" dirty="0"/>
              <a:t>เพื่อบันทึกข้อมูลการตรวจในรูปแบบ </a:t>
            </a:r>
            <a:r>
              <a:rPr lang="en-US" sz="1800" dirty="0"/>
              <a:t>SOAP: Subjective, Objective, Assessment, Plan</a:t>
            </a:r>
          </a:p>
          <a:p>
            <a:pPr lvl="1"/>
            <a:r>
              <a:rPr lang="th-TH" sz="1800" dirty="0"/>
              <a:t>ภายในหน้า </a:t>
            </a:r>
            <a:r>
              <a:rPr lang="en-US" sz="1800" dirty="0"/>
              <a:t>EMR </a:t>
            </a:r>
            <a:r>
              <a:rPr lang="th-TH" sz="1800" dirty="0"/>
              <a:t>สามารถสั่งยา (</a:t>
            </a:r>
            <a:r>
              <a:rPr lang="en-US" sz="1800" dirty="0"/>
              <a:t>Prescribing), </a:t>
            </a:r>
            <a:r>
              <a:rPr lang="th-TH" sz="1800" dirty="0"/>
              <a:t>สั่งตรวจแล็บ/ภาพถ่าย, เพิ่ม </a:t>
            </a:r>
            <a:r>
              <a:rPr lang="en-US" sz="1800" dirty="0"/>
              <a:t>Diagnosis (ICD-10), </a:t>
            </a:r>
            <a:r>
              <a:rPr lang="th-TH" sz="1800" dirty="0"/>
              <a:t>ระบุแผนการรักษา และบันทึกคำแนะนำผู้ป่วยใน </a:t>
            </a:r>
            <a:r>
              <a:rPr lang="en-US" sz="1800" dirty="0"/>
              <a:t>Encounter </a:t>
            </a:r>
            <a:r>
              <a:rPr lang="th-TH" sz="1800" dirty="0"/>
              <a:t>เดียวกัน</a:t>
            </a:r>
          </a:p>
          <a:p>
            <a:pPr lvl="1"/>
            <a:r>
              <a:rPr lang="th-TH" sz="1800" dirty="0"/>
              <a:t>หลังจบการตรวจ แพทย์ลงลายมือชื่อดิจิทัลและบันทึก </a:t>
            </a:r>
            <a:r>
              <a:rPr lang="en-US" sz="1800" dirty="0"/>
              <a:t>EMR </a:t>
            </a:r>
            <a:r>
              <a:rPr lang="th-TH" sz="1800" dirty="0"/>
              <a:t>ซึ่งจะถูกจัดเก็บในระบบและเชื่อมไปยังข้อมูลของผู้ป่วยใน </a:t>
            </a:r>
            <a:r>
              <a:rPr lang="en-US" sz="1800" dirty="0"/>
              <a:t>Patient Portal</a:t>
            </a:r>
            <a:endParaRPr lang="th-TH" sz="1800" dirty="0"/>
          </a:p>
          <a:p>
            <a:pPr marL="269875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4. E‑Prescribing &amp; Drug Safety Checks</a:t>
            </a:r>
          </a:p>
          <a:p>
            <a:pPr lvl="1"/>
            <a:r>
              <a:rPr lang="th-TH" sz="1800" dirty="0"/>
              <a:t>ฟีเจอร์สั่งยาให้แพทย์ค้นหาเลือกยาจากฐานข้อมูลยา, กำหนดขนาดยา, ความถี่, ระยะเวลาใช้ และคำแนะนำการใช้ยารายการละเอียดย่อย</a:t>
            </a:r>
          </a:p>
          <a:p>
            <a:pPr lvl="1"/>
            <a:r>
              <a:rPr lang="th-TH" sz="1800" dirty="0"/>
              <a:t>มีขั้นตอนตรวจสอบยา เช่น ตรวจประวัติการแพ้ยา, ตรวจรายการยาที่ใช้อยู่ และตรวจปฏิสัมพันธ์ยา ก่อนยืนยันคำสั่งยา</a:t>
            </a:r>
          </a:p>
          <a:p>
            <a:pPr lvl="1"/>
            <a:r>
              <a:rPr lang="th-TH" sz="1800" dirty="0"/>
              <a:t>เมื่อแพทย์ยืนยัน ระบบจะสร้าง </a:t>
            </a:r>
            <a:r>
              <a:rPr lang="en-US" sz="1800" dirty="0"/>
              <a:t>Prescription Record </a:t>
            </a:r>
            <a:r>
              <a:rPr lang="th-TH" sz="1800" dirty="0"/>
              <a:t>ผูกกับ </a:t>
            </a:r>
            <a:r>
              <a:rPr lang="en-US" sz="1800" dirty="0"/>
              <a:t>Encounter </a:t>
            </a:r>
            <a:r>
              <a:rPr lang="th-TH" sz="1800" dirty="0"/>
              <a:t>และสามารถส่งต่อให้หน่วยจ่ายยา/ร้านยาได้</a:t>
            </a:r>
            <a:endParaRPr lang="th-TH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8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52522-D827-9EDA-9378-1B1B6335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52D-B0B8-6718-6933-8B169A21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ภาพรวมระบบ 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FDB0-FC56-335A-9B24-B8E0B2F69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924045"/>
            <a:ext cx="11736000" cy="5465536"/>
          </a:xfrm>
        </p:spPr>
        <p:txBody>
          <a:bodyPr numCol="1"/>
          <a:lstStyle/>
          <a:p>
            <a:pPr marL="0" indent="0">
              <a:buNone/>
            </a:pPr>
            <a:r>
              <a:rPr lang="en-US" b="1" dirty="0"/>
              <a:t>8 FEATURES </a:t>
            </a:r>
            <a:r>
              <a:rPr lang="th-TH" b="1" dirty="0"/>
              <a:t>หลักของระบบ</a:t>
            </a:r>
          </a:p>
          <a:p>
            <a:pPr marL="0" indent="0">
              <a:buNone/>
            </a:pPr>
            <a:r>
              <a:rPr lang="th-TH" sz="1800" b="1" dirty="0"/>
              <a:t>5. </a:t>
            </a:r>
            <a:r>
              <a:rPr lang="en-US" sz="1800" b="1" dirty="0"/>
              <a:t>Lab &amp; Imaging Order Management</a:t>
            </a:r>
          </a:p>
          <a:p>
            <a:r>
              <a:rPr lang="th-TH" sz="1800" dirty="0"/>
              <a:t>ฟีเจอร์ออกคำสั่งตรวจแล็บ (เช่น </a:t>
            </a:r>
            <a:r>
              <a:rPr lang="en-US" sz="1800" dirty="0"/>
              <a:t>CBC, LFT, Lipid Panel) </a:t>
            </a:r>
            <a:r>
              <a:rPr lang="th-TH" sz="1800" dirty="0"/>
              <a:t>และ </a:t>
            </a:r>
            <a:r>
              <a:rPr lang="en-US" sz="1800" dirty="0"/>
              <a:t>Imaging (X‑ray, CT, MRI, Ultrasound) </a:t>
            </a:r>
            <a:r>
              <a:rPr lang="th-TH" sz="1800" dirty="0"/>
              <a:t>ภายในหน้า </a:t>
            </a:r>
            <a:r>
              <a:rPr lang="en-US" sz="1800" dirty="0"/>
              <a:t>EMR </a:t>
            </a:r>
            <a:r>
              <a:rPr lang="th-TH" sz="1800" dirty="0"/>
              <a:t>เดียวกัน</a:t>
            </a:r>
          </a:p>
          <a:p>
            <a:r>
              <a:rPr lang="th-TH" sz="1800" dirty="0"/>
              <a:t>รองรับการกำหนดรายละเอียด เช่น ประเภทการตรวจ, </a:t>
            </a:r>
            <a:r>
              <a:rPr lang="en-US" sz="1800" dirty="0"/>
              <a:t>Panel, </a:t>
            </a:r>
            <a:r>
              <a:rPr lang="th-TH" sz="1800" dirty="0"/>
              <a:t>ความเร่งด่วน, ส่วนของร่างกาย, การใช้หรือไม่ใช้สารทึบรังสี</a:t>
            </a:r>
          </a:p>
          <a:p>
            <a:r>
              <a:rPr lang="th-TH" sz="1800" dirty="0"/>
              <a:t>มีขั้นตอน </a:t>
            </a:r>
            <a:r>
              <a:rPr lang="en-US" sz="1800" dirty="0"/>
              <a:t>Finalize Order </a:t>
            </a:r>
            <a:r>
              <a:rPr lang="th-TH" sz="1800" dirty="0"/>
              <a:t>เพื่อส่งคำขอตรวจไปยังระบบแล็บ/รังสี และรองรับการบันทึกผลตรวจกลับเข้าสู่ </a:t>
            </a:r>
            <a:r>
              <a:rPr lang="en-US" sz="1800" dirty="0"/>
              <a:t>EMR </a:t>
            </a:r>
            <a:r>
              <a:rPr lang="th-TH" sz="1800" dirty="0"/>
              <a:t>เมื่อผลออก</a:t>
            </a:r>
            <a:br>
              <a:rPr lang="th-TH" sz="1800" dirty="0"/>
            </a:br>
            <a:endParaRPr lang="th-TH" sz="1800" dirty="0"/>
          </a:p>
          <a:p>
            <a:pPr marL="0" indent="0">
              <a:buNone/>
            </a:pPr>
            <a:r>
              <a:rPr lang="th-TH" sz="1800" b="1" dirty="0"/>
              <a:t>6. </a:t>
            </a:r>
            <a:r>
              <a:rPr lang="en-US" sz="1800" b="1" dirty="0"/>
              <a:t>Personal Health Records (PHR) &amp; Patient Health Dashboard</a:t>
            </a:r>
          </a:p>
          <a:p>
            <a:r>
              <a:rPr lang="th-TH" sz="1800" dirty="0"/>
              <a:t>ในฝั่งผู้ป่วยมี </a:t>
            </a:r>
            <a:r>
              <a:rPr lang="en-US" sz="1800" dirty="0"/>
              <a:t>PHR Dashboard </a:t>
            </a:r>
            <a:r>
              <a:rPr lang="th-TH" sz="1800" dirty="0"/>
              <a:t>แสดงสรุปข้อมูลสุขภาพ เช่น รายการยา, ประวัติแพ้ยา, ค่าชีวสัญญาณ, ประวัติการตรวจและการรักษา</a:t>
            </a:r>
          </a:p>
          <a:p>
            <a:r>
              <a:rPr lang="th-TH" sz="1800" dirty="0"/>
              <a:t>ผู้ป่วยสามารถเปิดดูรายละเอียด </a:t>
            </a:r>
            <a:r>
              <a:rPr lang="en-US" sz="1800" dirty="0"/>
              <a:t>EMR </a:t>
            </a:r>
            <a:r>
              <a:rPr lang="th-TH" sz="1800" dirty="0"/>
              <a:t>ที่แชร์ให้ดูได้, ดูผล </a:t>
            </a:r>
            <a:r>
              <a:rPr lang="en-US" sz="1800" dirty="0"/>
              <a:t>Lab/Imaging, </a:t>
            </a:r>
            <a:r>
              <a:rPr lang="th-TH" sz="1800" dirty="0"/>
              <a:t>เพิ่ม/แก้ไขข้อมูลส่วนตัวบางส่วน เช่น </a:t>
            </a:r>
            <a:r>
              <a:rPr lang="en-US" sz="1800" dirty="0"/>
              <a:t>Profile </a:t>
            </a:r>
            <a:r>
              <a:rPr lang="th-TH" sz="1800" dirty="0"/>
              <a:t>และอัปโหลดเอกสารสุขภาพส่วนตัว</a:t>
            </a:r>
          </a:p>
          <a:p>
            <a:r>
              <a:rPr lang="th-TH" sz="1800" dirty="0"/>
              <a:t>มีเมนูย่อย เช่น </a:t>
            </a:r>
            <a:r>
              <a:rPr lang="en-US" sz="1800" dirty="0"/>
              <a:t>Medications, Allergies, Vitals, Treatment Results </a:t>
            </a:r>
            <a:r>
              <a:rPr lang="th-TH" sz="1800" dirty="0"/>
              <a:t>เพื่อจัดกลุ่มข้อมูลให้ค้นหาและเรียกดูได้ง่าย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50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4739-4AAD-9435-8133-E892F5DC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0166-5FE6-5F24-4CEC-9B47CAF2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ภาพรวมระบบ 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E97A-3888-07E9-5978-4B89E1666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924046"/>
            <a:ext cx="11736000" cy="5465536"/>
          </a:xfrm>
        </p:spPr>
        <p:txBody>
          <a:bodyPr numCol="1"/>
          <a:lstStyle/>
          <a:p>
            <a:pPr marL="0" indent="0">
              <a:buNone/>
            </a:pPr>
            <a:r>
              <a:rPr lang="en-US" b="1" dirty="0"/>
              <a:t>8 FEATURES </a:t>
            </a:r>
            <a:r>
              <a:rPr lang="th-TH" b="1" dirty="0"/>
              <a:t>หลักของระบบ</a:t>
            </a:r>
            <a:endParaRPr lang="th-TH" dirty="0"/>
          </a:p>
          <a:p>
            <a:pPr marL="0" indent="0">
              <a:buNone/>
            </a:pPr>
            <a:r>
              <a:rPr lang="th-TH" sz="1800" b="1" dirty="0"/>
              <a:t>7. </a:t>
            </a:r>
            <a:r>
              <a:rPr lang="en-US" sz="1800" b="1" dirty="0"/>
              <a:t>AI‑Powered Clinical &amp; Health Assistant</a:t>
            </a:r>
          </a:p>
          <a:p>
            <a:r>
              <a:rPr lang="th-TH" sz="1800" dirty="0"/>
              <a:t>ฝั่งแพทย์มี </a:t>
            </a:r>
            <a:r>
              <a:rPr lang="en-US" sz="1800" dirty="0"/>
              <a:t>AI Clinical Copilot </a:t>
            </a:r>
            <a:r>
              <a:rPr lang="th-TH" sz="1800" dirty="0"/>
              <a:t>ช่วยเสนอร่าง </a:t>
            </a:r>
            <a:r>
              <a:rPr lang="en-US" sz="1800" dirty="0"/>
              <a:t>SOAP Note, </a:t>
            </a:r>
            <a:r>
              <a:rPr lang="th-TH" sz="1800" dirty="0"/>
              <a:t>แนะนำ </a:t>
            </a:r>
            <a:r>
              <a:rPr lang="en-US" sz="1800" dirty="0"/>
              <a:t>Differential Diagnosis, </a:t>
            </a:r>
            <a:r>
              <a:rPr lang="th-TH" sz="1800" dirty="0"/>
              <a:t>แนะนำ </a:t>
            </a:r>
            <a:r>
              <a:rPr lang="en-US" sz="1800" dirty="0"/>
              <a:t>ICD‑10 Code </a:t>
            </a:r>
            <a:r>
              <a:rPr lang="th-TH" sz="1800" dirty="0"/>
              <a:t>และสรุปข้อมูลจากประวัติเดิมของผู้ป่วย</a:t>
            </a:r>
          </a:p>
          <a:p>
            <a:r>
              <a:rPr lang="th-TH" sz="1800" dirty="0"/>
              <a:t>ฝั่งผู้ป่วยมี </a:t>
            </a:r>
            <a:r>
              <a:rPr lang="en-US" sz="1800" dirty="0"/>
              <a:t>AI Health Chat </a:t>
            </a:r>
            <a:r>
              <a:rPr lang="th-TH" sz="1800" dirty="0"/>
              <a:t>ใช้ถามคำถามสุขภาพทั่วไป, อธิบายโรค, สรุปผลการตรวจ และช่วยเตรียมคำถามก่อนพบแพทย์จากอาการที่กรอก</a:t>
            </a:r>
          </a:p>
          <a:p>
            <a:r>
              <a:rPr lang="en-US" sz="1800" dirty="0"/>
              <a:t>AI </a:t>
            </a:r>
            <a:r>
              <a:rPr lang="th-TH" sz="1800" dirty="0"/>
              <a:t>เชื่อมกับข้อมูลที่ได้รับอนุญาตจากระบบ (เช่น ข้อมูล </a:t>
            </a:r>
            <a:r>
              <a:rPr lang="en-US" sz="1800" dirty="0"/>
              <a:t>Encounter </a:t>
            </a:r>
            <a:r>
              <a:rPr lang="th-TH" sz="1800" dirty="0"/>
              <a:t>หรือคำถามผู้ใช้) เพื่อสร้างข้อความและคำแนะนำในภาษาธรรมชาติ</a:t>
            </a:r>
          </a:p>
          <a:p>
            <a:pPr marL="0" indent="0">
              <a:buNone/>
            </a:pPr>
            <a:r>
              <a:rPr lang="th-TH" sz="1800" b="1" dirty="0"/>
              <a:t>8. </a:t>
            </a:r>
            <a:r>
              <a:rPr lang="en-US" sz="1800" b="1" dirty="0"/>
              <a:t>Video Consultation &amp; External Service Integration</a:t>
            </a:r>
          </a:p>
          <a:p>
            <a:r>
              <a:rPr lang="th-TH" sz="1800" dirty="0"/>
              <a:t>ใช้ </a:t>
            </a:r>
            <a:r>
              <a:rPr lang="en-US" sz="1800" dirty="0" err="1"/>
              <a:t>Jitsi</a:t>
            </a:r>
            <a:r>
              <a:rPr lang="en-US" sz="1800" dirty="0"/>
              <a:t> Meeting </a:t>
            </a:r>
            <a:r>
              <a:rPr lang="th-TH" sz="1800" dirty="0"/>
              <a:t>เป็นระบบ </a:t>
            </a:r>
            <a:r>
              <a:rPr lang="en-US" sz="1800" dirty="0"/>
              <a:t>Video Call </a:t>
            </a:r>
            <a:r>
              <a:rPr lang="th-TH" sz="1800" dirty="0"/>
              <a:t>ระหว่างแพทย์กับผู้ป่วย โดยระบบสร้างห้องประชุมและลิงก์เข้าห้องจากข้อมูลนัดหมาย</a:t>
            </a:r>
          </a:p>
          <a:p>
            <a:r>
              <a:rPr lang="th-TH" sz="1800" dirty="0"/>
              <a:t>เชื่อมกับบริการของ </a:t>
            </a:r>
            <a:r>
              <a:rPr lang="en-US" sz="1800" dirty="0"/>
              <a:t>Google </a:t>
            </a:r>
            <a:r>
              <a:rPr lang="th-TH" sz="1800" dirty="0"/>
              <a:t>เช่น </a:t>
            </a:r>
            <a:r>
              <a:rPr lang="en-US" sz="1800" dirty="0"/>
              <a:t>Calendar (</a:t>
            </a:r>
            <a:r>
              <a:rPr lang="th-TH" sz="1800" dirty="0"/>
              <a:t>ซิงค์เวลานัด), </a:t>
            </a:r>
            <a:r>
              <a:rPr lang="en-US" sz="1800" dirty="0"/>
              <a:t>Maps (</a:t>
            </a:r>
            <a:r>
              <a:rPr lang="th-TH" sz="1800" dirty="0"/>
              <a:t>ค้นหาสถานพยาบาล), และบริการอีเมล/การแจ้งเตือนเพื่อส่งลิงก์เข้าประชุมและรายละเอียดนัด</a:t>
            </a:r>
          </a:p>
          <a:p>
            <a:r>
              <a:rPr lang="th-TH" sz="1800" dirty="0"/>
              <a:t>ในหน้า </a:t>
            </a:r>
            <a:r>
              <a:rPr lang="en-US" sz="1800" dirty="0"/>
              <a:t>Consultation </a:t>
            </a:r>
            <a:r>
              <a:rPr lang="th-TH" sz="1800" dirty="0"/>
              <a:t>แพทย์สามารถเปิดวิดีโอคอลล์, ดู </a:t>
            </a:r>
            <a:r>
              <a:rPr lang="en-US" sz="1800" dirty="0"/>
              <a:t>EMR </a:t>
            </a:r>
            <a:r>
              <a:rPr lang="th-TH" sz="1800" dirty="0"/>
              <a:t>ไปพร้อมกัน, สั่งยา, สั่ง </a:t>
            </a:r>
            <a:r>
              <a:rPr lang="en-US" sz="1800" dirty="0"/>
              <a:t>Lab </a:t>
            </a:r>
            <a:r>
              <a:rPr lang="th-TH" sz="1800" dirty="0"/>
              <a:t>และบันทึกสรุปการตรวจใน </a:t>
            </a:r>
            <a:r>
              <a:rPr lang="en-US" sz="1800" dirty="0"/>
              <a:t>Session </a:t>
            </a:r>
            <a:r>
              <a:rPr lang="th-TH" sz="1800" dirty="0"/>
              <a:t>เดียว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58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924F-682A-1A55-FAE9-EDAC1266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4F49717-7EC2-86A6-8B37-2E6ABCB156CD}"/>
              </a:ext>
            </a:extLst>
          </p:cNvPr>
          <p:cNvSpPr txBox="1">
            <a:spLocks/>
          </p:cNvSpPr>
          <p:nvPr/>
        </p:nvSpPr>
        <p:spPr>
          <a:xfrm>
            <a:off x="1287729" y="2548693"/>
            <a:ext cx="9616542" cy="1760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solidFill>
                  <a:schemeClr val="accent2"/>
                </a:solidFill>
              </a:rPr>
              <a:t>เครื่องมือที่ใช้ใน </a:t>
            </a:r>
            <a:r>
              <a:rPr lang="en-US" sz="6000" b="1" dirty="0">
                <a:solidFill>
                  <a:schemeClr val="accent2"/>
                </a:solidFill>
              </a:rPr>
              <a:t>Isara Anywhere</a:t>
            </a:r>
          </a:p>
        </p:txBody>
      </p:sp>
    </p:spTree>
    <p:extLst>
      <p:ext uri="{BB962C8B-B14F-4D97-AF65-F5344CB8AC3E}">
        <p14:creationId xmlns:p14="http://schemas.microsoft.com/office/powerpoint/2010/main" val="202550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37A9-BA71-F130-3E82-1FDBCEC9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เครื่องมือที่ใช้ใน </a:t>
            </a:r>
            <a:r>
              <a:rPr lang="en-US" dirty="0"/>
              <a:t>Isara Anywhere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79E99-270F-23AA-8DE4-B6F7ABAF4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00" y="1169580"/>
            <a:ext cx="11736000" cy="5114261"/>
          </a:xfrm>
        </p:spPr>
        <p:txBody>
          <a:bodyPr numCol="2"/>
          <a:lstStyle/>
          <a:p>
            <a:pPr marL="0" indent="0">
              <a:buNone/>
            </a:pPr>
            <a:r>
              <a:rPr lang="en-US" b="1" dirty="0"/>
              <a:t>Frontend</a:t>
            </a:r>
          </a:p>
          <a:p>
            <a:pPr lvl="1"/>
            <a:r>
              <a:rPr lang="en-US" dirty="0"/>
              <a:t>⚛️ React 18</a:t>
            </a:r>
          </a:p>
          <a:p>
            <a:pPr lvl="1"/>
            <a:r>
              <a:rPr lang="en-US" dirty="0"/>
              <a:t>📘 TypeScript</a:t>
            </a:r>
          </a:p>
          <a:p>
            <a:pPr lvl="1"/>
            <a:r>
              <a:rPr lang="en-US" dirty="0"/>
              <a:t>⚡ Vite</a:t>
            </a:r>
          </a:p>
          <a:p>
            <a:pPr lvl="1"/>
            <a:r>
              <a:rPr lang="en-US" dirty="0"/>
              <a:t>🎯 Tailwind CSS</a:t>
            </a:r>
          </a:p>
          <a:p>
            <a:pPr marL="0" indent="0">
              <a:buNone/>
            </a:pPr>
            <a:r>
              <a:rPr lang="en-US" b="1" dirty="0"/>
              <a:t>Backend &amp; API</a:t>
            </a:r>
          </a:p>
          <a:p>
            <a:pPr lvl="1"/>
            <a:r>
              <a:rPr lang="en-US" dirty="0"/>
              <a:t>🟢 Node.js</a:t>
            </a:r>
          </a:p>
          <a:p>
            <a:pPr lvl="1"/>
            <a:r>
              <a:rPr lang="en-US" dirty="0"/>
              <a:t>🚀 Express.js</a:t>
            </a:r>
          </a:p>
          <a:p>
            <a:pPr marL="0" indent="0">
              <a:buNone/>
            </a:pPr>
            <a:r>
              <a:rPr lang="en-US" b="1" dirty="0"/>
              <a:t>Data Storage</a:t>
            </a:r>
            <a:endParaRPr lang="en-US" dirty="0"/>
          </a:p>
          <a:p>
            <a:pPr lvl="1"/>
            <a:r>
              <a:rPr lang="en-US" dirty="0"/>
              <a:t>☁️ Google Cloud Storage (GCS)</a:t>
            </a:r>
          </a:p>
          <a:p>
            <a:pPr lvl="1"/>
            <a:r>
              <a:rPr lang="en-US" dirty="0"/>
              <a:t>📄 JSON Files</a:t>
            </a:r>
          </a:p>
          <a:p>
            <a:endParaRPr lang="th-TH" dirty="0"/>
          </a:p>
          <a:p>
            <a:pPr marL="0" indent="0">
              <a:buNone/>
            </a:pPr>
            <a:r>
              <a:rPr lang="en-US" b="1" dirty="0"/>
              <a:t>Hosting &amp; Infrastructure</a:t>
            </a:r>
          </a:p>
          <a:p>
            <a:pPr lvl="1"/>
            <a:r>
              <a:rPr lang="en-US" dirty="0"/>
              <a:t>🌐 Google Cloud Run</a:t>
            </a:r>
          </a:p>
          <a:p>
            <a:pPr lvl="1"/>
            <a:r>
              <a:rPr lang="en-US" dirty="0"/>
              <a:t>📦 Docker Container</a:t>
            </a:r>
          </a:p>
          <a:p>
            <a:pPr marL="0" indent="0">
              <a:buNone/>
            </a:pPr>
            <a:r>
              <a:rPr lang="en-US" b="1" dirty="0"/>
              <a:t>Video Conferencing</a:t>
            </a:r>
          </a:p>
          <a:p>
            <a:pPr lvl="1"/>
            <a:r>
              <a:rPr lang="en-US" dirty="0" err="1"/>
              <a:t>Jitsi</a:t>
            </a:r>
            <a:r>
              <a:rPr lang="en-US" dirty="0"/>
              <a:t> Meet</a:t>
            </a:r>
          </a:p>
          <a:p>
            <a:pPr marL="0" indent="0">
              <a:buNone/>
            </a:pPr>
            <a:r>
              <a:rPr lang="en-US" b="1" dirty="0"/>
              <a:t>Artificial Intelligence</a:t>
            </a:r>
          </a:p>
          <a:p>
            <a:pPr lvl="1"/>
            <a:r>
              <a:rPr lang="en-US" dirty="0"/>
              <a:t>✨ Google Gemini 2.5 Flash</a:t>
            </a:r>
          </a:p>
          <a:p>
            <a:pPr marL="0" indent="0">
              <a:buNone/>
            </a:pPr>
            <a:r>
              <a:rPr lang="en-US" b="1" dirty="0"/>
              <a:t>Google Services</a:t>
            </a:r>
          </a:p>
          <a:p>
            <a:pPr lvl="1"/>
            <a:r>
              <a:rPr lang="en-US" dirty="0"/>
              <a:t>📅 Google Calendar API</a:t>
            </a:r>
          </a:p>
          <a:p>
            <a:pPr lvl="1"/>
            <a:r>
              <a:rPr lang="en-US" dirty="0"/>
              <a:t>🗺️ Google Maps API</a:t>
            </a:r>
          </a:p>
          <a:p>
            <a:pPr lvl="1"/>
            <a:r>
              <a:rPr lang="en-US" dirty="0"/>
              <a:t>📧 Google Gmail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1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0A5E-AD29-A91A-D22E-D1BF864D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44DAFA-A7CB-7A5F-BB51-756294168BC0}"/>
              </a:ext>
            </a:extLst>
          </p:cNvPr>
          <p:cNvSpPr txBox="1">
            <a:spLocks/>
          </p:cNvSpPr>
          <p:nvPr/>
        </p:nvSpPr>
        <p:spPr>
          <a:xfrm>
            <a:off x="1287729" y="2548693"/>
            <a:ext cx="9616542" cy="1760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solidFill>
                  <a:schemeClr val="accent2"/>
                </a:solidFill>
              </a:rPr>
              <a:t>โครงสร้างฐานข้อมูล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321516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5C23-2329-1BC4-5427-F1C2E441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84BF-72F2-DCC9-41EF-C8B18D10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โครงสร้างฐานข้อมูล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C908080-4E82-8486-D97A-734E275D7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169" y="1042004"/>
            <a:ext cx="2664184" cy="4717446"/>
          </a:xfr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C6AB67-97BE-6FAA-E4B3-19A8AE3E5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75069"/>
              </p:ext>
            </p:extLst>
          </p:nvPr>
        </p:nvGraphicFramePr>
        <p:xfrm>
          <a:off x="3511550" y="360560"/>
          <a:ext cx="8452449" cy="6367370"/>
        </p:xfrm>
        <a:graphic>
          <a:graphicData uri="http://schemas.openxmlformats.org/drawingml/2006/table">
            <a:tbl>
              <a:tblPr/>
              <a:tblGrid>
                <a:gridCol w="1561815">
                  <a:extLst>
                    <a:ext uri="{9D8B030D-6E8A-4147-A177-3AD203B41FA5}">
                      <a16:colId xmlns:a16="http://schemas.microsoft.com/office/drawing/2014/main" val="3209050417"/>
                    </a:ext>
                  </a:extLst>
                </a:gridCol>
                <a:gridCol w="1622828">
                  <a:extLst>
                    <a:ext uri="{9D8B030D-6E8A-4147-A177-3AD203B41FA5}">
                      <a16:colId xmlns:a16="http://schemas.microsoft.com/office/drawing/2014/main" val="308086417"/>
                    </a:ext>
                  </a:extLst>
                </a:gridCol>
                <a:gridCol w="1727302">
                  <a:extLst>
                    <a:ext uri="{9D8B030D-6E8A-4147-A177-3AD203B41FA5}">
                      <a16:colId xmlns:a16="http://schemas.microsoft.com/office/drawing/2014/main" val="469625100"/>
                    </a:ext>
                  </a:extLst>
                </a:gridCol>
                <a:gridCol w="3540504">
                  <a:extLst>
                    <a:ext uri="{9D8B030D-6E8A-4147-A177-3AD203B41FA5}">
                      <a16:colId xmlns:a16="http://schemas.microsoft.com/office/drawing/2014/main" val="4176423390"/>
                    </a:ext>
                  </a:extLst>
                </a:gridCol>
              </a:tblGrid>
              <a:tr h="19647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Bucket</a:t>
                      </a:r>
                    </a:p>
                  </a:txBody>
                  <a:tcPr marL="7599" marR="7599" marT="7599" marB="7599">
                    <a:lnL w="6350" cap="flat" cmpd="sng" algn="ctr">
                      <a:solidFill>
                        <a:srgbClr val="00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Purpose</a:t>
                      </a:r>
                    </a:p>
                  </a:txBody>
                  <a:tcPr marL="7599" marR="7599" marT="7599" marB="7599">
                    <a:lnL w="6350" cap="flat" cmpd="sng" algn="ctr">
                      <a:solidFill>
                        <a:srgbClr val="401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6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0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Tables (Count)</a:t>
                      </a:r>
                    </a:p>
                  </a:txBody>
                  <a:tcPr marL="7599" marR="7599" marT="7599" marB="7599">
                    <a:lnL w="6350" cap="flat" cmpd="sng" algn="ctr">
                      <a:solidFill>
                        <a:srgbClr val="F016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6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0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Key Tables</a:t>
                      </a:r>
                    </a:p>
                  </a:txBody>
                  <a:tcPr marL="7599" marR="7599" marT="7599" marB="7599">
                    <a:lnL w="6350" cap="flat" cmpd="sng" algn="ctr">
                      <a:solidFill>
                        <a:srgbClr val="A01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943881"/>
                  </a:ext>
                </a:extLst>
              </a:tr>
              <a:tr h="1271386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BUCKET 1: </a:t>
                      </a:r>
                      <a:r>
                        <a:rPr lang="en-US" sz="1200" b="1" dirty="0" err="1">
                          <a:effectLst/>
                        </a:rPr>
                        <a:t>izara</a:t>
                      </a:r>
                      <a:r>
                        <a:rPr lang="en-US" sz="1200" b="1" dirty="0">
                          <a:effectLst/>
                        </a:rPr>
                        <a:t>-users-credentials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200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0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Authentication &amp; User Identity (Both Portals)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800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0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0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7 tables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F00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2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0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2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users_auth</a:t>
                      </a:r>
                      <a:r>
                        <a:rPr lang="en-US" sz="1200" dirty="0">
                          <a:effectLst/>
                        </a:rPr>
                        <a:t> (ROOT)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auth_sessions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user_roles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service_accounts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api_keys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oauth_tokens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google_calendar_sync</a:t>
                      </a:r>
                      <a:endParaRPr lang="en-US" sz="1200" dirty="0">
                        <a:effectLst/>
                      </a:endParaRP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A02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2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A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4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29649"/>
                  </a:ext>
                </a:extLst>
              </a:tr>
              <a:tr h="1093988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BUCKET 2: </a:t>
                      </a:r>
                      <a:r>
                        <a:rPr lang="en-US" sz="1200" b="1" dirty="0" err="1">
                          <a:effectLst/>
                        </a:rPr>
                        <a:t>izara</a:t>
                      </a:r>
                      <a:r>
                        <a:rPr lang="en-US" sz="1200" b="1" dirty="0">
                          <a:effectLst/>
                        </a:rPr>
                        <a:t>-patients-data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Patient Personal Health Records (PHR)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2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2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3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6 tables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502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4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patient_profiles</a:t>
                      </a:r>
                      <a:br>
                        <a:rPr lang="fr-FR" sz="1200" dirty="0">
                          <a:effectLst/>
                        </a:rPr>
                      </a:b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patient_medical_history</a:t>
                      </a:r>
                      <a:br>
                        <a:rPr lang="fr-FR" sz="1200" dirty="0">
                          <a:effectLst/>
                        </a:rPr>
                      </a:b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patient_vital_signs</a:t>
                      </a:r>
                      <a:br>
                        <a:rPr lang="fr-FR" sz="1200" dirty="0">
                          <a:effectLst/>
                        </a:rPr>
                      </a:b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patient_documents</a:t>
                      </a:r>
                      <a:br>
                        <a:rPr lang="fr-FR" sz="1200" dirty="0">
                          <a:effectLst/>
                        </a:rPr>
                      </a:b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patient_medications</a:t>
                      </a:r>
                      <a:br>
                        <a:rPr lang="fr-FR" sz="1200" dirty="0">
                          <a:effectLst/>
                        </a:rPr>
                      </a:br>
                      <a:r>
                        <a:rPr lang="fr-FR" sz="1200" dirty="0">
                          <a:effectLst/>
                        </a:rPr>
                        <a:t>- </a:t>
                      </a:r>
                      <a:r>
                        <a:rPr lang="fr-FR" sz="1200" dirty="0" err="1">
                          <a:effectLst/>
                        </a:rPr>
                        <a:t>patient_lab_results</a:t>
                      </a:r>
                      <a:endParaRPr lang="fr-FR" sz="1200" dirty="0">
                        <a:effectLst/>
                      </a:endParaRP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604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4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4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4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790269"/>
                  </a:ext>
                </a:extLst>
              </a:tr>
              <a:tr h="1450822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BUCKET 3: </a:t>
                      </a:r>
                      <a:r>
                        <a:rPr lang="en-US" sz="1200" b="1" dirty="0" err="1">
                          <a:effectLst/>
                        </a:rPr>
                        <a:t>izara</a:t>
                      </a:r>
                      <a:r>
                        <a:rPr lang="en-US" sz="1200" b="1" dirty="0">
                          <a:effectLst/>
                        </a:rPr>
                        <a:t>-doctors-data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3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3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Doctor Profiles &amp; Clinical Data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B03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3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8 tables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4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4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doctor_profiles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doctor_schedules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doctor_availability_exceptions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emr_records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prescriptions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lab_orders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imaging_orders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doctor_meeting_recordings</a:t>
                      </a:r>
                      <a:endParaRPr lang="en-US" sz="1200" dirty="0">
                        <a:effectLst/>
                      </a:endParaRP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904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4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4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8D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541455"/>
                  </a:ext>
                </a:extLst>
              </a:tr>
              <a:tr h="811060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BUCKET 4: </a:t>
                      </a:r>
                      <a:r>
                        <a:rPr lang="en-US" sz="1200" b="1" dirty="0" err="1">
                          <a:effectLst/>
                        </a:rPr>
                        <a:t>izara</a:t>
                      </a:r>
                      <a:r>
                        <a:rPr lang="en-US" sz="1200" b="1" dirty="0">
                          <a:effectLst/>
                        </a:rPr>
                        <a:t>-appointments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F03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3E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89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Appointment Scheduling &amp; Meetings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3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0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>
                          <a:effectLst/>
                        </a:rPr>
                        <a:t>4 tables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8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D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7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appointments (MASTER)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appointment_slots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calendar_events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google_meet_sessions</a:t>
                      </a:r>
                      <a:endParaRPr lang="en-US" sz="1200" dirty="0">
                        <a:effectLst/>
                      </a:endParaRP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B08D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D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8D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254974"/>
                  </a:ext>
                </a:extLst>
              </a:tr>
              <a:tr h="1450822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>
                          <a:effectLst/>
                        </a:rPr>
                        <a:t>BUCKET 5: izara-meta-data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5089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90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89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89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1" dirty="0">
                          <a:effectLst/>
                        </a:rPr>
                        <a:t>Reference Data &amp; System Config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8090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8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90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0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>
                          <a:effectLst/>
                        </a:rPr>
                        <a:t>8 tables</a:t>
                      </a: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208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medical_content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clinical_resources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drug_database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icd10_codes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system_config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notification_templates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audit_logs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 err="1">
                          <a:effectLst/>
                        </a:rPr>
                        <a:t>gemini_ai_interactions</a:t>
                      </a:r>
                      <a:endParaRPr lang="en-US" sz="1200" dirty="0">
                        <a:effectLst/>
                      </a:endParaRPr>
                    </a:p>
                  </a:txBody>
                  <a:tcPr marL="7599" marR="7599" marT="6839" marB="6839" anchor="ctr">
                    <a:lnL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8B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35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CA7B0DE-6A29-315F-F45A-5AFDF641E963}"/>
              </a:ext>
            </a:extLst>
          </p:cNvPr>
          <p:cNvSpPr txBox="1"/>
          <p:nvPr/>
        </p:nvSpPr>
        <p:spPr>
          <a:xfrm>
            <a:off x="228000" y="5877640"/>
            <a:ext cx="300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https://dbdiagram.io/d/izara_database_schemas-692857a3a0c4ebcc2b015da2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469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4B99-7F9E-2D06-E184-D3B0BE0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BCE863-B7E3-38A8-05EA-0E818771BF6D}"/>
              </a:ext>
            </a:extLst>
          </p:cNvPr>
          <p:cNvSpPr txBox="1">
            <a:spLocks/>
          </p:cNvSpPr>
          <p:nvPr/>
        </p:nvSpPr>
        <p:spPr>
          <a:xfrm>
            <a:off x="1287729" y="2548693"/>
            <a:ext cx="9616542" cy="1760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solidFill>
                  <a:schemeClr val="accent2"/>
                </a:solidFill>
              </a:rPr>
              <a:t>ภาพ </a:t>
            </a:r>
            <a:r>
              <a:rPr lang="en-US" sz="6000" b="1" dirty="0">
                <a:solidFill>
                  <a:schemeClr val="accent2"/>
                </a:solidFill>
              </a:rPr>
              <a:t>UI </a:t>
            </a:r>
            <a:r>
              <a:rPr lang="th-TH" sz="6000" b="1" dirty="0">
                <a:solidFill>
                  <a:schemeClr val="accent2"/>
                </a:solidFill>
              </a:rPr>
              <a:t>ของระบบ</a:t>
            </a:r>
          </a:p>
          <a:p>
            <a:pPr algn="ctr"/>
            <a:r>
              <a:rPr lang="en-US" sz="6000" b="1" dirty="0">
                <a:solidFill>
                  <a:schemeClr val="accent2"/>
                </a:solidFill>
              </a:rPr>
              <a:t>Isara Anywhere</a:t>
            </a:r>
          </a:p>
        </p:txBody>
      </p:sp>
    </p:spTree>
    <p:extLst>
      <p:ext uri="{BB962C8B-B14F-4D97-AF65-F5344CB8AC3E}">
        <p14:creationId xmlns:p14="http://schemas.microsoft.com/office/powerpoint/2010/main" val="349173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33B1-5D26-5F3B-3E80-090D23B3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A441-BDB3-320E-8FF3-D786022E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 dirty="0"/>
              <a:t>Patient Portals – Login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97F92E-F0BB-DACF-615F-BE376497C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332794"/>
            <a:ext cx="4774367" cy="50791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016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E382E-360C-BD23-00F5-C2648D1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14FD-BBA1-C54F-A403-EAA26E75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สมัครสมาชิก</a:t>
            </a:r>
            <a:endParaRPr lang="en-US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536F9-247D-A638-B401-329413276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49" y="1332795"/>
            <a:ext cx="4589852" cy="4856988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33BEF3-3EC9-07B6-350A-92E91C260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770" y="1332795"/>
            <a:ext cx="4577710" cy="48569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6619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4F8C-4D1D-41EC-453A-17A48887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897A-9138-FFBE-A431-8D4D3497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สมัครสมาชิก</a:t>
            </a: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77A5B-A23C-BD83-565B-659F5110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"/>
          <a:stretch>
            <a:fillRect/>
          </a:stretch>
        </p:blipFill>
        <p:spPr>
          <a:xfrm>
            <a:off x="1543016" y="1332794"/>
            <a:ext cx="3471193" cy="5364641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AF5BE3-466B-03EF-631F-C294464D9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791" y="1332794"/>
            <a:ext cx="3471193" cy="53402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9757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1EEE-072F-296E-9741-45FA74EE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8168-189D-8197-78B0-0EDDAACD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Home Page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DA42D0-E2DA-E242-FA02-F2C9D422B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888" y="1079612"/>
            <a:ext cx="10328223" cy="56288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765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7CB6-D6B5-102B-DB6E-08DB737E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5DFF-8565-1511-7354-B1D8F0EA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นัดหมาย หน้าแรก</a:t>
            </a:r>
            <a:endParaRPr lang="en-US" b="1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572E0-639F-7DB9-B141-A1FC2955D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460" y="1325300"/>
            <a:ext cx="11543080" cy="5309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560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166E-AE74-B394-D5AE-EADE218E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068D-143E-F64B-95F5-C1FAED98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นัดหมาย ผ่านมา</a:t>
            </a:r>
            <a:endParaRPr lang="en-US" b="1"/>
          </a:p>
        </p:txBody>
      </p:sp>
      <p:pic>
        <p:nvPicPr>
          <p:cNvPr id="11" name="Content Placeholder 10" descr="A screenshot of a chat&#10;&#10;AI-generated content may be incorrect.">
            <a:extLst>
              <a:ext uri="{FF2B5EF4-FFF2-40B4-BE49-F238E27FC236}">
                <a16:creationId xmlns:a16="http://schemas.microsoft.com/office/drawing/2014/main" id="{62F48FBA-0C79-2697-3493-BCC246389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7" y="1197883"/>
            <a:ext cx="11568585" cy="54372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8076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F8C5-0DFD-1F0D-6978-8DC0ED70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4E66-0A33-8044-82E4-14D86461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ขอนัดหมายแพทย์ส่วนบน</a:t>
            </a:r>
            <a:endParaRPr lang="en-US" b="1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3E8E63-ACCA-C8D1-72F1-AE9000A4D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84" y="1115437"/>
            <a:ext cx="11718032" cy="5390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091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8FFD-35AD-4962-671D-D478E4E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7702-60E9-EF70-0391-E5860A5B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ขอนัดหมายแพทย์ส่วนบน</a:t>
            </a:r>
            <a:endParaRPr lang="en-US" b="1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64678D-0F57-97FB-7C45-55CFBB0B2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1332795"/>
            <a:ext cx="5355579" cy="5127966"/>
          </a:xfrm>
          <a:prstGeom prst="rect">
            <a:avLst/>
          </a:prstGeom>
          <a:noFill/>
        </p:spPr>
      </p:pic>
      <p:pic>
        <p:nvPicPr>
          <p:cNvPr id="11" name="Content Placeholder 10" descr="A screenshot of a chat&#10;&#10;AI-generated content may be incorrect.">
            <a:extLst>
              <a:ext uri="{FF2B5EF4-FFF2-40B4-BE49-F238E27FC236}">
                <a16:creationId xmlns:a16="http://schemas.microsoft.com/office/drawing/2014/main" id="{3AFF9957-A1EA-1A6D-CC04-3D537EC68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61050" y="1332795"/>
            <a:ext cx="5313955" cy="51279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1786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FBBF-02AC-8D06-A3B1-606C496C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F712-7AA6-B6B9-D5E7-C3F85509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 ขอนัดหมายแพทย์ส่วนล่าง</a:t>
            </a:r>
            <a:endParaRPr lang="en-US" b="1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10B3CE-F22D-BF35-1036-20D5A72F3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20" y="966107"/>
            <a:ext cx="4676931" cy="5669009"/>
          </a:xfrm>
          <a:prstGeom prst="rect">
            <a:avLst/>
          </a:prstGeom>
          <a:noFill/>
        </p:spPr>
      </p:pic>
      <p:pic>
        <p:nvPicPr>
          <p:cNvPr id="8" name="Picture 7" descr="A screenshot of a chat&#10;&#10;AI-generated content may be incorrect.">
            <a:extLst>
              <a:ext uri="{FF2B5EF4-FFF2-40B4-BE49-F238E27FC236}">
                <a16:creationId xmlns:a16="http://schemas.microsoft.com/office/drawing/2014/main" id="{CF7E1415-8FBC-3D66-9CA1-2CC907D9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919" y="798582"/>
            <a:ext cx="3078770" cy="58365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1307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C68ED-FCE0-7087-7A17-B9B2AF8B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717D-7258-A3FD-9CE7-6206C382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 ขอนัดหมายแพทย์ จองวันเวลา</a:t>
            </a:r>
            <a:endParaRPr lang="en-US" b="1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7F9333-545B-2265-E273-F4ADC85B8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88" y="807659"/>
            <a:ext cx="3487570" cy="5740858"/>
          </a:xfrm>
          <a:prstGeom prst="rect">
            <a:avLst/>
          </a:prstGeom>
          <a:noFill/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F0326FDD-2156-4488-0837-73D33BCA4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644" y="807659"/>
            <a:ext cx="3292838" cy="58539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6481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7507D-7D78-BD2F-1EE9-D7B98204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0DD8-200B-CBED-9FDD-473A5AFD4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 ขอนัดหมายแพทย์ จองวันเวลา</a:t>
            </a:r>
            <a:endParaRPr lang="en-US" b="1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30E9E7-6A33-6F2B-D171-BDB29206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23" y="1168325"/>
            <a:ext cx="6941577" cy="3748449"/>
          </a:xfrm>
          <a:prstGeom prst="rect">
            <a:avLst/>
          </a:prstGeom>
          <a:noFill/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9C00C3-88F4-018E-5733-77DC9B3C8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20" y="875594"/>
            <a:ext cx="4614234" cy="5822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8899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3727-4DC2-C302-E8EE-1CBA760C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9C93-C4CC-5538-5AE0-680F785D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เพิ่มนัดหมาย</a:t>
            </a:r>
            <a:endParaRPr lang="en-US" b="1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48E3B6-3C4C-81EA-09A1-8F436A584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032"/>
          <a:stretch>
            <a:fillRect/>
          </a:stretch>
        </p:blipFill>
        <p:spPr>
          <a:xfrm>
            <a:off x="228000" y="1139252"/>
            <a:ext cx="11736000" cy="51554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754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2E292-2F83-5457-7023-EF08BAC7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EA98-95A1-D0BE-FC6A-C6465F5D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เพิ่มนัดหมาย</a:t>
            </a:r>
            <a:endParaRPr lang="en-US" b="1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AD6942-C3FA-0BCB-521D-E619BBB3A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067960"/>
            <a:ext cx="11804947" cy="5430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3271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86F5-F9B9-0967-2B69-854F1B03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B913-8A95-1B3D-8458-C05999DB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AI Health Assistant</a:t>
            </a:r>
          </a:p>
        </p:txBody>
      </p:sp>
      <p:pic>
        <p:nvPicPr>
          <p:cNvPr id="11" name="Content Placeholder 10" descr="A screenshot of a chat&#10;&#10;AI-generated content may be incorrect.">
            <a:extLst>
              <a:ext uri="{FF2B5EF4-FFF2-40B4-BE49-F238E27FC236}">
                <a16:creationId xmlns:a16="http://schemas.microsoft.com/office/drawing/2014/main" id="{3D375A56-3015-03B8-F82B-9729E60D5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99" y="1107943"/>
            <a:ext cx="11618233" cy="53153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739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FF67-5464-C66A-9E09-A824F0A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1278-6062-C8FA-5371-5B486374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 </a:t>
            </a:r>
            <a:r>
              <a:rPr lang="th-TH" b="1"/>
              <a:t>คลังความรู้สุขภาพ</a:t>
            </a:r>
            <a:endParaRPr lang="en-US" b="1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47EF74-666D-4E22-F573-75CC8E0A3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95" y="1047980"/>
            <a:ext cx="11644210" cy="5472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5162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B99F-7BB8-BD71-432D-BF87A4D4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3C0A-D718-6BDB-2CBB-5EBE963C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 dirty="0"/>
              <a:t>Patient Portals – </a:t>
            </a:r>
            <a:r>
              <a:rPr lang="th-TH" b="1" dirty="0"/>
              <a:t>ประวัติสุขภาพส่วนบุคคล</a:t>
            </a:r>
            <a:r>
              <a:rPr lang="en-US" b="1" dirty="0"/>
              <a:t> </a:t>
            </a:r>
            <a:r>
              <a:rPr lang="th-TH" b="1" dirty="0"/>
              <a:t>ภาพรวม</a:t>
            </a:r>
            <a:endParaRPr lang="en-US" b="1" dirty="0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D833B0-3042-4239-9FD4-A0BFC669A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99" y="1067962"/>
            <a:ext cx="11782335" cy="55671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2394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0759-1435-75E1-8B20-41E2E8DF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0EE0-F011-3070-9613-47E807F0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 dirty="0"/>
              <a:t>Patient Portals – </a:t>
            </a:r>
            <a:r>
              <a:rPr lang="th-TH" dirty="0"/>
              <a:t>ประวัติสุขภาพส่วนบุคคลหัวข้อย่อย</a:t>
            </a:r>
            <a:endParaRPr lang="en-US" b="1" dirty="0"/>
          </a:p>
        </p:txBody>
      </p: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46C10C-1C4E-0545-309C-F3C27840D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80" t="2788" r="6205" b="5735"/>
          <a:stretch>
            <a:fillRect/>
          </a:stretch>
        </p:blipFill>
        <p:spPr>
          <a:xfrm>
            <a:off x="463820" y="807659"/>
            <a:ext cx="4886311" cy="201214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E1C427-FFE5-A0A4-67A3-39304E28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3" r="8233" b="12238"/>
          <a:stretch>
            <a:fillRect/>
          </a:stretch>
        </p:blipFill>
        <p:spPr>
          <a:xfrm>
            <a:off x="447442" y="2655719"/>
            <a:ext cx="4919066" cy="214108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E99044-3B69-35B5-A2C3-E57FB529A8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76" r="3370" b="19913"/>
          <a:stretch>
            <a:fillRect/>
          </a:stretch>
        </p:blipFill>
        <p:spPr>
          <a:xfrm>
            <a:off x="447442" y="4643903"/>
            <a:ext cx="5041563" cy="211712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481DF0-2C35-27FB-4BD0-7C411C186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58" y="910928"/>
            <a:ext cx="5371141" cy="58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00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732E-DD8D-6939-23B9-66B88310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6895-53DD-322F-10F0-350C8B60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 dirty="0"/>
              <a:t>Patient Portals – </a:t>
            </a:r>
            <a:r>
              <a:rPr lang="en-US" dirty="0">
                <a:latin typeface="Sarabun" panose="00000500000000000000" pitchFamily="2" charset="-34"/>
                <a:cs typeface="Sarabun" panose="00000500000000000000" pitchFamily="2" charset="-34"/>
              </a:rPr>
              <a:t>PDPA &amp; Living Will </a:t>
            </a:r>
            <a:r>
              <a:rPr lang="th-TH" dirty="0">
                <a:latin typeface="Sarabun" panose="00000500000000000000" pitchFamily="2" charset="-34"/>
                <a:cs typeface="Sarabun" panose="00000500000000000000" pitchFamily="2" charset="-34"/>
              </a:rPr>
              <a:t>ภาพรวม</a:t>
            </a:r>
            <a:endParaRPr lang="en-US" b="1" dirty="0"/>
          </a:p>
        </p:txBody>
      </p:sp>
      <p:pic>
        <p:nvPicPr>
          <p:cNvPr id="9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CD1315A0-D41B-1053-EE69-6D8E165BB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752" y="1057318"/>
            <a:ext cx="7490271" cy="2920697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4F3DD1-D62F-56EF-708E-586E53B0B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10" y="1057318"/>
            <a:ext cx="4218024" cy="532887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5ED661-F268-D372-B0AA-37A845976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90961"/>
            <a:ext cx="5478042" cy="264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36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D1C2-E15A-C802-F0E1-EB0AFCB5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F6EF-6FB5-7749-FB03-9A10D66E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Sarabun" panose="00000500000000000000" pitchFamily="2" charset="-34"/>
                <a:cs typeface="Sarabun" panose="00000500000000000000" pitchFamily="2" charset="-34"/>
              </a:rPr>
              <a:t>Patient Portals –</a:t>
            </a:r>
            <a:r>
              <a:rPr lang="th-TH" dirty="0">
                <a:latin typeface="Sarabun" panose="00000500000000000000" pitchFamily="2" charset="-34"/>
                <a:cs typeface="Sarabun" panose="00000500000000000000" pitchFamily="2" charset="-34"/>
              </a:rPr>
              <a:t> </a:t>
            </a:r>
            <a:r>
              <a:rPr lang="en-US" dirty="0">
                <a:latin typeface="Sarabun" panose="00000500000000000000" pitchFamily="2" charset="-34"/>
                <a:cs typeface="Sarabun" panose="00000500000000000000" pitchFamily="2" charset="-34"/>
              </a:rPr>
              <a:t>PDPA &amp; Living Will </a:t>
            </a:r>
            <a:r>
              <a:rPr lang="th-TH" dirty="0">
                <a:latin typeface="Sarabun" panose="00000500000000000000" pitchFamily="2" charset="-34"/>
                <a:cs typeface="Sarabun" panose="00000500000000000000" pitchFamily="2" charset="-34"/>
              </a:rPr>
              <a:t>บันทึก</a:t>
            </a:r>
            <a:r>
              <a:rPr lang="en-US" dirty="0">
                <a:latin typeface="Sarabun" panose="00000500000000000000" pitchFamily="2" charset="-34"/>
                <a:cs typeface="Sarabun" panose="00000500000000000000" pitchFamily="2" charset="-34"/>
              </a:rPr>
              <a:t> Living Will</a:t>
            </a:r>
            <a:endParaRPr lang="en-US" b="1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A0CF6DA-3865-00FF-78E9-F363CC11B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9" y="1061685"/>
            <a:ext cx="4207101" cy="5360773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9B559B74-A49E-6A8B-F342-86E93BA1E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196" y="1074455"/>
            <a:ext cx="2731607" cy="56976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5859C8-BA11-A036-C313-3A70A1E17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149" y="1154586"/>
            <a:ext cx="4440560" cy="55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64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9550-7E1E-D809-BEBD-135BA5BE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3C91-6F26-719C-3CE9-D823242B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 </a:t>
            </a:r>
            <a:r>
              <a:rPr lang="en-US" b="1"/>
              <a:t>PDPA &amp; Living Will </a:t>
            </a:r>
            <a:r>
              <a:rPr lang="th-TH" b="1"/>
              <a:t>บันทึก</a:t>
            </a:r>
            <a:r>
              <a:rPr lang="en-US" b="1"/>
              <a:t> Living Will</a:t>
            </a:r>
          </a:p>
        </p:txBody>
      </p:sp>
      <p:pic>
        <p:nvPicPr>
          <p:cNvPr id="15" name="Picture 14" descr="A screenshot of a chat&#10;&#10;AI-generated content may be incorrect.">
            <a:extLst>
              <a:ext uri="{FF2B5EF4-FFF2-40B4-BE49-F238E27FC236}">
                <a16:creationId xmlns:a16="http://schemas.microsoft.com/office/drawing/2014/main" id="{36B24679-8DF1-1978-4BAD-EED8FF54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2" y="1055475"/>
            <a:ext cx="7541004" cy="56369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6308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F8D-AC72-DBC8-29AF-901B6C6C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8D11-4E4F-C659-B488-5F7F41E7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Patient Portals –</a:t>
            </a:r>
            <a:r>
              <a:rPr lang="th-TH" b="1"/>
              <a:t> แผนที่</a:t>
            </a:r>
            <a:endParaRPr lang="en-US" b="1"/>
          </a:p>
        </p:txBody>
      </p:sp>
      <p:pic>
        <p:nvPicPr>
          <p:cNvPr id="10" name="Content Placeholder 9" descr="A screenshot of a map&#10;&#10;AI-generated content may be incorrect.">
            <a:extLst>
              <a:ext uri="{FF2B5EF4-FFF2-40B4-BE49-F238E27FC236}">
                <a16:creationId xmlns:a16="http://schemas.microsoft.com/office/drawing/2014/main" id="{ADB88F32-EE3B-C6C3-EEA1-8359EBF67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837" y="1123521"/>
            <a:ext cx="10116326" cy="56145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7065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C321-AA7E-5A81-8305-D33153D5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DA020D-6564-B22A-8941-2BBC227FBF2B}"/>
              </a:ext>
            </a:extLst>
          </p:cNvPr>
          <p:cNvSpPr txBox="1">
            <a:spLocks/>
          </p:cNvSpPr>
          <p:nvPr/>
        </p:nvSpPr>
        <p:spPr>
          <a:xfrm>
            <a:off x="1287728" y="2548693"/>
            <a:ext cx="10059423" cy="1760613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chemeClr val="accent2"/>
                </a:solidFill>
              </a:rPr>
              <a:t>Isara Anywhere – Prototype</a:t>
            </a:r>
            <a:r>
              <a:rPr lang="th-TH" sz="6000" b="1" dirty="0">
                <a:solidFill>
                  <a:schemeClr val="accent2"/>
                </a:solidFill>
              </a:rPr>
              <a:t> </a:t>
            </a:r>
            <a:r>
              <a:rPr lang="en-US" sz="6000" b="1" dirty="0">
                <a:solidFill>
                  <a:schemeClr val="accent2"/>
                </a:solidFill>
              </a:rPr>
              <a:t>   UI pages of Doctor and Admin</a:t>
            </a:r>
          </a:p>
        </p:txBody>
      </p:sp>
    </p:spTree>
    <p:extLst>
      <p:ext uri="{BB962C8B-B14F-4D97-AF65-F5344CB8AC3E}">
        <p14:creationId xmlns:p14="http://schemas.microsoft.com/office/powerpoint/2010/main" val="825049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16D8-EC1B-BC31-1B0C-AA06F922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CDA7-5269-35E0-C207-FE729659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Dashboard</a:t>
            </a:r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EEEF8D19-3A17-CCC5-E5EC-2730DB463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145417"/>
            <a:ext cx="8474326" cy="52328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0073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C4C5-E0EF-7840-384D-10945036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818F-3A5C-80AA-A1E3-2A1BEAC9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Register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431AE-526B-EB14-4463-B3C66E2FB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41" y="1067518"/>
            <a:ext cx="4978144" cy="5609178"/>
          </a:xfrm>
          <a:prstGeom prst="rect">
            <a:avLst/>
          </a:prstGeom>
          <a:noFill/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0FB626-94B2-EE81-0814-0DB8189E6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43774" y="1025938"/>
            <a:ext cx="4930285" cy="5650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4224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ADEA-F0D1-B2E9-EB91-27B3E2945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3205-0A86-4188-1B9E-34EEBD24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Register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41D9B8-DE43-22CE-E921-E0242D28E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1" y="1376733"/>
            <a:ext cx="6195526" cy="4104534"/>
          </a:xfrm>
          <a:prstGeom prst="rect">
            <a:avLst/>
          </a:prstGeom>
          <a:noFill/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B3D7F1-024C-4C1F-EA18-217457B62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721" t="6226" b="3828"/>
          <a:stretch>
            <a:fillRect/>
          </a:stretch>
        </p:blipFill>
        <p:spPr>
          <a:xfrm>
            <a:off x="6482933" y="1376733"/>
            <a:ext cx="5615666" cy="4309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1017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CC1D-7844-2154-4243-58288817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1B74-9BB0-8898-B9B7-6B53E82C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Sarabun" panose="00000500000000000000" pitchFamily="2" charset="-34"/>
                <a:cs typeface="Sarabun" panose="00000500000000000000" pitchFamily="2" charset="-34"/>
              </a:rPr>
              <a:t>Admin Portals - Register</a:t>
            </a:r>
            <a:endParaRPr lang="en-US" b="1" dirty="0"/>
          </a:p>
        </p:txBody>
      </p:sp>
      <p:pic>
        <p:nvPicPr>
          <p:cNvPr id="5" name="Content Placeholder 13" descr="A screenshot of a chat&#10;&#10;AI-generated content may be incorrect.">
            <a:extLst>
              <a:ext uri="{FF2B5EF4-FFF2-40B4-BE49-F238E27FC236}">
                <a16:creationId xmlns:a16="http://schemas.microsoft.com/office/drawing/2014/main" id="{9C1E1806-E48F-C629-9F27-9F6DBC3A5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73" y="1113610"/>
            <a:ext cx="6444490" cy="2437162"/>
          </a:xfrm>
          <a:prstGeom prst="rect">
            <a:avLst/>
          </a:prstGeom>
        </p:spPr>
      </p:pic>
      <p:pic>
        <p:nvPicPr>
          <p:cNvPr id="6" name="Picture 5" descr="A screenshot of a survey&#10;&#10;AI-generated content may be incorrect.">
            <a:extLst>
              <a:ext uri="{FF2B5EF4-FFF2-40B4-BE49-F238E27FC236}">
                <a16:creationId xmlns:a16="http://schemas.microsoft.com/office/drawing/2014/main" id="{F7832433-44DF-DA14-8DB2-506CE6B0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0" t="5695" r="9224" b="8674"/>
          <a:stretch>
            <a:fillRect/>
          </a:stretch>
        </p:blipFill>
        <p:spPr>
          <a:xfrm>
            <a:off x="7922769" y="1113610"/>
            <a:ext cx="3326449" cy="2437162"/>
          </a:xfrm>
          <a:prstGeom prst="rect">
            <a:avLst/>
          </a:prstGeom>
        </p:spPr>
      </p:pic>
      <p:pic>
        <p:nvPicPr>
          <p:cNvPr id="8" name="Picture 7" descr="A screenshot of a chat&#10;&#10;AI-generated content may be incorrect.">
            <a:extLst>
              <a:ext uri="{FF2B5EF4-FFF2-40B4-BE49-F238E27FC236}">
                <a16:creationId xmlns:a16="http://schemas.microsoft.com/office/drawing/2014/main" id="{1DA91F42-EFE5-5E6B-7231-04672B20F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3" y="3717120"/>
            <a:ext cx="6444490" cy="27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5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2C05-66B7-9CBD-7132-9C018B9F2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4D3C-B191-4AD0-D4BC-46964ED25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0163DC-A35A-21F9-EE84-E0D0E252E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849" y="1115436"/>
            <a:ext cx="10022302" cy="54621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8144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5B75-F916-7E35-FE96-84CC2A1E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AA65-2A44-4B32-F450-E00EB666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Schedule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37D06D-FBF6-67F3-C375-2CC918EF0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94" y="1115437"/>
            <a:ext cx="11445412" cy="55796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23284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8384-DDA2-2121-ECC6-AB0A20AD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5F89-1EA4-274D-6EC8-82975720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Availability &amp; Appointments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C09B15-A512-7A21-D882-1274BDD2F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691" y="1108542"/>
            <a:ext cx="8828617" cy="56061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685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FEF2-3895-608F-DF7B-40D7817B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0D73-F638-1B67-349F-4B205D69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Patient Management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8F3FEB-32F2-6459-966B-66D38AD37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99" y="1097942"/>
            <a:ext cx="11735999" cy="55159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9594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F3AE-EDC8-7A1E-0207-58A1F5AE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7459-D6CA-0B4A-7C76-9D4BB9E8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Appointments &amp; Meetings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B106B4-DEEE-4A6F-6AD8-9FB7A621C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43" y="1190387"/>
            <a:ext cx="10219313" cy="55950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3706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7BC0-BFF9-581F-2DFA-69E25DF1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96AA-BD82-55CA-D683-B9F3B6F5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Appointments &amp; Meetings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CBB688-CA0C-DEED-8F99-D33BC8ED1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585" y="1169871"/>
            <a:ext cx="10120829" cy="5465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44233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D1B3-EF1E-1E08-815E-B54E9F17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5B2D-4CA9-3385-6A81-2ABC1AC7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Appointments &amp; Meetings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3913AE-E6EA-F68B-FFDB-E8495A22A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014824"/>
            <a:ext cx="8713633" cy="56202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6927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E8C5-87D0-34B9-86CB-F8480590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15A7-F49B-B999-6F38-2A1119D4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Appointments &amp; Meetings</a:t>
            </a:r>
          </a:p>
        </p:txBody>
      </p:sp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7C00F820-2128-3446-B371-5AE025C7D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48" y="1137922"/>
            <a:ext cx="9729545" cy="54971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5315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D5E4-E72B-DA06-8B99-7CC7F1A5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6913-06D3-C1B3-E2F6-EDCA44E7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Medical Consultants</a:t>
            </a:r>
          </a:p>
        </p:txBody>
      </p:sp>
      <p:pic>
        <p:nvPicPr>
          <p:cNvPr id="11" name="Content Placeholder 10" descr="A screenshot of a chat&#10;&#10;AI-generated content may be incorrect.">
            <a:extLst>
              <a:ext uri="{FF2B5EF4-FFF2-40B4-BE49-F238E27FC236}">
                <a16:creationId xmlns:a16="http://schemas.microsoft.com/office/drawing/2014/main" id="{3AF653FA-55B0-5FAC-E489-6CA28DB60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166706"/>
            <a:ext cx="9593705" cy="54684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8108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1C54E-D7A5-CF10-C33A-2D2E6CAC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82A-1FF3-699D-60C1-5F9204FC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Medical Consultants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17EAD2-5E82-ECEC-8265-32FFF5A72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115438"/>
            <a:ext cx="9161290" cy="55196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2982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D332-5E11-D613-C154-EA09B76E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1CB4-FC88-1EE8-BC06-BEAF1E41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- Medical Consultants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899557-2BD2-0B2B-85B5-A87451AF7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26" y="1107942"/>
            <a:ext cx="8959278" cy="5442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8908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F39D-6360-B11E-E682-DE2F0100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DF14-5A86-FD3E-740B-2358902A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– Medical Content Library</a:t>
            </a:r>
          </a:p>
        </p:txBody>
      </p:sp>
      <p:pic>
        <p:nvPicPr>
          <p:cNvPr id="13" name="Content Placeholder 12" descr="A screenshot of a medical device&#10;&#10;AI-generated content may be incorrect.">
            <a:extLst>
              <a:ext uri="{FF2B5EF4-FFF2-40B4-BE49-F238E27FC236}">
                <a16:creationId xmlns:a16="http://schemas.microsoft.com/office/drawing/2014/main" id="{1285542C-BEDC-43F1-F0FB-71FBD3254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682" y="1122933"/>
            <a:ext cx="9452635" cy="5435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3818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FA2C-C694-51F0-33D7-FADB8DA2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B7F2-8BC5-8001-40F4-F7DBEA75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Doctor Portals – Medical Content Library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C5067A-BFC1-92F4-AC04-C9FA2345E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190" y="1070357"/>
            <a:ext cx="10257620" cy="55647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92715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3A32-DFC5-329D-E88B-19229462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73B6-4279-7E9C-3437-9B6EA9D0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Clinical Resources &amp; Medical Library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C1E180-1DBD-EF83-8612-444BEF3E7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59" y="1152913"/>
            <a:ext cx="11541481" cy="54822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15933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D5DB-82D7-C3C4-3160-43D4E7BA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C07-4A71-F2AB-A3BE-12892DE7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Clinical Resources &amp; Medical Library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595F9C-DBA3-0EF9-CEFD-F687BBCF8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305" y="1112931"/>
            <a:ext cx="9845390" cy="5414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4210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1B1B-7F28-D216-0E03-941442BF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EE9B-EF6E-1BDE-72E9-81DE0AFF4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Doctors Management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658E74-FBED-CE43-0DBA-D6050B83C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112177"/>
            <a:ext cx="11736000" cy="38141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73446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3ACF-2AFA-4C76-64B0-3A0085F3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8D18-1E9A-26F7-860A-8F8F0677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0" y="222884"/>
            <a:ext cx="11736000" cy="584775"/>
          </a:xfrm>
        </p:spPr>
        <p:txBody>
          <a:bodyPr anchor="ctr">
            <a:normAutofit/>
          </a:bodyPr>
          <a:lstStyle/>
          <a:p>
            <a:r>
              <a:rPr lang="en-US" b="1"/>
              <a:t>Admin Portals - Doctor Approval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C5B45-290A-D3BA-10C9-40CEE7D62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00" y="1170536"/>
            <a:ext cx="11736000" cy="366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1460417"/>
      </p:ext>
    </p:extLst>
  </p:cSld>
  <p:clrMapOvr>
    <a:masterClrMapping/>
  </p:clrMapOvr>
</p:sld>
</file>

<file path=ppt/theme/theme1.xml><?xml version="1.0" encoding="utf-8"?>
<a:theme xmlns:a="http://schemas.openxmlformats.org/drawingml/2006/main" name="Betimes_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rabun">
      <a:majorFont>
        <a:latin typeface="Sarabun"/>
        <a:ea typeface=""/>
        <a:cs typeface="Sarabun"/>
      </a:majorFont>
      <a:minorFont>
        <a:latin typeface="Sarabun"/>
        <a:ea typeface=""/>
        <a:cs typeface="Sarab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times_01" id="{BF193FC7-0428-4203-90B5-8C9B98D6F81D}" vid="{B0B6B0FD-BE89-4C79-9C24-F1C770ED70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Betimes_01</Template>
  <TotalTime>1009</TotalTime>
  <Words>1496</Words>
  <Application>Microsoft Office PowerPoint</Application>
  <PresentationFormat>Widescreen</PresentationFormat>
  <Paragraphs>169</Paragraphs>
  <Slides>56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Arial</vt:lpstr>
      <vt:lpstr>Calibri</vt:lpstr>
      <vt:lpstr>Sarabun</vt:lpstr>
      <vt:lpstr>Betimes_01</vt:lpstr>
      <vt:lpstr>PowerPoint Presentation</vt:lpstr>
      <vt:lpstr>Agenda</vt:lpstr>
      <vt:lpstr>PowerPoint Presentation</vt:lpstr>
      <vt:lpstr>ภาพรวมระบบ Isara Anywhere</vt:lpstr>
      <vt:lpstr>ภาพรวมระบบ Isara Anywhere</vt:lpstr>
      <vt:lpstr>ภาพรวมระบบ Isara Anywhere</vt:lpstr>
      <vt:lpstr>ภาพรวมระบบ Isara Anywhere</vt:lpstr>
      <vt:lpstr>ภาพรวมระบบ Isara Anywhere</vt:lpstr>
      <vt:lpstr>PowerPoint Presentation</vt:lpstr>
      <vt:lpstr>เครื่องมือที่ใช้ใน Isara Anywhere</vt:lpstr>
      <vt:lpstr>PowerPoint Presentation</vt:lpstr>
      <vt:lpstr>โครงสร้างฐานข้อมูล</vt:lpstr>
      <vt:lpstr>PowerPoint Presentation</vt:lpstr>
      <vt:lpstr>Patient Portals – Login</vt:lpstr>
      <vt:lpstr>Patient Portals – สมัครสมาชิก</vt:lpstr>
      <vt:lpstr>Patient Portals – สมัครสมาชิก</vt:lpstr>
      <vt:lpstr>Patient Portals – Home Page</vt:lpstr>
      <vt:lpstr>Patient Portals – นัดหมาย หน้าแรก</vt:lpstr>
      <vt:lpstr>Patient Portals – นัดหมาย ผ่านมา</vt:lpstr>
      <vt:lpstr>Patient Portals –ขอนัดหมายแพทย์ส่วนบน</vt:lpstr>
      <vt:lpstr>Patient Portals –ขอนัดหมายแพทย์ส่วนบน</vt:lpstr>
      <vt:lpstr>Patient Portals – ขอนัดหมายแพทย์ส่วนล่าง</vt:lpstr>
      <vt:lpstr>Patient Portals – ขอนัดหมายแพทย์ จองวันเวลา</vt:lpstr>
      <vt:lpstr>Patient Portals – ขอนัดหมายแพทย์ จองวันเวลา</vt:lpstr>
      <vt:lpstr>Patient Portals – เพิ่มนัดหมาย</vt:lpstr>
      <vt:lpstr>Patient Portals – เพิ่มนัดหมาย</vt:lpstr>
      <vt:lpstr>Patient Portals – AI Health Assistant</vt:lpstr>
      <vt:lpstr>Patient Portals – คลังความรู้สุขภาพ</vt:lpstr>
      <vt:lpstr>Patient Portals – ประวัติสุขภาพส่วนบุคคล ภาพรวม</vt:lpstr>
      <vt:lpstr>Patient Portals – ประวัติสุขภาพส่วนบุคคลหัวข้อย่อย</vt:lpstr>
      <vt:lpstr>Patient Portals – PDPA &amp; Living Will ภาพรวม</vt:lpstr>
      <vt:lpstr>Patient Portals – PDPA &amp; Living Will บันทึก Living Will</vt:lpstr>
      <vt:lpstr>Patient Portals – PDPA &amp; Living Will บันทึก Living Will</vt:lpstr>
      <vt:lpstr>Patient Portals – แผนที่</vt:lpstr>
      <vt:lpstr>PowerPoint Presentation</vt:lpstr>
      <vt:lpstr>Doctor Portals - Dashboard</vt:lpstr>
      <vt:lpstr>Doctor Portals - Register</vt:lpstr>
      <vt:lpstr>Doctor Portals - Register</vt:lpstr>
      <vt:lpstr>Admin Portals - Register</vt:lpstr>
      <vt:lpstr>Doctor Portals - Dashboard</vt:lpstr>
      <vt:lpstr>Doctor Portals - Schedule</vt:lpstr>
      <vt:lpstr>Doctor Portals - Availability &amp; Appointments</vt:lpstr>
      <vt:lpstr>Doctor Portals - Patient Management</vt:lpstr>
      <vt:lpstr>Admin Portals - Appointments &amp; Meetings</vt:lpstr>
      <vt:lpstr>Admin Portals - Appointments &amp; Meetings</vt:lpstr>
      <vt:lpstr>Admin Portals - Appointments &amp; Meetings</vt:lpstr>
      <vt:lpstr>Doctor Portals - Appointments &amp; Meetings</vt:lpstr>
      <vt:lpstr>Admin Portals - Medical Consultants</vt:lpstr>
      <vt:lpstr>Admin Portals - Medical Consultants</vt:lpstr>
      <vt:lpstr>Doctor Portals - Medical Consultants</vt:lpstr>
      <vt:lpstr>Doctor Portals – Medical Content Library</vt:lpstr>
      <vt:lpstr>Doctor Portals – Medical Content Library</vt:lpstr>
      <vt:lpstr>Admin Portals - Clinical Resources &amp; Medical Library</vt:lpstr>
      <vt:lpstr>Admin Portals - Clinical Resources &amp; Medical Library</vt:lpstr>
      <vt:lpstr>Admin Portals - Doctors Management</vt:lpstr>
      <vt:lpstr>Admin Portals - Doctor Approval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Chirapath Saelim (Leo)</dc:creator>
  <cp:lastModifiedBy>Chirapath Saelim (Leo)</cp:lastModifiedBy>
  <cp:revision>5</cp:revision>
  <dcterms:created xsi:type="dcterms:W3CDTF">2025-12-14T06:17:15Z</dcterms:created>
  <dcterms:modified xsi:type="dcterms:W3CDTF">2025-12-16T16:25:12Z</dcterms:modified>
</cp:coreProperties>
</file>